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conversationally: “Before someone calls you, they often look you up. I help you make that first impression work for you.”
Ask what people see when they search for the prospect’s business. Avoid starting with technical jargon.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this as three questions: Can customers find you? Do they trust you? Can they reach you?
Ask which part feels weakest today, and listen before describing services.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is a fictional before-and-after to illustrate how design changes the customer experience.”
Point to the clear headline, visible call to action and simplified layout on the right.
Do not claim it depicts an actual client’s results.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people may discover businesses via Google, directories or shared links.
The panel shows a fictional search preview — not evidence of any real ranking.
Ask whether customers typically find the prospect through search, referrals or social media.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Briefly name the four service categories exactly as presented on the website.
Avoid overselling: ask which category addresses the prospect’s biggest problem.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mock site from top to bottom: headline, work imagery, clear call to action, easy-to-scan information.
This is based on a fictional portfolio concept, not a client website.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concept demos built to show how websites can serve construction, auto repair, and landscaping businesses.
Never describe them as paying clients or claim measured results.
If the prospect belongs to a different industry, pivot to what their customers would need to see.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this is the typical process, not a fixed timeline or promise.
Invite questions about who approves decisions and what content the client already has.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main offer and easiest next step.
Clarify that the right-hand review snapshot is illustrative, not a generated score or finished audit.
Offer to review the prospect’s website and visibility after the meeting, with no obligation.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questions and stop talking. The aim is discovery, not pitching every service.
Listen for actionable priorities and propose only the most relevant next step.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permission to follow up with a free review.
Invite the prospect to scan the QR code, which opens the site at the Visibility Review section.
Leave your phone and email as alternate contact options.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www.rekodedigital.com/" TargetMode="External"/><Relationship Id="rId2" Type="http://schemas.openxmlformats.org/officeDocument/2006/relationships/hyperlink" Target="mailto:getrekode@gmail.com" TargetMode="External"/><Relationship Id="rId3" Type="http://schemas.openxmlformats.org/officeDocument/2006/relationships/image" Target="../media/image-11-1.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1423"/>
        </a:solidFill>
      </p:bgPr>
    </p:bg>
    <p:spTree>
      <p:nvGrpSpPr>
        <p:cNvPr id="1" name=""/>
        <p:cNvGrpSpPr/>
        <p:nvPr/>
      </p:nvGrpSpPr>
      <p:grpSpPr>
        <a:xfrm>
          <a:off x="0" y="0"/>
          <a:ext cx="0" cy="0"/>
          <a:chOff x="0" y="0"/>
          <a:chExt cx="0" cy="0"/>
        </a:xfrm>
      </p:grpSpPr>
      <p:sp>
        <p:nvSpPr>
          <p:cNvPr id="2" name="Shape 0"/>
          <p:cNvSpPr/>
          <p:nvPr/>
        </p:nvSpPr>
        <p:spPr>
          <a:xfrm>
            <a:off x="0" y="0"/>
            <a:ext cx="12192000" cy="58522"/>
          </a:xfrm>
          <a:prstGeom prst="rect">
            <a:avLst/>
          </a:prstGeom>
          <a:solidFill>
            <a:srgbClr val="D98B58"/>
          </a:solidFill>
          <a:ln w="12700">
            <a:solidFill>
              <a:srgbClr val="D98B58">
                <a:alpha val="0"/>
              </a:srgbClr>
            </a:solidFill>
            <a:prstDash val="solid"/>
          </a:ln>
        </p:spPr>
      </p:sp>
      <p:sp>
        <p:nvSpPr>
          <p:cNvPr id="3" name="Shape 1"/>
          <p:cNvSpPr/>
          <p:nvPr/>
        </p:nvSpPr>
        <p:spPr>
          <a:xfrm>
            <a:off x="0" y="6236208"/>
            <a:ext cx="12192000" cy="22860"/>
          </a:xfrm>
          <a:prstGeom prst="rect">
            <a:avLst/>
          </a:prstGeom>
          <a:solidFill>
            <a:srgbClr val="D98B58">
              <a:alpha val="58000"/>
            </a:srgbClr>
          </a:solidFill>
          <a:ln w="12700">
            <a:solidFill>
              <a:srgbClr val="D98B58">
                <a:alpha val="0"/>
              </a:srgbClr>
            </a:solidFill>
            <a:prstDash val="solid"/>
          </a:ln>
        </p:spPr>
      </p:sp>
      <p:sp>
        <p:nvSpPr>
          <p:cNvPr id="4" name="Shape 2"/>
          <p:cNvSpPr/>
          <p:nvPr/>
        </p:nvSpPr>
        <p:spPr>
          <a:xfrm>
            <a:off x="658368" y="576072"/>
            <a:ext cx="2468880" cy="420624"/>
          </a:xfrm>
          <a:prstGeom prst="roundRect">
            <a:avLst>
              <a:gd name="adj" fmla="val 32609"/>
            </a:avLst>
          </a:prstGeom>
          <a:solidFill>
            <a:srgbClr val="11263B"/>
          </a:solidFill>
          <a:ln w="12700">
            <a:solidFill>
              <a:srgbClr val="11263B">
                <a:alpha val="0"/>
              </a:srgbClr>
            </a:solidFill>
            <a:prstDash val="solid"/>
          </a:ln>
        </p:spPr>
      </p:sp>
      <p:sp>
        <p:nvSpPr>
          <p:cNvPr id="5" name="Text 3"/>
          <p:cNvSpPr/>
          <p:nvPr/>
        </p:nvSpPr>
        <p:spPr>
          <a:xfrm>
            <a:off x="822960" y="685800"/>
            <a:ext cx="2926080" cy="237744"/>
          </a:xfrm>
          <a:prstGeom prst="rect">
            <a:avLst/>
          </a:prstGeom>
          <a:noFill/>
          <a:ln/>
        </p:spPr>
        <p:txBody>
          <a:bodyPr wrap="square" lIns="0" tIns="0" rIns="0" bIns="0" rtlCol="0" anchor="ctr">
            <a:normAutofit/>
          </a:bodyPr>
          <a:lstStyle/>
          <a:p>
            <a:pPr indent="0" marL="0">
              <a:buNone/>
            </a:pPr>
            <a:r>
              <a:rPr lang="en-US" sz="960" b="1" spc="260" kern="0" dirty="0">
                <a:solidFill>
                  <a:srgbClr val="D98B58"/>
                </a:solidFill>
                <a:latin typeface="Inter Display" pitchFamily="34" charset="0"/>
                <a:ea typeface="Inter Display" pitchFamily="34" charset="-122"/>
                <a:cs typeface="Inter Display" pitchFamily="34" charset="-120"/>
              </a:rPr>
              <a:t>LOCAL BUSINESS · DIGITAL GROWTH</a:t>
            </a:r>
            <a:endParaRPr lang="en-US" sz="960" dirty="0"/>
          </a:p>
        </p:txBody>
      </p:sp>
      <p:sp>
        <p:nvSpPr>
          <p:cNvPr id="6" name="Text 4"/>
          <p:cNvSpPr/>
          <p:nvPr/>
        </p:nvSpPr>
        <p:spPr>
          <a:xfrm>
            <a:off x="667512" y="1399032"/>
            <a:ext cx="6537960" cy="585216"/>
          </a:xfrm>
          <a:prstGeom prst="rect">
            <a:avLst/>
          </a:prstGeom>
          <a:noFill/>
          <a:ln/>
        </p:spPr>
        <p:txBody>
          <a:bodyPr wrap="square" lIns="0" tIns="0" rIns="0" bIns="0" rtlCol="0" anchor="ctr">
            <a:normAutofit/>
          </a:bodyPr>
          <a:lstStyle/>
          <a:p>
            <a:pPr indent="0" marL="0">
              <a:buNone/>
            </a:pPr>
            <a:r>
              <a:rPr lang="en-US" sz="3400" b="1" dirty="0">
                <a:solidFill>
                  <a:srgbClr val="F6F8FB"/>
                </a:solidFill>
                <a:latin typeface="Inter Display" pitchFamily="34" charset="0"/>
                <a:ea typeface="Inter Display" pitchFamily="34" charset="-122"/>
                <a:cs typeface="Inter Display" pitchFamily="34" charset="-120"/>
              </a:rPr>
              <a:t>Your next customer</a:t>
            </a:r>
            <a:endParaRPr lang="en-US" sz="3400" dirty="0"/>
          </a:p>
        </p:txBody>
      </p:sp>
      <p:sp>
        <p:nvSpPr>
          <p:cNvPr id="7" name="Text 5"/>
          <p:cNvSpPr/>
          <p:nvPr/>
        </p:nvSpPr>
        <p:spPr>
          <a:xfrm>
            <a:off x="667512" y="2020824"/>
            <a:ext cx="6583680" cy="576072"/>
          </a:xfrm>
          <a:prstGeom prst="rect">
            <a:avLst/>
          </a:prstGeom>
          <a:noFill/>
          <a:ln/>
        </p:spPr>
        <p:txBody>
          <a:bodyPr wrap="square" lIns="0" tIns="0" rIns="0" bIns="0" rtlCol="0" anchor="ctr">
            <a:normAutofit/>
          </a:bodyPr>
          <a:lstStyle/>
          <a:p>
            <a:pPr indent="0" marL="0">
              <a:buNone/>
            </a:pPr>
            <a:r>
              <a:rPr lang="en-US" sz="3400" b="1" dirty="0">
                <a:solidFill>
                  <a:srgbClr val="F6F8FB"/>
                </a:solidFill>
                <a:latin typeface="Inter Display" pitchFamily="34" charset="0"/>
                <a:ea typeface="Inter Display" pitchFamily="34" charset="-122"/>
                <a:cs typeface="Inter Display" pitchFamily="34" charset="-120"/>
              </a:rPr>
              <a:t>is checking you out</a:t>
            </a:r>
            <a:endParaRPr lang="en-US" sz="3400" dirty="0"/>
          </a:p>
        </p:txBody>
      </p:sp>
      <p:sp>
        <p:nvSpPr>
          <p:cNvPr id="8" name="Text 6"/>
          <p:cNvSpPr/>
          <p:nvPr/>
        </p:nvSpPr>
        <p:spPr>
          <a:xfrm>
            <a:off x="667512" y="2651760"/>
            <a:ext cx="6309360" cy="676656"/>
          </a:xfrm>
          <a:prstGeom prst="rect">
            <a:avLst/>
          </a:prstGeom>
          <a:noFill/>
          <a:ln/>
        </p:spPr>
        <p:txBody>
          <a:bodyPr wrap="square" lIns="0" tIns="0" rIns="0" bIns="0" rtlCol="0" anchor="ctr">
            <a:normAutofit/>
          </a:bodyPr>
          <a:lstStyle/>
          <a:p>
            <a:pPr indent="0" marL="0">
              <a:buNone/>
            </a:pPr>
            <a:r>
              <a:rPr lang="en-US" sz="3900" b="1" dirty="0">
                <a:solidFill>
                  <a:srgbClr val="D98B58"/>
                </a:solidFill>
                <a:latin typeface="Inter Display" pitchFamily="34" charset="0"/>
                <a:ea typeface="Inter Display" pitchFamily="34" charset="-122"/>
                <a:cs typeface="Inter Display" pitchFamily="34" charset="-120"/>
              </a:rPr>
              <a:t>online.</a:t>
            </a:r>
            <a:endParaRPr lang="en-US" sz="3900" dirty="0"/>
          </a:p>
        </p:txBody>
      </p:sp>
      <p:sp>
        <p:nvSpPr>
          <p:cNvPr id="9" name="Shape 7"/>
          <p:cNvSpPr/>
          <p:nvPr/>
        </p:nvSpPr>
        <p:spPr>
          <a:xfrm>
            <a:off x="667512" y="3593592"/>
            <a:ext cx="3310128" cy="0"/>
          </a:xfrm>
          <a:prstGeom prst="line">
            <a:avLst/>
          </a:prstGeom>
          <a:noFill/>
          <a:ln w="38100">
            <a:solidFill>
              <a:srgbClr val="D98B58"/>
            </a:solidFill>
            <a:prstDash val="solid"/>
            <a:headEnd type="none"/>
            <a:tailEnd type="none"/>
          </a:ln>
        </p:spPr>
      </p:sp>
      <p:sp>
        <p:nvSpPr>
          <p:cNvPr id="10" name="Text 8"/>
          <p:cNvSpPr/>
          <p:nvPr/>
        </p:nvSpPr>
        <p:spPr>
          <a:xfrm>
            <a:off x="667512" y="3803904"/>
            <a:ext cx="6309360" cy="512064"/>
          </a:xfrm>
          <a:prstGeom prst="rect">
            <a:avLst/>
          </a:prstGeom>
          <a:noFill/>
          <a:ln/>
        </p:spPr>
        <p:txBody>
          <a:bodyPr wrap="square" lIns="0" tIns="0" rIns="0" bIns="0" rtlCol="0" anchor="ctr">
            <a:normAutofit/>
          </a:bodyPr>
          <a:lstStyle/>
          <a:p>
            <a:pPr indent="0" marL="0">
              <a:buNone/>
            </a:pPr>
            <a:r>
              <a:rPr lang="en-US" sz="2500" b="1" dirty="0">
                <a:solidFill>
                  <a:srgbClr val="DAE5EB"/>
                </a:solidFill>
                <a:latin typeface="Inter Display" pitchFamily="34" charset="0"/>
                <a:ea typeface="Inter Display" pitchFamily="34" charset="-122"/>
                <a:cs typeface="Inter Display" pitchFamily="34" charset="-120"/>
              </a:rPr>
              <a:t>What do they see?</a:t>
            </a:r>
            <a:endParaRPr lang="en-US" sz="2500" dirty="0"/>
          </a:p>
        </p:txBody>
      </p:sp>
      <p:sp>
        <p:nvSpPr>
          <p:cNvPr id="11" name="Text 9"/>
          <p:cNvSpPr/>
          <p:nvPr/>
        </p:nvSpPr>
        <p:spPr>
          <a:xfrm>
            <a:off x="685800" y="4754880"/>
            <a:ext cx="6126480" cy="630936"/>
          </a:xfrm>
          <a:prstGeom prst="rect">
            <a:avLst/>
          </a:prstGeom>
          <a:noFill/>
          <a:ln/>
        </p:spPr>
        <p:txBody>
          <a:bodyPr wrap="square" lIns="0" tIns="0" rIns="0" bIns="0" rtlCol="0" anchor="ctr">
            <a:normAutofit/>
          </a:bodyPr>
          <a:lstStyle/>
          <a:p>
            <a:pPr indent="0" marL="0">
              <a:buNone/>
            </a:pPr>
            <a:r>
              <a:rPr lang="en-US" sz="1400" dirty="0">
                <a:solidFill>
                  <a:srgbClr val="9DAFC1"/>
                </a:solidFill>
                <a:latin typeface="Inter" pitchFamily="34" charset="0"/>
                <a:ea typeface="Inter" pitchFamily="34" charset="-122"/>
                <a:cs typeface="Inter" pitchFamily="34" charset="-120"/>
              </a:rPr>
              <a:t>Professional websites · Local visibility · Branding · Practical digital solutions</a:t>
            </a:r>
            <a:endParaRPr lang="en-US" sz="1400" dirty="0"/>
          </a:p>
        </p:txBody>
      </p:sp>
      <p:sp>
        <p:nvSpPr>
          <p:cNvPr id="12" name="Shape 10"/>
          <p:cNvSpPr/>
          <p:nvPr/>
        </p:nvSpPr>
        <p:spPr>
          <a:xfrm>
            <a:off x="7534656" y="969264"/>
            <a:ext cx="3968496" cy="3977640"/>
          </a:xfrm>
          <a:prstGeom prst="roundRect">
            <a:avLst>
              <a:gd name="adj" fmla="val 8295"/>
            </a:avLst>
          </a:prstGeom>
          <a:solidFill>
            <a:srgbClr val="11263B"/>
          </a:solidFill>
          <a:ln w="12700">
            <a:solidFill>
              <a:srgbClr val="11263B">
                <a:alpha val="0"/>
              </a:srgbClr>
            </a:solidFill>
            <a:prstDash val="solid"/>
          </a:ln>
        </p:spPr>
      </p:sp>
      <p:pic>
        <p:nvPicPr>
          <p:cNvPr id="13" name="Image 0" descr="/mnt/data/rekode_assets/REKODE Digital Copper Emblem.png">    </p:cNvPr>
          <p:cNvPicPr>
            <a:picLocks noChangeAspect="1"/>
          </p:cNvPicPr>
          <p:nvPr/>
        </p:nvPicPr>
        <p:blipFill>
          <a:blip r:embed="rId1"/>
          <a:stretch>
            <a:fillRect/>
          </a:stretch>
        </p:blipFill>
        <p:spPr>
          <a:xfrm>
            <a:off x="7635240" y="1078992"/>
            <a:ext cx="3758184" cy="3758184"/>
          </a:xfrm>
          <a:prstGeom prst="rect">
            <a:avLst/>
          </a:prstGeom>
        </p:spPr>
      </p:pic>
      <p:sp>
        <p:nvSpPr>
          <p:cNvPr id="14" name="Text 11"/>
          <p:cNvSpPr/>
          <p:nvPr/>
        </p:nvSpPr>
        <p:spPr>
          <a:xfrm>
            <a:off x="694944" y="6117336"/>
            <a:ext cx="5029200" cy="274320"/>
          </a:xfrm>
          <a:prstGeom prst="rect">
            <a:avLst/>
          </a:prstGeom>
          <a:noFill/>
          <a:ln/>
        </p:spPr>
        <p:txBody>
          <a:bodyPr wrap="square" lIns="0" tIns="0" rIns="0" bIns="0" rtlCol="0" anchor="ctr">
            <a:normAutofit/>
          </a:bodyPr>
          <a:lstStyle/>
          <a:p>
            <a:pPr indent="0" marL="0">
              <a:buNone/>
            </a:pPr>
            <a:r>
              <a:rPr lang="en-US" sz="1300" b="1" spc="300" kern="0" dirty="0">
                <a:solidFill>
                  <a:srgbClr val="DAE5EB"/>
                </a:solidFill>
                <a:latin typeface="Inter Display" pitchFamily="34" charset="0"/>
                <a:ea typeface="Inter Display" pitchFamily="34" charset="-122"/>
                <a:cs typeface="Inter Display" pitchFamily="34" charset="-120"/>
              </a:rPr>
              <a:t>REKODE DIGITAL</a:t>
            </a:r>
            <a:endParaRPr lang="en-US" sz="1300" dirty="0"/>
          </a:p>
        </p:txBody>
      </p:sp>
      <p:sp>
        <p:nvSpPr>
          <p:cNvPr id="15" name="Text 12"/>
          <p:cNvSpPr/>
          <p:nvPr/>
        </p:nvSpPr>
        <p:spPr>
          <a:xfrm>
            <a:off x="694944" y="6473952"/>
            <a:ext cx="8229600" cy="210312"/>
          </a:xfrm>
          <a:prstGeom prst="rect">
            <a:avLst/>
          </a:prstGeom>
          <a:noFill/>
          <a:ln/>
        </p:spPr>
        <p:txBody>
          <a:bodyPr wrap="square" lIns="0" tIns="0" rIns="0" bIns="0" rtlCol="0" anchor="ctr">
            <a:normAutofit/>
          </a:bodyPr>
          <a:lstStyle/>
          <a:p>
            <a:pPr indent="0" marL="0">
              <a:buNone/>
            </a:pPr>
            <a:r>
              <a:rPr lang="en-US" sz="900" dirty="0">
                <a:solidFill>
                  <a:srgbClr val="9DAFC1"/>
                </a:solidFill>
                <a:latin typeface="Inter" pitchFamily="34" charset="0"/>
                <a:ea typeface="Inter" pitchFamily="34" charset="-122"/>
                <a:cs typeface="Inter" pitchFamily="34" charset="-120"/>
              </a:rPr>
              <a:t>Winnemucca, Nevada  |  Serving Northern Nevada</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71423"/>
        </a:solidFill>
      </p:bgPr>
    </p:bg>
    <p:spTree>
      <p:nvGrpSpPr>
        <p:cNvPr id="1" name=""/>
        <p:cNvGrpSpPr/>
        <p:nvPr/>
      </p:nvGrpSpPr>
      <p:grpSpPr>
        <a:xfrm>
          <a:off x="0" y="0"/>
          <a:ext cx="0" cy="0"/>
          <a:chOff x="0" y="0"/>
          <a:chExt cx="0" cy="0"/>
        </a:xfrm>
      </p:grpSpPr>
      <p:sp>
        <p:nvSpPr>
          <p:cNvPr id="2" name="Shape 0"/>
          <p:cNvSpPr/>
          <p:nvPr/>
        </p:nvSpPr>
        <p:spPr>
          <a:xfrm>
            <a:off x="0" y="0"/>
            <a:ext cx="12192000" cy="43891"/>
          </a:xfrm>
          <a:prstGeom prst="rect">
            <a:avLst/>
          </a:prstGeom>
          <a:solidFill>
            <a:srgbClr val="D98B58"/>
          </a:solidFill>
          <a:ln w="12700">
            <a:solidFill>
              <a:srgbClr val="D98B58">
                <a:alpha val="0"/>
              </a:srgbClr>
            </a:solidFill>
            <a:prstDash val="solid"/>
          </a:ln>
        </p:spPr>
      </p:sp>
      <p:sp>
        <p:nvSpPr>
          <p:cNvPr id="3" name="Shape 1"/>
          <p:cNvSpPr/>
          <p:nvPr/>
        </p:nvSpPr>
        <p:spPr>
          <a:xfrm>
            <a:off x="11750040" y="0"/>
            <a:ext cx="438912" cy="43891"/>
          </a:xfrm>
          <a:prstGeom prst="rect">
            <a:avLst/>
          </a:prstGeom>
          <a:solidFill>
            <a:srgbClr val="F0B080"/>
          </a:solidFill>
          <a:ln w="12700">
            <a:solidFill>
              <a:srgbClr val="F0B080">
                <a:alpha val="0"/>
              </a:srgbClr>
            </a:solidFill>
            <a:prstDash val="solid"/>
          </a:ln>
        </p:spPr>
      </p:sp>
      <p:sp>
        <p:nvSpPr>
          <p:cNvPr id="4" name="Shape 2"/>
          <p:cNvSpPr/>
          <p:nvPr/>
        </p:nvSpPr>
        <p:spPr>
          <a:xfrm>
            <a:off x="11841480" y="822960"/>
            <a:ext cx="118872" cy="3749040"/>
          </a:xfrm>
          <a:prstGeom prst="rect">
            <a:avLst/>
          </a:prstGeom>
          <a:solidFill>
            <a:srgbClr val="D98B58">
              <a:alpha val="10000"/>
            </a:srgbClr>
          </a:solidFill>
          <a:ln w="12700">
            <a:solidFill>
              <a:srgbClr val="D98B58">
                <a:alpha val="0"/>
              </a:srgbClr>
            </a:solidFill>
            <a:prstDash val="solid"/>
          </a:ln>
        </p:spPr>
      </p:sp>
      <p:sp>
        <p:nvSpPr>
          <p:cNvPr id="5" name="Shape 3"/>
          <p:cNvSpPr/>
          <p:nvPr/>
        </p:nvSpPr>
        <p:spPr>
          <a:xfrm>
            <a:off x="603504" y="6460236"/>
            <a:ext cx="10981944" cy="0"/>
          </a:xfrm>
          <a:prstGeom prst="line">
            <a:avLst/>
          </a:prstGeom>
          <a:noFill/>
          <a:ln w="8255">
            <a:solidFill>
              <a:srgbClr val="274054"/>
            </a:solidFill>
            <a:prstDash val="solid"/>
            <a:headEnd type="none"/>
            <a:tailEnd type="none"/>
          </a:ln>
        </p:spPr>
      </p:sp>
      <p:sp>
        <p:nvSpPr>
          <p:cNvPr id="6" name="Text 4"/>
          <p:cNvSpPr/>
          <p:nvPr/>
        </p:nvSpPr>
        <p:spPr>
          <a:xfrm>
            <a:off x="612648" y="6537960"/>
            <a:ext cx="7315200" cy="173736"/>
          </a:xfrm>
          <a:prstGeom prst="rect">
            <a:avLst/>
          </a:prstGeom>
          <a:noFill/>
          <a:ln/>
        </p:spPr>
        <p:txBody>
          <a:bodyPr wrap="square" lIns="0" tIns="0" rIns="0" bIns="0" rtlCol="0" anchor="ctr">
            <a:normAutofit/>
          </a:bodyPr>
          <a:lstStyle/>
          <a:p>
            <a:pPr indent="0" marL="0">
              <a:buNone/>
            </a:pPr>
            <a:r>
              <a:rPr lang="en-US" sz="810" b="1" spc="75" kern="0" dirty="0">
                <a:solidFill>
                  <a:srgbClr val="9DAFC1"/>
                </a:solidFill>
                <a:latin typeface="Inter Display" pitchFamily="34" charset="0"/>
                <a:ea typeface="Inter Display" pitchFamily="34" charset="-122"/>
                <a:cs typeface="Inter Display" pitchFamily="34" charset="-120"/>
              </a:rPr>
              <a:t>REKODE DIGITAL  /  WINNEMUCCA · NORTHERN NEVADA</a:t>
            </a:r>
            <a:endParaRPr lang="en-US" sz="810" dirty="0"/>
          </a:p>
        </p:txBody>
      </p:sp>
      <p:sp>
        <p:nvSpPr>
          <p:cNvPr id="7" name="Text 5"/>
          <p:cNvSpPr/>
          <p:nvPr/>
        </p:nvSpPr>
        <p:spPr>
          <a:xfrm>
            <a:off x="11091672" y="6510528"/>
            <a:ext cx="475488" cy="210312"/>
          </a:xfrm>
          <a:prstGeom prst="rect">
            <a:avLst/>
          </a:prstGeom>
          <a:noFill/>
          <a:ln/>
        </p:spPr>
        <p:txBody>
          <a:bodyPr wrap="square" lIns="0" tIns="0" rIns="0" bIns="0" rtlCol="0" anchor="ctr">
            <a:normAutofit/>
          </a:bodyPr>
          <a:lstStyle/>
          <a:p>
            <a:pPr algn="r" indent="0" marL="0">
              <a:buNone/>
            </a:pPr>
            <a:r>
              <a:rPr lang="en-US" sz="900" b="1" dirty="0">
                <a:solidFill>
                  <a:srgbClr val="D98B58"/>
                </a:solidFill>
                <a:latin typeface="Inter Display" pitchFamily="34" charset="0"/>
                <a:ea typeface="Inter Display" pitchFamily="34" charset="-122"/>
                <a:cs typeface="Inter Display" pitchFamily="34" charset="-120"/>
              </a:rPr>
              <a:t>02</a:t>
            </a:r>
            <a:endParaRPr lang="en-US" sz="900" dirty="0"/>
          </a:p>
        </p:txBody>
      </p:sp>
      <p:sp>
        <p:nvSpPr>
          <p:cNvPr id="8" name="Text 6"/>
          <p:cNvSpPr/>
          <p:nvPr/>
        </p:nvSpPr>
        <p:spPr>
          <a:xfrm>
            <a:off x="621792" y="466344"/>
            <a:ext cx="9966960" cy="237744"/>
          </a:xfrm>
          <a:prstGeom prst="rect">
            <a:avLst/>
          </a:prstGeom>
          <a:noFill/>
          <a:ln/>
        </p:spPr>
        <p:txBody>
          <a:bodyPr wrap="square" lIns="0" tIns="0" rIns="0" bIns="0" rtlCol="0" anchor="ctr">
            <a:normAutofit/>
          </a:bodyPr>
          <a:lstStyle/>
          <a:p>
            <a:pPr indent="0" marL="0">
              <a:buNone/>
            </a:pPr>
            <a:r>
              <a:rPr lang="en-US" sz="960" b="1" spc="260" kern="0" dirty="0">
                <a:solidFill>
                  <a:srgbClr val="D98B58"/>
                </a:solidFill>
                <a:latin typeface="Inter Display" pitchFamily="34" charset="0"/>
                <a:ea typeface="Inter Display" pitchFamily="34" charset="-122"/>
                <a:cs typeface="Inter Display" pitchFamily="34" charset="-120"/>
              </a:rPr>
              <a:t>THE CUSTOMER JOURNEY</a:t>
            </a:r>
            <a:endParaRPr lang="en-US" sz="960" dirty="0"/>
          </a:p>
        </p:txBody>
      </p:sp>
      <p:sp>
        <p:nvSpPr>
          <p:cNvPr id="9" name="Text 7"/>
          <p:cNvSpPr/>
          <p:nvPr/>
        </p:nvSpPr>
        <p:spPr>
          <a:xfrm>
            <a:off x="621792" y="896112"/>
            <a:ext cx="10789920" cy="731520"/>
          </a:xfrm>
          <a:prstGeom prst="rect">
            <a:avLst/>
          </a:prstGeom>
          <a:noFill/>
          <a:ln/>
        </p:spPr>
        <p:txBody>
          <a:bodyPr wrap="square" lIns="0" tIns="0" rIns="0" bIns="0" rtlCol="0" anchor="ctr">
            <a:normAutofit/>
          </a:bodyPr>
          <a:lstStyle/>
          <a:p>
            <a:pPr indent="0" marL="0">
              <a:buNone/>
            </a:pPr>
            <a:r>
              <a:rPr lang="en-US" sz="3200" b="1" dirty="0">
                <a:solidFill>
                  <a:srgbClr val="F6F8FB"/>
                </a:solidFill>
                <a:latin typeface="Inter Display" pitchFamily="34" charset="0"/>
                <a:ea typeface="Inter Display" pitchFamily="34" charset="-122"/>
                <a:cs typeface="Inter Display" pitchFamily="34" charset="-120"/>
              </a:rPr>
              <a:t>Three moments that shape a first impression</a:t>
            </a:r>
            <a:endParaRPr lang="en-US" sz="3200" dirty="0"/>
          </a:p>
        </p:txBody>
      </p:sp>
      <p:sp>
        <p:nvSpPr>
          <p:cNvPr id="10" name="Text 8"/>
          <p:cNvSpPr/>
          <p:nvPr/>
        </p:nvSpPr>
        <p:spPr>
          <a:xfrm>
            <a:off x="640080" y="1700784"/>
            <a:ext cx="10698480" cy="475488"/>
          </a:xfrm>
          <a:prstGeom prst="rect">
            <a:avLst/>
          </a:prstGeom>
          <a:noFill/>
          <a:ln/>
        </p:spPr>
        <p:txBody>
          <a:bodyPr wrap="square" lIns="0" tIns="0" rIns="0" bIns="0" rtlCol="0" anchor="ctr">
            <a:normAutofit/>
          </a:bodyPr>
          <a:lstStyle/>
          <a:p>
            <a:pPr indent="0" marL="0">
              <a:buNone/>
            </a:pPr>
            <a:r>
              <a:rPr lang="en-US" sz="1420" dirty="0">
                <a:solidFill>
                  <a:srgbClr val="DAE5EB"/>
                </a:solidFill>
                <a:latin typeface="Inter" pitchFamily="34" charset="0"/>
                <a:ea typeface="Inter" pitchFamily="34" charset="-122"/>
                <a:cs typeface="Inter" pitchFamily="34" charset="-120"/>
              </a:rPr>
              <a:t>Your online presence should make each next step obvious.</a:t>
            </a:r>
            <a:endParaRPr lang="en-US" sz="1420" dirty="0"/>
          </a:p>
        </p:txBody>
      </p:sp>
      <p:sp>
        <p:nvSpPr>
          <p:cNvPr id="11" name="Shape 9"/>
          <p:cNvSpPr/>
          <p:nvPr/>
        </p:nvSpPr>
        <p:spPr>
          <a:xfrm>
            <a:off x="640080" y="2441448"/>
            <a:ext cx="3511296" cy="2926080"/>
          </a:xfrm>
          <a:prstGeom prst="roundRect">
            <a:avLst>
              <a:gd name="adj" fmla="val 5625"/>
            </a:avLst>
          </a:prstGeom>
          <a:solidFill>
            <a:srgbClr val="11263B"/>
          </a:solidFill>
          <a:ln w="12700">
            <a:solidFill>
              <a:srgbClr val="274054"/>
            </a:solidFill>
            <a:prstDash val="solid"/>
          </a:ln>
        </p:spPr>
      </p:sp>
      <p:sp>
        <p:nvSpPr>
          <p:cNvPr id="12" name="Shape 10"/>
          <p:cNvSpPr/>
          <p:nvPr/>
        </p:nvSpPr>
        <p:spPr>
          <a:xfrm>
            <a:off x="868680" y="2734056"/>
            <a:ext cx="539496" cy="521208"/>
          </a:xfrm>
          <a:prstGeom prst="roundRect">
            <a:avLst>
              <a:gd name="adj" fmla="val 31579"/>
            </a:avLst>
          </a:prstGeom>
          <a:solidFill>
            <a:srgbClr val="D98B58"/>
          </a:solidFill>
          <a:ln w="12700">
            <a:solidFill>
              <a:srgbClr val="D98B58">
                <a:alpha val="0"/>
              </a:srgbClr>
            </a:solidFill>
            <a:prstDash val="solid"/>
          </a:ln>
        </p:spPr>
      </p:sp>
      <p:sp>
        <p:nvSpPr>
          <p:cNvPr id="13" name="Text 11"/>
          <p:cNvSpPr/>
          <p:nvPr/>
        </p:nvSpPr>
        <p:spPr>
          <a:xfrm>
            <a:off x="941832" y="2834640"/>
            <a:ext cx="384048" cy="274320"/>
          </a:xfrm>
          <a:prstGeom prst="rect">
            <a:avLst/>
          </a:prstGeom>
          <a:noFill/>
          <a:ln/>
        </p:spPr>
        <p:txBody>
          <a:bodyPr wrap="square" lIns="0" tIns="0" rIns="0" bIns="0" rtlCol="0" anchor="ctr">
            <a:normAutofit/>
          </a:bodyPr>
          <a:lstStyle/>
          <a:p>
            <a:pPr indent="0" marL="0">
              <a:buNone/>
            </a:pPr>
            <a:r>
              <a:rPr lang="en-US" sz="1300" b="1" dirty="0">
                <a:solidFill>
                  <a:srgbClr val="091321"/>
                </a:solidFill>
                <a:latin typeface="Inter Display" pitchFamily="34" charset="0"/>
                <a:ea typeface="Inter Display" pitchFamily="34" charset="-122"/>
                <a:cs typeface="Inter Display" pitchFamily="34" charset="-120"/>
              </a:rPr>
              <a:t>01</a:t>
            </a:r>
            <a:endParaRPr lang="en-US" sz="1300" dirty="0"/>
          </a:p>
        </p:txBody>
      </p:sp>
      <p:sp>
        <p:nvSpPr>
          <p:cNvPr id="14" name="Text 12"/>
          <p:cNvSpPr/>
          <p:nvPr/>
        </p:nvSpPr>
        <p:spPr>
          <a:xfrm>
            <a:off x="868680" y="3502152"/>
            <a:ext cx="2834640" cy="429768"/>
          </a:xfrm>
          <a:prstGeom prst="rect">
            <a:avLst/>
          </a:prstGeom>
          <a:noFill/>
          <a:ln/>
        </p:spPr>
        <p:txBody>
          <a:bodyPr wrap="square" lIns="0" tIns="0" rIns="0" bIns="0" rtlCol="0" anchor="ctr">
            <a:normAutofit/>
          </a:bodyPr>
          <a:lstStyle/>
          <a:p>
            <a:pPr indent="0" marL="0">
              <a:buNone/>
            </a:pPr>
            <a:r>
              <a:rPr lang="en-US" sz="2400" b="1" dirty="0">
                <a:solidFill>
                  <a:srgbClr val="F6F8FB"/>
                </a:solidFill>
                <a:latin typeface="Inter Display" pitchFamily="34" charset="0"/>
                <a:ea typeface="Inter Display" pitchFamily="34" charset="-122"/>
                <a:cs typeface="Inter Display" pitchFamily="34" charset="-120"/>
              </a:rPr>
              <a:t>FIND</a:t>
            </a:r>
            <a:endParaRPr lang="en-US" sz="2400" dirty="0"/>
          </a:p>
        </p:txBody>
      </p:sp>
      <p:sp>
        <p:nvSpPr>
          <p:cNvPr id="15" name="Text 13"/>
          <p:cNvSpPr/>
          <p:nvPr/>
        </p:nvSpPr>
        <p:spPr>
          <a:xfrm>
            <a:off x="868680" y="4005072"/>
            <a:ext cx="3017520" cy="658368"/>
          </a:xfrm>
          <a:prstGeom prst="rect">
            <a:avLst/>
          </a:prstGeom>
          <a:noFill/>
          <a:ln/>
        </p:spPr>
        <p:txBody>
          <a:bodyPr wrap="square" lIns="0" tIns="0" rIns="0" bIns="0" rtlCol="0" anchor="ctr">
            <a:normAutofit/>
          </a:bodyPr>
          <a:lstStyle/>
          <a:p>
            <a:pPr indent="0" marL="0">
              <a:buNone/>
            </a:pPr>
            <a:r>
              <a:rPr lang="en-US" sz="1420" dirty="0">
                <a:solidFill>
                  <a:srgbClr val="DAE5EB"/>
                </a:solidFill>
                <a:latin typeface="Inter" pitchFamily="34" charset="0"/>
                <a:ea typeface="Inter" pitchFamily="34" charset="-122"/>
                <a:cs typeface="Inter" pitchFamily="34" charset="-120"/>
              </a:rPr>
              <a:t>Can someone discover your business when they need it?</a:t>
            </a:r>
            <a:endParaRPr lang="en-US" sz="1420" dirty="0"/>
          </a:p>
        </p:txBody>
      </p:sp>
      <p:sp>
        <p:nvSpPr>
          <p:cNvPr id="16" name="Text 14"/>
          <p:cNvSpPr/>
          <p:nvPr/>
        </p:nvSpPr>
        <p:spPr>
          <a:xfrm>
            <a:off x="868680" y="5010912"/>
            <a:ext cx="3044952" cy="182880"/>
          </a:xfrm>
          <a:prstGeom prst="rect">
            <a:avLst/>
          </a:prstGeom>
          <a:noFill/>
          <a:ln/>
        </p:spPr>
        <p:txBody>
          <a:bodyPr wrap="square" lIns="0" tIns="0" rIns="0" bIns="0" rtlCol="0" anchor="ctr">
            <a:normAutofit/>
          </a:bodyPr>
          <a:lstStyle/>
          <a:p>
            <a:pPr indent="0" marL="0">
              <a:buNone/>
            </a:pPr>
            <a:r>
              <a:rPr lang="en-US" sz="990" dirty="0">
                <a:solidFill>
                  <a:srgbClr val="F0B080"/>
                </a:solidFill>
                <a:latin typeface="Inter" pitchFamily="34" charset="0"/>
                <a:ea typeface="Inter" pitchFamily="34" charset="-122"/>
                <a:cs typeface="Inter" pitchFamily="34" charset="-120"/>
              </a:rPr>
              <a:t>Search results · Business listings</a:t>
            </a:r>
            <a:endParaRPr lang="en-US" sz="990" dirty="0"/>
          </a:p>
        </p:txBody>
      </p:sp>
      <p:sp>
        <p:nvSpPr>
          <p:cNvPr id="17" name="Shape 15"/>
          <p:cNvSpPr/>
          <p:nvPr/>
        </p:nvSpPr>
        <p:spPr>
          <a:xfrm>
            <a:off x="4261104" y="3803904"/>
            <a:ext cx="155448" cy="146304"/>
          </a:xfrm>
          <a:prstGeom prst="rect">
            <a:avLst/>
          </a:prstGeom>
          <a:solidFill>
            <a:srgbClr val="D98B58"/>
          </a:solidFill>
          <a:ln w="12700">
            <a:solidFill>
              <a:srgbClr val="D98B58">
                <a:alpha val="0"/>
              </a:srgbClr>
            </a:solidFill>
            <a:prstDash val="solid"/>
          </a:ln>
        </p:spPr>
      </p:sp>
      <p:sp>
        <p:nvSpPr>
          <p:cNvPr id="18" name="Shape 16"/>
          <p:cNvSpPr/>
          <p:nvPr/>
        </p:nvSpPr>
        <p:spPr>
          <a:xfrm>
            <a:off x="4526280" y="2441448"/>
            <a:ext cx="3511296" cy="2926080"/>
          </a:xfrm>
          <a:prstGeom prst="roundRect">
            <a:avLst>
              <a:gd name="adj" fmla="val 5625"/>
            </a:avLst>
          </a:prstGeom>
          <a:solidFill>
            <a:srgbClr val="142C43"/>
          </a:solidFill>
          <a:ln w="12700">
            <a:solidFill>
              <a:srgbClr val="274054"/>
            </a:solidFill>
            <a:prstDash val="solid"/>
          </a:ln>
        </p:spPr>
      </p:sp>
      <p:sp>
        <p:nvSpPr>
          <p:cNvPr id="19" name="Shape 17"/>
          <p:cNvSpPr/>
          <p:nvPr/>
        </p:nvSpPr>
        <p:spPr>
          <a:xfrm>
            <a:off x="4754880" y="2734056"/>
            <a:ext cx="539496" cy="521208"/>
          </a:xfrm>
          <a:prstGeom prst="roundRect">
            <a:avLst>
              <a:gd name="adj" fmla="val 31579"/>
            </a:avLst>
          </a:prstGeom>
          <a:solidFill>
            <a:srgbClr val="F0B080"/>
          </a:solidFill>
          <a:ln w="12700">
            <a:solidFill>
              <a:srgbClr val="F0B080">
                <a:alpha val="0"/>
              </a:srgbClr>
            </a:solidFill>
            <a:prstDash val="solid"/>
          </a:ln>
        </p:spPr>
      </p:sp>
      <p:sp>
        <p:nvSpPr>
          <p:cNvPr id="20" name="Text 18"/>
          <p:cNvSpPr/>
          <p:nvPr/>
        </p:nvSpPr>
        <p:spPr>
          <a:xfrm>
            <a:off x="4828032" y="2834640"/>
            <a:ext cx="384048" cy="274320"/>
          </a:xfrm>
          <a:prstGeom prst="rect">
            <a:avLst/>
          </a:prstGeom>
          <a:noFill/>
          <a:ln/>
        </p:spPr>
        <p:txBody>
          <a:bodyPr wrap="square" lIns="0" tIns="0" rIns="0" bIns="0" rtlCol="0" anchor="ctr">
            <a:normAutofit/>
          </a:bodyPr>
          <a:lstStyle/>
          <a:p>
            <a:pPr indent="0" marL="0">
              <a:buNone/>
            </a:pPr>
            <a:r>
              <a:rPr lang="en-US" sz="1300" b="1" dirty="0">
                <a:solidFill>
                  <a:srgbClr val="091321"/>
                </a:solidFill>
                <a:latin typeface="Inter Display" pitchFamily="34" charset="0"/>
                <a:ea typeface="Inter Display" pitchFamily="34" charset="-122"/>
                <a:cs typeface="Inter Display" pitchFamily="34" charset="-120"/>
              </a:rPr>
              <a:t>02</a:t>
            </a:r>
            <a:endParaRPr lang="en-US" sz="1300" dirty="0"/>
          </a:p>
        </p:txBody>
      </p:sp>
      <p:sp>
        <p:nvSpPr>
          <p:cNvPr id="21" name="Text 19"/>
          <p:cNvSpPr/>
          <p:nvPr/>
        </p:nvSpPr>
        <p:spPr>
          <a:xfrm>
            <a:off x="4754880" y="3502152"/>
            <a:ext cx="2834640" cy="429768"/>
          </a:xfrm>
          <a:prstGeom prst="rect">
            <a:avLst/>
          </a:prstGeom>
          <a:noFill/>
          <a:ln/>
        </p:spPr>
        <p:txBody>
          <a:bodyPr wrap="square" lIns="0" tIns="0" rIns="0" bIns="0" rtlCol="0" anchor="ctr">
            <a:normAutofit/>
          </a:bodyPr>
          <a:lstStyle/>
          <a:p>
            <a:pPr indent="0" marL="0">
              <a:buNone/>
            </a:pPr>
            <a:r>
              <a:rPr lang="en-US" sz="2400" b="1" dirty="0">
                <a:solidFill>
                  <a:srgbClr val="F6F8FB"/>
                </a:solidFill>
                <a:latin typeface="Inter Display" pitchFamily="34" charset="0"/>
                <a:ea typeface="Inter Display" pitchFamily="34" charset="-122"/>
                <a:cs typeface="Inter Display" pitchFamily="34" charset="-120"/>
              </a:rPr>
              <a:t>TRUST</a:t>
            </a:r>
            <a:endParaRPr lang="en-US" sz="2400" dirty="0"/>
          </a:p>
        </p:txBody>
      </p:sp>
      <p:sp>
        <p:nvSpPr>
          <p:cNvPr id="22" name="Text 20"/>
          <p:cNvSpPr/>
          <p:nvPr/>
        </p:nvSpPr>
        <p:spPr>
          <a:xfrm>
            <a:off x="4754880" y="4005072"/>
            <a:ext cx="3017520" cy="658368"/>
          </a:xfrm>
          <a:prstGeom prst="rect">
            <a:avLst/>
          </a:prstGeom>
          <a:noFill/>
          <a:ln/>
        </p:spPr>
        <p:txBody>
          <a:bodyPr wrap="square" lIns="0" tIns="0" rIns="0" bIns="0" rtlCol="0" anchor="ctr">
            <a:normAutofit/>
          </a:bodyPr>
          <a:lstStyle/>
          <a:p>
            <a:pPr indent="0" marL="0">
              <a:buNone/>
            </a:pPr>
            <a:r>
              <a:rPr lang="en-US" sz="1420" dirty="0">
                <a:solidFill>
                  <a:srgbClr val="DAE5EB"/>
                </a:solidFill>
                <a:latin typeface="Inter" pitchFamily="34" charset="0"/>
                <a:ea typeface="Inter" pitchFamily="34" charset="-122"/>
                <a:cs typeface="Inter" pitchFamily="34" charset="-120"/>
              </a:rPr>
              <a:t>Does what they see make you look credible?</a:t>
            </a:r>
            <a:endParaRPr lang="en-US" sz="1420" dirty="0"/>
          </a:p>
        </p:txBody>
      </p:sp>
      <p:sp>
        <p:nvSpPr>
          <p:cNvPr id="23" name="Text 21"/>
          <p:cNvSpPr/>
          <p:nvPr/>
        </p:nvSpPr>
        <p:spPr>
          <a:xfrm>
            <a:off x="4754880" y="5010912"/>
            <a:ext cx="3044952" cy="182880"/>
          </a:xfrm>
          <a:prstGeom prst="rect">
            <a:avLst/>
          </a:prstGeom>
          <a:noFill/>
          <a:ln/>
        </p:spPr>
        <p:txBody>
          <a:bodyPr wrap="square" lIns="0" tIns="0" rIns="0" bIns="0" rtlCol="0" anchor="ctr">
            <a:normAutofit/>
          </a:bodyPr>
          <a:lstStyle/>
          <a:p>
            <a:pPr indent="0" marL="0">
              <a:buNone/>
            </a:pPr>
            <a:r>
              <a:rPr lang="en-US" sz="990" dirty="0">
                <a:solidFill>
                  <a:srgbClr val="F0B080"/>
                </a:solidFill>
                <a:latin typeface="Inter" pitchFamily="34" charset="0"/>
                <a:ea typeface="Inter" pitchFamily="34" charset="-122"/>
                <a:cs typeface="Inter" pitchFamily="34" charset="-120"/>
              </a:rPr>
              <a:t>Clear services · Strong visuals</a:t>
            </a:r>
            <a:endParaRPr lang="en-US" sz="990" dirty="0"/>
          </a:p>
        </p:txBody>
      </p:sp>
      <p:sp>
        <p:nvSpPr>
          <p:cNvPr id="24" name="Shape 22"/>
          <p:cNvSpPr/>
          <p:nvPr/>
        </p:nvSpPr>
        <p:spPr>
          <a:xfrm>
            <a:off x="8147304" y="3803904"/>
            <a:ext cx="155448" cy="146304"/>
          </a:xfrm>
          <a:prstGeom prst="rect">
            <a:avLst/>
          </a:prstGeom>
          <a:solidFill>
            <a:srgbClr val="D98B58"/>
          </a:solidFill>
          <a:ln w="12700">
            <a:solidFill>
              <a:srgbClr val="D98B58">
                <a:alpha val="0"/>
              </a:srgbClr>
            </a:solidFill>
            <a:prstDash val="solid"/>
          </a:ln>
        </p:spPr>
      </p:sp>
      <p:sp>
        <p:nvSpPr>
          <p:cNvPr id="25" name="Shape 23"/>
          <p:cNvSpPr/>
          <p:nvPr/>
        </p:nvSpPr>
        <p:spPr>
          <a:xfrm>
            <a:off x="8412480" y="2441448"/>
            <a:ext cx="3511296" cy="2926080"/>
          </a:xfrm>
          <a:prstGeom prst="roundRect">
            <a:avLst>
              <a:gd name="adj" fmla="val 5625"/>
            </a:avLst>
          </a:prstGeom>
          <a:solidFill>
            <a:srgbClr val="11263B"/>
          </a:solidFill>
          <a:ln w="12700">
            <a:solidFill>
              <a:srgbClr val="274054"/>
            </a:solidFill>
            <a:prstDash val="solid"/>
          </a:ln>
        </p:spPr>
      </p:sp>
      <p:sp>
        <p:nvSpPr>
          <p:cNvPr id="26" name="Shape 24"/>
          <p:cNvSpPr/>
          <p:nvPr/>
        </p:nvSpPr>
        <p:spPr>
          <a:xfrm>
            <a:off x="8641080" y="2734056"/>
            <a:ext cx="539496" cy="521208"/>
          </a:xfrm>
          <a:prstGeom prst="roundRect">
            <a:avLst>
              <a:gd name="adj" fmla="val 31579"/>
            </a:avLst>
          </a:prstGeom>
          <a:solidFill>
            <a:srgbClr val="D98B58"/>
          </a:solidFill>
          <a:ln w="12700">
            <a:solidFill>
              <a:srgbClr val="D98B58">
                <a:alpha val="0"/>
              </a:srgbClr>
            </a:solidFill>
            <a:prstDash val="solid"/>
          </a:ln>
        </p:spPr>
      </p:sp>
      <p:sp>
        <p:nvSpPr>
          <p:cNvPr id="27" name="Text 25"/>
          <p:cNvSpPr/>
          <p:nvPr/>
        </p:nvSpPr>
        <p:spPr>
          <a:xfrm>
            <a:off x="8714232" y="2834640"/>
            <a:ext cx="384048" cy="274320"/>
          </a:xfrm>
          <a:prstGeom prst="rect">
            <a:avLst/>
          </a:prstGeom>
          <a:noFill/>
          <a:ln/>
        </p:spPr>
        <p:txBody>
          <a:bodyPr wrap="square" lIns="0" tIns="0" rIns="0" bIns="0" rtlCol="0" anchor="ctr">
            <a:normAutofit/>
          </a:bodyPr>
          <a:lstStyle/>
          <a:p>
            <a:pPr indent="0" marL="0">
              <a:buNone/>
            </a:pPr>
            <a:r>
              <a:rPr lang="en-US" sz="1300" b="1" dirty="0">
                <a:solidFill>
                  <a:srgbClr val="091321"/>
                </a:solidFill>
                <a:latin typeface="Inter Display" pitchFamily="34" charset="0"/>
                <a:ea typeface="Inter Display" pitchFamily="34" charset="-122"/>
                <a:cs typeface="Inter Display" pitchFamily="34" charset="-120"/>
              </a:rPr>
              <a:t>03</a:t>
            </a:r>
            <a:endParaRPr lang="en-US" sz="1300" dirty="0"/>
          </a:p>
        </p:txBody>
      </p:sp>
      <p:sp>
        <p:nvSpPr>
          <p:cNvPr id="28" name="Text 26"/>
          <p:cNvSpPr/>
          <p:nvPr/>
        </p:nvSpPr>
        <p:spPr>
          <a:xfrm>
            <a:off x="8641080" y="3502152"/>
            <a:ext cx="2834640" cy="429768"/>
          </a:xfrm>
          <a:prstGeom prst="rect">
            <a:avLst/>
          </a:prstGeom>
          <a:noFill/>
          <a:ln/>
        </p:spPr>
        <p:txBody>
          <a:bodyPr wrap="square" lIns="0" tIns="0" rIns="0" bIns="0" rtlCol="0" anchor="ctr">
            <a:normAutofit/>
          </a:bodyPr>
          <a:lstStyle/>
          <a:p>
            <a:pPr indent="0" marL="0">
              <a:buNone/>
            </a:pPr>
            <a:r>
              <a:rPr lang="en-US" sz="2400" b="1" dirty="0">
                <a:solidFill>
                  <a:srgbClr val="F6F8FB"/>
                </a:solidFill>
                <a:latin typeface="Inter Display" pitchFamily="34" charset="0"/>
                <a:ea typeface="Inter Display" pitchFamily="34" charset="-122"/>
                <a:cs typeface="Inter Display" pitchFamily="34" charset="-120"/>
              </a:rPr>
              <a:t>CONTACT</a:t>
            </a:r>
            <a:endParaRPr lang="en-US" sz="2400" dirty="0"/>
          </a:p>
        </p:txBody>
      </p:sp>
      <p:sp>
        <p:nvSpPr>
          <p:cNvPr id="29" name="Text 27"/>
          <p:cNvSpPr/>
          <p:nvPr/>
        </p:nvSpPr>
        <p:spPr>
          <a:xfrm>
            <a:off x="8641080" y="4005072"/>
            <a:ext cx="3017520" cy="658368"/>
          </a:xfrm>
          <a:prstGeom prst="rect">
            <a:avLst/>
          </a:prstGeom>
          <a:noFill/>
          <a:ln/>
        </p:spPr>
        <p:txBody>
          <a:bodyPr wrap="square" lIns="0" tIns="0" rIns="0" bIns="0" rtlCol="0" anchor="ctr">
            <a:normAutofit/>
          </a:bodyPr>
          <a:lstStyle/>
          <a:p>
            <a:pPr indent="0" marL="0">
              <a:buNone/>
            </a:pPr>
            <a:r>
              <a:rPr lang="en-US" sz="1420" dirty="0">
                <a:solidFill>
                  <a:srgbClr val="DAE5EB"/>
                </a:solidFill>
                <a:latin typeface="Inter" pitchFamily="34" charset="0"/>
                <a:ea typeface="Inter" pitchFamily="34" charset="-122"/>
                <a:cs typeface="Inter" pitchFamily="34" charset="-120"/>
              </a:rPr>
              <a:t>Can they call, request a quote, or visit easily?</a:t>
            </a:r>
            <a:endParaRPr lang="en-US" sz="1420" dirty="0"/>
          </a:p>
        </p:txBody>
      </p:sp>
      <p:sp>
        <p:nvSpPr>
          <p:cNvPr id="30" name="Text 28"/>
          <p:cNvSpPr/>
          <p:nvPr/>
        </p:nvSpPr>
        <p:spPr>
          <a:xfrm>
            <a:off x="8641080" y="5010912"/>
            <a:ext cx="3044952" cy="182880"/>
          </a:xfrm>
          <a:prstGeom prst="rect">
            <a:avLst/>
          </a:prstGeom>
          <a:noFill/>
          <a:ln/>
        </p:spPr>
        <p:txBody>
          <a:bodyPr wrap="square" lIns="0" tIns="0" rIns="0" bIns="0" rtlCol="0" anchor="ctr">
            <a:normAutofit/>
          </a:bodyPr>
          <a:lstStyle/>
          <a:p>
            <a:pPr indent="0" marL="0">
              <a:buNone/>
            </a:pPr>
            <a:r>
              <a:rPr lang="en-US" sz="990" dirty="0">
                <a:solidFill>
                  <a:srgbClr val="F0B080"/>
                </a:solidFill>
                <a:latin typeface="Inter" pitchFamily="34" charset="0"/>
                <a:ea typeface="Inter" pitchFamily="34" charset="-122"/>
                <a:cs typeface="Inter" pitchFamily="34" charset="-120"/>
              </a:rPr>
              <a:t>Tap-to-call · Simple forms</a:t>
            </a:r>
            <a:endParaRPr lang="en-US" sz="990" dirty="0"/>
          </a:p>
        </p:txBody>
      </p:sp>
      <p:sp>
        <p:nvSpPr>
          <p:cNvPr id="31" name="Shape 29"/>
          <p:cNvSpPr/>
          <p:nvPr/>
        </p:nvSpPr>
        <p:spPr>
          <a:xfrm>
            <a:off x="640080" y="5650992"/>
            <a:ext cx="10881360" cy="448056"/>
          </a:xfrm>
          <a:prstGeom prst="roundRect">
            <a:avLst>
              <a:gd name="adj" fmla="val 24490"/>
            </a:avLst>
          </a:prstGeom>
          <a:solidFill>
            <a:srgbClr val="0C2637"/>
          </a:solidFill>
          <a:ln w="12700">
            <a:solidFill>
              <a:srgbClr val="0C2637">
                <a:alpha val="0"/>
              </a:srgbClr>
            </a:solidFill>
            <a:prstDash val="solid"/>
          </a:ln>
        </p:spPr>
      </p:sp>
      <p:sp>
        <p:nvSpPr>
          <p:cNvPr id="32" name="Text 30"/>
          <p:cNvSpPr/>
          <p:nvPr/>
        </p:nvSpPr>
        <p:spPr>
          <a:xfrm>
            <a:off x="868680" y="5742432"/>
            <a:ext cx="10424160" cy="219456"/>
          </a:xfrm>
          <a:prstGeom prst="rect">
            <a:avLst/>
          </a:prstGeom>
          <a:noFill/>
          <a:ln/>
        </p:spPr>
        <p:txBody>
          <a:bodyPr wrap="square" lIns="0" tIns="0" rIns="0" bIns="0" rtlCol="0" anchor="ctr">
            <a:normAutofit/>
          </a:bodyPr>
          <a:lstStyle/>
          <a:p>
            <a:pPr algn="ctr" indent="0" marL="0">
              <a:buNone/>
            </a:pPr>
            <a:r>
              <a:rPr lang="en-US" sz="1250" dirty="0">
                <a:solidFill>
                  <a:srgbClr val="DAE5EB"/>
                </a:solidFill>
                <a:latin typeface="Inter" pitchFamily="34" charset="0"/>
                <a:ea typeface="Inter" pitchFamily="34" charset="-122"/>
                <a:cs typeface="Inter" pitchFamily="34" charset="-120"/>
              </a:rPr>
              <a:t>A missed step can mean a missed inquiry — even when your service is excellent.</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71423"/>
        </a:solidFill>
      </p:bgPr>
    </p:bg>
    <p:spTree>
      <p:nvGrpSpPr>
        <p:cNvPr id="1" name=""/>
        <p:cNvGrpSpPr/>
        <p:nvPr/>
      </p:nvGrpSpPr>
      <p:grpSpPr>
        <a:xfrm>
          <a:off x="0" y="0"/>
          <a:ext cx="0" cy="0"/>
          <a:chOff x="0" y="0"/>
          <a:chExt cx="0" cy="0"/>
        </a:xfrm>
      </p:grpSpPr>
      <p:sp>
        <p:nvSpPr>
          <p:cNvPr id="2" name="Shape 0"/>
          <p:cNvSpPr/>
          <p:nvPr/>
        </p:nvSpPr>
        <p:spPr>
          <a:xfrm>
            <a:off x="0" y="0"/>
            <a:ext cx="12192000" cy="43891"/>
          </a:xfrm>
          <a:prstGeom prst="rect">
            <a:avLst/>
          </a:prstGeom>
          <a:solidFill>
            <a:srgbClr val="D98B58"/>
          </a:solidFill>
          <a:ln w="12700">
            <a:solidFill>
              <a:srgbClr val="D98B58">
                <a:alpha val="0"/>
              </a:srgbClr>
            </a:solidFill>
            <a:prstDash val="solid"/>
          </a:ln>
        </p:spPr>
      </p:sp>
      <p:sp>
        <p:nvSpPr>
          <p:cNvPr id="3" name="Shape 1"/>
          <p:cNvSpPr/>
          <p:nvPr/>
        </p:nvSpPr>
        <p:spPr>
          <a:xfrm>
            <a:off x="11750040" y="0"/>
            <a:ext cx="438912" cy="43891"/>
          </a:xfrm>
          <a:prstGeom prst="rect">
            <a:avLst/>
          </a:prstGeom>
          <a:solidFill>
            <a:srgbClr val="F0B080"/>
          </a:solidFill>
          <a:ln w="12700">
            <a:solidFill>
              <a:srgbClr val="F0B080">
                <a:alpha val="0"/>
              </a:srgbClr>
            </a:solidFill>
            <a:prstDash val="solid"/>
          </a:ln>
        </p:spPr>
      </p:sp>
      <p:sp>
        <p:nvSpPr>
          <p:cNvPr id="4" name="Shape 2"/>
          <p:cNvSpPr/>
          <p:nvPr/>
        </p:nvSpPr>
        <p:spPr>
          <a:xfrm>
            <a:off x="11841480" y="822960"/>
            <a:ext cx="118872" cy="3749040"/>
          </a:xfrm>
          <a:prstGeom prst="rect">
            <a:avLst/>
          </a:prstGeom>
          <a:solidFill>
            <a:srgbClr val="D98B58">
              <a:alpha val="10000"/>
            </a:srgbClr>
          </a:solidFill>
          <a:ln w="12700">
            <a:solidFill>
              <a:srgbClr val="D98B58">
                <a:alpha val="0"/>
              </a:srgbClr>
            </a:solidFill>
            <a:prstDash val="solid"/>
          </a:ln>
        </p:spPr>
      </p:sp>
      <p:sp>
        <p:nvSpPr>
          <p:cNvPr id="5" name="Shape 3"/>
          <p:cNvSpPr/>
          <p:nvPr/>
        </p:nvSpPr>
        <p:spPr>
          <a:xfrm>
            <a:off x="603504" y="6460236"/>
            <a:ext cx="10981944" cy="0"/>
          </a:xfrm>
          <a:prstGeom prst="line">
            <a:avLst/>
          </a:prstGeom>
          <a:noFill/>
          <a:ln w="8255">
            <a:solidFill>
              <a:srgbClr val="274054"/>
            </a:solidFill>
            <a:prstDash val="solid"/>
            <a:headEnd type="none"/>
            <a:tailEnd type="none"/>
          </a:ln>
        </p:spPr>
      </p:sp>
      <p:sp>
        <p:nvSpPr>
          <p:cNvPr id="6" name="Text 4"/>
          <p:cNvSpPr/>
          <p:nvPr/>
        </p:nvSpPr>
        <p:spPr>
          <a:xfrm>
            <a:off x="612648" y="6537960"/>
            <a:ext cx="7315200" cy="173736"/>
          </a:xfrm>
          <a:prstGeom prst="rect">
            <a:avLst/>
          </a:prstGeom>
          <a:noFill/>
          <a:ln/>
        </p:spPr>
        <p:txBody>
          <a:bodyPr wrap="square" lIns="0" tIns="0" rIns="0" bIns="0" rtlCol="0" anchor="ctr">
            <a:normAutofit/>
          </a:bodyPr>
          <a:lstStyle/>
          <a:p>
            <a:pPr indent="0" marL="0">
              <a:buNone/>
            </a:pPr>
            <a:r>
              <a:rPr lang="en-US" sz="810" b="1" spc="75" kern="0" dirty="0">
                <a:solidFill>
                  <a:srgbClr val="9DAFC1"/>
                </a:solidFill>
                <a:latin typeface="Inter Display" pitchFamily="34" charset="0"/>
                <a:ea typeface="Inter Display" pitchFamily="34" charset="-122"/>
                <a:cs typeface="Inter Display" pitchFamily="34" charset="-120"/>
              </a:rPr>
              <a:t>REKODE DIGITAL  /  WINNEMUCCA · NORTHERN NEVADA</a:t>
            </a:r>
            <a:endParaRPr lang="en-US" sz="810" dirty="0"/>
          </a:p>
        </p:txBody>
      </p:sp>
      <p:sp>
        <p:nvSpPr>
          <p:cNvPr id="7" name="Text 5"/>
          <p:cNvSpPr/>
          <p:nvPr/>
        </p:nvSpPr>
        <p:spPr>
          <a:xfrm>
            <a:off x="11091672" y="6510528"/>
            <a:ext cx="475488" cy="210312"/>
          </a:xfrm>
          <a:prstGeom prst="rect">
            <a:avLst/>
          </a:prstGeom>
          <a:noFill/>
          <a:ln/>
        </p:spPr>
        <p:txBody>
          <a:bodyPr wrap="square" lIns="0" tIns="0" rIns="0" bIns="0" rtlCol="0" anchor="ctr">
            <a:normAutofit/>
          </a:bodyPr>
          <a:lstStyle/>
          <a:p>
            <a:pPr algn="r" indent="0" marL="0">
              <a:buNone/>
            </a:pPr>
            <a:r>
              <a:rPr lang="en-US" sz="900" b="1" dirty="0">
                <a:solidFill>
                  <a:srgbClr val="D98B58"/>
                </a:solidFill>
                <a:latin typeface="Inter Display" pitchFamily="34" charset="0"/>
                <a:ea typeface="Inter Display" pitchFamily="34" charset="-122"/>
                <a:cs typeface="Inter Display" pitchFamily="34" charset="-120"/>
              </a:rPr>
              <a:t>03</a:t>
            </a:r>
            <a:endParaRPr lang="en-US" sz="900" dirty="0"/>
          </a:p>
        </p:txBody>
      </p:sp>
      <p:sp>
        <p:nvSpPr>
          <p:cNvPr id="8" name="Text 6"/>
          <p:cNvSpPr/>
          <p:nvPr/>
        </p:nvSpPr>
        <p:spPr>
          <a:xfrm>
            <a:off x="621792" y="466344"/>
            <a:ext cx="9966960" cy="237744"/>
          </a:xfrm>
          <a:prstGeom prst="rect">
            <a:avLst/>
          </a:prstGeom>
          <a:noFill/>
          <a:ln/>
        </p:spPr>
        <p:txBody>
          <a:bodyPr wrap="square" lIns="0" tIns="0" rIns="0" bIns="0" rtlCol="0" anchor="ctr">
            <a:normAutofit/>
          </a:bodyPr>
          <a:lstStyle/>
          <a:p>
            <a:pPr indent="0" marL="0">
              <a:buNone/>
            </a:pPr>
            <a:r>
              <a:rPr lang="en-US" sz="960" b="1" spc="260" kern="0" dirty="0">
                <a:solidFill>
                  <a:srgbClr val="D98B58"/>
                </a:solidFill>
                <a:latin typeface="Inter Display" pitchFamily="34" charset="0"/>
                <a:ea typeface="Inter Display" pitchFamily="34" charset="-122"/>
                <a:cs typeface="Inter Display" pitchFamily="34" charset="-120"/>
              </a:rPr>
              <a:t>ILLUSTRATIVE BEFORE / AFTER</a:t>
            </a:r>
            <a:endParaRPr lang="en-US" sz="960" dirty="0"/>
          </a:p>
        </p:txBody>
      </p:sp>
      <p:sp>
        <p:nvSpPr>
          <p:cNvPr id="9" name="Text 7"/>
          <p:cNvSpPr/>
          <p:nvPr/>
        </p:nvSpPr>
        <p:spPr>
          <a:xfrm>
            <a:off x="621792" y="896112"/>
            <a:ext cx="10789920" cy="731520"/>
          </a:xfrm>
          <a:prstGeom prst="rect">
            <a:avLst/>
          </a:prstGeom>
          <a:noFill/>
          <a:ln/>
        </p:spPr>
        <p:txBody>
          <a:bodyPr wrap="square" lIns="0" tIns="0" rIns="0" bIns="0" rtlCol="0" anchor="ctr">
            <a:normAutofit/>
          </a:bodyPr>
          <a:lstStyle/>
          <a:p>
            <a:pPr indent="0" marL="0">
              <a:buNone/>
            </a:pPr>
            <a:r>
              <a:rPr lang="en-US" sz="3200" b="1" dirty="0">
                <a:solidFill>
                  <a:srgbClr val="F6F8FB"/>
                </a:solidFill>
                <a:latin typeface="Inter Display" pitchFamily="34" charset="0"/>
                <a:ea typeface="Inter Display" pitchFamily="34" charset="-122"/>
                <a:cs typeface="Inter Display" pitchFamily="34" charset="-120"/>
              </a:rPr>
              <a:t>Which business looks easier to choose?</a:t>
            </a:r>
            <a:endParaRPr lang="en-US" sz="3200" dirty="0"/>
          </a:p>
        </p:txBody>
      </p:sp>
      <p:sp>
        <p:nvSpPr>
          <p:cNvPr id="10" name="Text 8"/>
          <p:cNvSpPr/>
          <p:nvPr/>
        </p:nvSpPr>
        <p:spPr>
          <a:xfrm>
            <a:off x="640080" y="1700784"/>
            <a:ext cx="10698480" cy="475488"/>
          </a:xfrm>
          <a:prstGeom prst="rect">
            <a:avLst/>
          </a:prstGeom>
          <a:noFill/>
          <a:ln/>
        </p:spPr>
        <p:txBody>
          <a:bodyPr wrap="square" lIns="0" tIns="0" rIns="0" bIns="0" rtlCol="0" anchor="ctr">
            <a:normAutofit/>
          </a:bodyPr>
          <a:lstStyle/>
          <a:p>
            <a:pPr indent="0" marL="0">
              <a:buNone/>
            </a:pPr>
            <a:r>
              <a:rPr lang="en-US" sz="1420" dirty="0">
                <a:solidFill>
                  <a:srgbClr val="DAE5EB"/>
                </a:solidFill>
                <a:latin typeface="Inter" pitchFamily="34" charset="0"/>
                <a:ea typeface="Inter" pitchFamily="34" charset="-122"/>
                <a:cs typeface="Inter" pitchFamily="34" charset="-120"/>
              </a:rPr>
              <a:t>Same capable business. A very different first impression.</a:t>
            </a:r>
            <a:endParaRPr lang="en-US" sz="1420" dirty="0"/>
          </a:p>
        </p:txBody>
      </p:sp>
      <p:sp>
        <p:nvSpPr>
          <p:cNvPr id="11" name="Shape 9"/>
          <p:cNvSpPr/>
          <p:nvPr/>
        </p:nvSpPr>
        <p:spPr>
          <a:xfrm>
            <a:off x="658368" y="2139696"/>
            <a:ext cx="5321808" cy="3547872"/>
          </a:xfrm>
          <a:prstGeom prst="roundRect">
            <a:avLst>
              <a:gd name="adj" fmla="val 4124"/>
            </a:avLst>
          </a:prstGeom>
          <a:solidFill>
            <a:srgbClr val="172434"/>
          </a:solidFill>
          <a:ln w="12700">
            <a:solidFill>
              <a:srgbClr val="274054"/>
            </a:solidFill>
            <a:prstDash val="solid"/>
          </a:ln>
        </p:spPr>
      </p:sp>
      <p:sp>
        <p:nvSpPr>
          <p:cNvPr id="12" name="Shape 10"/>
          <p:cNvSpPr/>
          <p:nvPr/>
        </p:nvSpPr>
        <p:spPr>
          <a:xfrm>
            <a:off x="6190488" y="2139696"/>
            <a:ext cx="5321808" cy="3547872"/>
          </a:xfrm>
          <a:prstGeom prst="roundRect">
            <a:avLst>
              <a:gd name="adj" fmla="val 4124"/>
            </a:avLst>
          </a:prstGeom>
          <a:solidFill>
            <a:srgbClr val="143149"/>
          </a:solidFill>
          <a:ln w="12700">
            <a:solidFill>
              <a:srgbClr val="274054"/>
            </a:solidFill>
            <a:prstDash val="solid"/>
          </a:ln>
        </p:spPr>
      </p:sp>
      <p:sp>
        <p:nvSpPr>
          <p:cNvPr id="13" name="Shape 11"/>
          <p:cNvSpPr/>
          <p:nvPr/>
        </p:nvSpPr>
        <p:spPr>
          <a:xfrm>
            <a:off x="932688" y="2350008"/>
            <a:ext cx="2212848" cy="320040"/>
          </a:xfrm>
          <a:prstGeom prst="roundRect">
            <a:avLst>
              <a:gd name="adj" fmla="val 40000"/>
            </a:avLst>
          </a:prstGeom>
          <a:solidFill>
            <a:srgbClr val="11263B"/>
          </a:solidFill>
          <a:ln w="12700">
            <a:solidFill>
              <a:srgbClr val="11263B">
                <a:alpha val="0"/>
              </a:srgbClr>
            </a:solidFill>
            <a:prstDash val="solid"/>
          </a:ln>
        </p:spPr>
      </p:sp>
      <p:sp>
        <p:nvSpPr>
          <p:cNvPr id="14" name="Text 12"/>
          <p:cNvSpPr/>
          <p:nvPr/>
        </p:nvSpPr>
        <p:spPr>
          <a:xfrm>
            <a:off x="1069848" y="2386584"/>
            <a:ext cx="1938528" cy="228600"/>
          </a:xfrm>
          <a:prstGeom prst="rect">
            <a:avLst/>
          </a:prstGeom>
          <a:noFill/>
          <a:ln/>
        </p:spPr>
        <p:txBody>
          <a:bodyPr wrap="square" lIns="0" tIns="0" rIns="0" bIns="0" rtlCol="0" anchor="ctr">
            <a:normAutofit/>
          </a:bodyPr>
          <a:lstStyle/>
          <a:p>
            <a:pPr algn="ctr" indent="0" marL="0">
              <a:buNone/>
            </a:pPr>
            <a:r>
              <a:rPr lang="en-US" sz="1000" b="1" dirty="0">
                <a:solidFill>
                  <a:srgbClr val="9DAFC1"/>
                </a:solidFill>
                <a:latin typeface="Inter Display" pitchFamily="34" charset="0"/>
                <a:ea typeface="Inter Display" pitchFamily="34" charset="-122"/>
                <a:cs typeface="Inter Display" pitchFamily="34" charset="-120"/>
              </a:rPr>
              <a:t>BEFORE · COMMON FRICTION</a:t>
            </a:r>
            <a:endParaRPr lang="en-US" sz="1000" dirty="0"/>
          </a:p>
        </p:txBody>
      </p:sp>
      <p:sp>
        <p:nvSpPr>
          <p:cNvPr id="15" name="Shape 13"/>
          <p:cNvSpPr/>
          <p:nvPr/>
        </p:nvSpPr>
        <p:spPr>
          <a:xfrm>
            <a:off x="6473952" y="2350008"/>
            <a:ext cx="2542032" cy="320040"/>
          </a:xfrm>
          <a:prstGeom prst="roundRect">
            <a:avLst>
              <a:gd name="adj" fmla="val 40000"/>
            </a:avLst>
          </a:prstGeom>
          <a:solidFill>
            <a:srgbClr val="11263B"/>
          </a:solidFill>
          <a:ln w="12700">
            <a:solidFill>
              <a:srgbClr val="11263B">
                <a:alpha val="0"/>
              </a:srgbClr>
            </a:solidFill>
            <a:prstDash val="solid"/>
          </a:ln>
        </p:spPr>
      </p:sp>
      <p:sp>
        <p:nvSpPr>
          <p:cNvPr id="16" name="Text 14"/>
          <p:cNvSpPr/>
          <p:nvPr/>
        </p:nvSpPr>
        <p:spPr>
          <a:xfrm>
            <a:off x="6611112" y="2386584"/>
            <a:ext cx="2267712" cy="228600"/>
          </a:xfrm>
          <a:prstGeom prst="rect">
            <a:avLst/>
          </a:prstGeom>
          <a:noFill/>
          <a:ln/>
        </p:spPr>
        <p:txBody>
          <a:bodyPr wrap="square" lIns="0" tIns="0" rIns="0" bIns="0" rtlCol="0" anchor="ctr">
            <a:normAutofit/>
          </a:bodyPr>
          <a:lstStyle/>
          <a:p>
            <a:pPr algn="ctr" indent="0" marL="0">
              <a:buNone/>
            </a:pPr>
            <a:r>
              <a:rPr lang="en-US" sz="1000" b="1" dirty="0">
                <a:solidFill>
                  <a:srgbClr val="F0B080"/>
                </a:solidFill>
                <a:latin typeface="Inter Display" pitchFamily="34" charset="0"/>
                <a:ea typeface="Inter Display" pitchFamily="34" charset="-122"/>
                <a:cs typeface="Inter Display" pitchFamily="34" charset="-120"/>
              </a:rPr>
              <a:t>AFTER · BETTER EXPERIENCE</a:t>
            </a:r>
            <a:endParaRPr lang="en-US" sz="1000" dirty="0"/>
          </a:p>
        </p:txBody>
      </p:sp>
      <p:sp>
        <p:nvSpPr>
          <p:cNvPr id="17" name="Shape 15"/>
          <p:cNvSpPr/>
          <p:nvPr/>
        </p:nvSpPr>
        <p:spPr>
          <a:xfrm>
            <a:off x="1060704" y="2816352"/>
            <a:ext cx="4489704" cy="2340864"/>
          </a:xfrm>
          <a:prstGeom prst="roundRect">
            <a:avLst>
              <a:gd name="adj" fmla="val 3906"/>
            </a:avLst>
          </a:prstGeom>
          <a:solidFill>
            <a:srgbClr val="E1E4E6"/>
          </a:solidFill>
          <a:ln w="12700">
            <a:solidFill>
              <a:srgbClr val="E1E4E6">
                <a:alpha val="0"/>
              </a:srgbClr>
            </a:solidFill>
            <a:prstDash val="solid"/>
          </a:ln>
        </p:spPr>
      </p:sp>
      <p:sp>
        <p:nvSpPr>
          <p:cNvPr id="18" name="Shape 16"/>
          <p:cNvSpPr/>
          <p:nvPr/>
        </p:nvSpPr>
        <p:spPr>
          <a:xfrm>
            <a:off x="1060704" y="2816352"/>
            <a:ext cx="4489704" cy="228600"/>
          </a:xfrm>
          <a:prstGeom prst="rect">
            <a:avLst/>
          </a:prstGeom>
          <a:solidFill>
            <a:srgbClr val="A8B0B8"/>
          </a:solidFill>
          <a:ln w="12700">
            <a:solidFill>
              <a:srgbClr val="A8B0B8">
                <a:alpha val="0"/>
              </a:srgbClr>
            </a:solidFill>
            <a:prstDash val="solid"/>
          </a:ln>
        </p:spPr>
      </p:sp>
      <p:sp>
        <p:nvSpPr>
          <p:cNvPr id="19" name="Shape 17"/>
          <p:cNvSpPr/>
          <p:nvPr/>
        </p:nvSpPr>
        <p:spPr>
          <a:xfrm>
            <a:off x="1179576" y="2907792"/>
            <a:ext cx="59436" cy="59436"/>
          </a:xfrm>
          <a:prstGeom prst="roundRect">
            <a:avLst>
              <a:gd name="adj" fmla="val 46154"/>
            </a:avLst>
          </a:prstGeom>
          <a:solidFill>
            <a:srgbClr val="647487"/>
          </a:solidFill>
          <a:ln w="12700">
            <a:solidFill>
              <a:srgbClr val="647487">
                <a:alpha val="0"/>
              </a:srgbClr>
            </a:solidFill>
            <a:prstDash val="solid"/>
          </a:ln>
        </p:spPr>
      </p:sp>
      <p:sp>
        <p:nvSpPr>
          <p:cNvPr id="20" name="Shape 18"/>
          <p:cNvSpPr/>
          <p:nvPr/>
        </p:nvSpPr>
        <p:spPr>
          <a:xfrm>
            <a:off x="1335024" y="2907792"/>
            <a:ext cx="59436" cy="59436"/>
          </a:xfrm>
          <a:prstGeom prst="roundRect">
            <a:avLst>
              <a:gd name="adj" fmla="val 46154"/>
            </a:avLst>
          </a:prstGeom>
          <a:solidFill>
            <a:srgbClr val="647487"/>
          </a:solidFill>
          <a:ln w="12700">
            <a:solidFill>
              <a:srgbClr val="647487">
                <a:alpha val="0"/>
              </a:srgbClr>
            </a:solidFill>
            <a:prstDash val="solid"/>
          </a:ln>
        </p:spPr>
      </p:sp>
      <p:sp>
        <p:nvSpPr>
          <p:cNvPr id="21" name="Shape 19"/>
          <p:cNvSpPr/>
          <p:nvPr/>
        </p:nvSpPr>
        <p:spPr>
          <a:xfrm>
            <a:off x="1490472" y="2907792"/>
            <a:ext cx="59436" cy="59436"/>
          </a:xfrm>
          <a:prstGeom prst="roundRect">
            <a:avLst>
              <a:gd name="adj" fmla="val 46154"/>
            </a:avLst>
          </a:prstGeom>
          <a:solidFill>
            <a:srgbClr val="647487"/>
          </a:solidFill>
          <a:ln w="12700">
            <a:solidFill>
              <a:srgbClr val="647487">
                <a:alpha val="0"/>
              </a:srgbClr>
            </a:solidFill>
            <a:prstDash val="solid"/>
          </a:ln>
        </p:spPr>
      </p:sp>
      <p:sp>
        <p:nvSpPr>
          <p:cNvPr id="22" name="Text 20"/>
          <p:cNvSpPr/>
          <p:nvPr/>
        </p:nvSpPr>
        <p:spPr>
          <a:xfrm>
            <a:off x="1261872" y="3236976"/>
            <a:ext cx="3200400" cy="283464"/>
          </a:xfrm>
          <a:prstGeom prst="rect">
            <a:avLst/>
          </a:prstGeom>
          <a:noFill/>
          <a:ln/>
        </p:spPr>
        <p:txBody>
          <a:bodyPr wrap="square" lIns="0" tIns="0" rIns="0" bIns="0" rtlCol="0" anchor="ctr">
            <a:normAutofit/>
          </a:bodyPr>
          <a:lstStyle/>
          <a:p>
            <a:pPr indent="0" marL="0">
              <a:buNone/>
            </a:pPr>
            <a:r>
              <a:rPr lang="en-US" sz="1400" b="1" dirty="0">
                <a:solidFill>
                  <a:srgbClr val="4C5E6D"/>
                </a:solidFill>
                <a:latin typeface="Inter Display" pitchFamily="34" charset="0"/>
                <a:ea typeface="Inter Display" pitchFamily="34" charset="-122"/>
                <a:cs typeface="Inter Display" pitchFamily="34" charset="-120"/>
              </a:rPr>
              <a:t>CONTRACTOR SERVICE</a:t>
            </a:r>
            <a:endParaRPr lang="en-US" sz="1400" dirty="0"/>
          </a:p>
        </p:txBody>
      </p:sp>
      <p:sp>
        <p:nvSpPr>
          <p:cNvPr id="23" name="Shape 21"/>
          <p:cNvSpPr/>
          <p:nvPr/>
        </p:nvSpPr>
        <p:spPr>
          <a:xfrm>
            <a:off x="1261872" y="3685032"/>
            <a:ext cx="3968496" cy="0"/>
          </a:xfrm>
          <a:prstGeom prst="line">
            <a:avLst/>
          </a:prstGeom>
          <a:noFill/>
          <a:ln w="12700">
            <a:solidFill>
              <a:srgbClr val="C1C8CF"/>
            </a:solidFill>
            <a:prstDash val="solid"/>
            <a:headEnd type="none"/>
            <a:tailEnd type="none"/>
          </a:ln>
        </p:spPr>
      </p:sp>
      <p:sp>
        <p:nvSpPr>
          <p:cNvPr id="24" name="Shape 22"/>
          <p:cNvSpPr/>
          <p:nvPr/>
        </p:nvSpPr>
        <p:spPr>
          <a:xfrm>
            <a:off x="1271016" y="3867912"/>
            <a:ext cx="2926080" cy="75895"/>
          </a:xfrm>
          <a:prstGeom prst="rect">
            <a:avLst/>
          </a:prstGeom>
          <a:solidFill>
            <a:srgbClr val="A3AEB5"/>
          </a:solidFill>
          <a:ln w="12700">
            <a:solidFill>
              <a:srgbClr val="A3AEB5">
                <a:alpha val="0"/>
              </a:srgbClr>
            </a:solidFill>
            <a:prstDash val="solid"/>
          </a:ln>
        </p:spPr>
      </p:sp>
      <p:sp>
        <p:nvSpPr>
          <p:cNvPr id="25" name="Shape 23"/>
          <p:cNvSpPr/>
          <p:nvPr/>
        </p:nvSpPr>
        <p:spPr>
          <a:xfrm>
            <a:off x="1271016" y="4105656"/>
            <a:ext cx="2715768" cy="75895"/>
          </a:xfrm>
          <a:prstGeom prst="rect">
            <a:avLst/>
          </a:prstGeom>
          <a:solidFill>
            <a:srgbClr val="A3AEB5"/>
          </a:solidFill>
          <a:ln w="12700">
            <a:solidFill>
              <a:srgbClr val="A3AEB5">
                <a:alpha val="0"/>
              </a:srgbClr>
            </a:solidFill>
            <a:prstDash val="solid"/>
          </a:ln>
        </p:spPr>
      </p:sp>
      <p:sp>
        <p:nvSpPr>
          <p:cNvPr id="26" name="Shape 24"/>
          <p:cNvSpPr/>
          <p:nvPr/>
        </p:nvSpPr>
        <p:spPr>
          <a:xfrm>
            <a:off x="1271016" y="4343400"/>
            <a:ext cx="2505456" cy="75895"/>
          </a:xfrm>
          <a:prstGeom prst="rect">
            <a:avLst/>
          </a:prstGeom>
          <a:solidFill>
            <a:srgbClr val="A3AEB5"/>
          </a:solidFill>
          <a:ln w="12700">
            <a:solidFill>
              <a:srgbClr val="A3AEB5">
                <a:alpha val="0"/>
              </a:srgbClr>
            </a:solidFill>
            <a:prstDash val="solid"/>
          </a:ln>
        </p:spPr>
      </p:sp>
      <p:sp>
        <p:nvSpPr>
          <p:cNvPr id="27" name="Shape 25"/>
          <p:cNvSpPr/>
          <p:nvPr/>
        </p:nvSpPr>
        <p:spPr>
          <a:xfrm>
            <a:off x="1271016" y="4581144"/>
            <a:ext cx="2295144" cy="75895"/>
          </a:xfrm>
          <a:prstGeom prst="rect">
            <a:avLst/>
          </a:prstGeom>
          <a:solidFill>
            <a:srgbClr val="A3AEB5"/>
          </a:solidFill>
          <a:ln w="12700">
            <a:solidFill>
              <a:srgbClr val="A3AEB5">
                <a:alpha val="0"/>
              </a:srgbClr>
            </a:solidFill>
            <a:prstDash val="solid"/>
          </a:ln>
        </p:spPr>
      </p:sp>
      <p:sp>
        <p:nvSpPr>
          <p:cNvPr id="28" name="Shape 26"/>
          <p:cNvSpPr/>
          <p:nvPr/>
        </p:nvSpPr>
        <p:spPr>
          <a:xfrm>
            <a:off x="4352544" y="3913632"/>
            <a:ext cx="777240" cy="685800"/>
          </a:xfrm>
          <a:prstGeom prst="rect">
            <a:avLst/>
          </a:prstGeom>
          <a:solidFill>
            <a:srgbClr val="A7ADB3"/>
          </a:solidFill>
          <a:ln w="12700">
            <a:solidFill>
              <a:srgbClr val="A7ADB3">
                <a:alpha val="0"/>
              </a:srgbClr>
            </a:solidFill>
            <a:prstDash val="solid"/>
          </a:ln>
        </p:spPr>
      </p:sp>
      <p:sp>
        <p:nvSpPr>
          <p:cNvPr id="29" name="Text 27"/>
          <p:cNvSpPr/>
          <p:nvPr/>
        </p:nvSpPr>
        <p:spPr>
          <a:xfrm>
            <a:off x="4544568" y="4005072"/>
            <a:ext cx="420624" cy="384048"/>
          </a:xfrm>
          <a:prstGeom prst="rect">
            <a:avLst/>
          </a:prstGeom>
          <a:noFill/>
          <a:ln/>
        </p:spPr>
        <p:txBody>
          <a:bodyPr wrap="square" lIns="0" tIns="0" rIns="0" bIns="0" rtlCol="0" anchor="ctr">
            <a:normAutofit/>
          </a:bodyPr>
          <a:lstStyle/>
          <a:p>
            <a:pPr algn="ctr" indent="0" marL="0">
              <a:buNone/>
            </a:pPr>
            <a:r>
              <a:rPr lang="en-US" sz="2500" b="1" dirty="0">
                <a:solidFill>
                  <a:srgbClr val="667580"/>
                </a:solidFill>
                <a:latin typeface="Inter Display" pitchFamily="34" charset="0"/>
                <a:ea typeface="Inter Display" pitchFamily="34" charset="-122"/>
                <a:cs typeface="Inter Display" pitchFamily="34" charset="-120"/>
              </a:rPr>
              <a:t>?</a:t>
            </a:r>
            <a:endParaRPr lang="en-US" sz="2500" dirty="0"/>
          </a:p>
        </p:txBody>
      </p:sp>
      <p:sp>
        <p:nvSpPr>
          <p:cNvPr id="30" name="Text 28"/>
          <p:cNvSpPr/>
          <p:nvPr/>
        </p:nvSpPr>
        <p:spPr>
          <a:xfrm>
            <a:off x="1024128" y="5340096"/>
            <a:ext cx="4507992" cy="173736"/>
          </a:xfrm>
          <a:prstGeom prst="rect">
            <a:avLst/>
          </a:prstGeom>
          <a:noFill/>
          <a:ln/>
        </p:spPr>
        <p:txBody>
          <a:bodyPr wrap="square" lIns="0" tIns="0" rIns="0" bIns="0" rtlCol="0" anchor="ctr">
            <a:normAutofit/>
          </a:bodyPr>
          <a:lstStyle/>
          <a:p>
            <a:pPr algn="ctr" indent="0" marL="0">
              <a:buNone/>
            </a:pPr>
            <a:r>
              <a:rPr lang="en-US" sz="1000" dirty="0">
                <a:solidFill>
                  <a:srgbClr val="DAE5EB"/>
                </a:solidFill>
                <a:latin typeface="Inter" pitchFamily="34" charset="0"/>
                <a:ea typeface="Inter" pitchFamily="34" charset="-122"/>
                <a:cs typeface="Inter" pitchFamily="34" charset="-120"/>
              </a:rPr>
              <a:t>Hard-to-scan pages · No clear next step</a:t>
            </a:r>
            <a:endParaRPr lang="en-US" sz="1000" dirty="0"/>
          </a:p>
        </p:txBody>
      </p:sp>
      <p:sp>
        <p:nvSpPr>
          <p:cNvPr id="31" name="Shape 29"/>
          <p:cNvSpPr/>
          <p:nvPr/>
        </p:nvSpPr>
        <p:spPr>
          <a:xfrm>
            <a:off x="6547104" y="2816352"/>
            <a:ext cx="4599432" cy="2359152"/>
          </a:xfrm>
          <a:prstGeom prst="roundRect">
            <a:avLst>
              <a:gd name="adj" fmla="val 3876"/>
            </a:avLst>
          </a:prstGeom>
          <a:solidFill>
            <a:srgbClr val="F7F7F7"/>
          </a:solidFill>
          <a:ln w="12700">
            <a:solidFill>
              <a:srgbClr val="F7F7F7">
                <a:alpha val="0"/>
              </a:srgbClr>
            </a:solidFill>
            <a:prstDash val="solid"/>
          </a:ln>
        </p:spPr>
      </p:sp>
      <p:sp>
        <p:nvSpPr>
          <p:cNvPr id="32" name="Shape 30"/>
          <p:cNvSpPr/>
          <p:nvPr/>
        </p:nvSpPr>
        <p:spPr>
          <a:xfrm>
            <a:off x="6547104" y="2816352"/>
            <a:ext cx="4599432" cy="246888"/>
          </a:xfrm>
          <a:prstGeom prst="rect">
            <a:avLst/>
          </a:prstGeom>
          <a:solidFill>
            <a:srgbClr val="16293A"/>
          </a:solidFill>
          <a:ln w="12700">
            <a:solidFill>
              <a:srgbClr val="16293A">
                <a:alpha val="0"/>
              </a:srgbClr>
            </a:solidFill>
            <a:prstDash val="solid"/>
          </a:ln>
        </p:spPr>
      </p:sp>
      <p:sp>
        <p:nvSpPr>
          <p:cNvPr id="33" name="Text 31"/>
          <p:cNvSpPr/>
          <p:nvPr/>
        </p:nvSpPr>
        <p:spPr>
          <a:xfrm>
            <a:off x="6739128" y="2834640"/>
            <a:ext cx="2231136" cy="182880"/>
          </a:xfrm>
          <a:prstGeom prst="rect">
            <a:avLst/>
          </a:prstGeom>
          <a:noFill/>
          <a:ln/>
        </p:spPr>
        <p:txBody>
          <a:bodyPr wrap="square" lIns="0" tIns="0" rIns="0" bIns="0" rtlCol="0" anchor="ctr">
            <a:normAutofit/>
          </a:bodyPr>
          <a:lstStyle/>
          <a:p>
            <a:pPr indent="0" marL="0">
              <a:buNone/>
            </a:pPr>
            <a:r>
              <a:rPr lang="en-US" sz="1000" b="1" spc="100" kern="0" dirty="0">
                <a:solidFill>
                  <a:srgbClr val="FFFFFF"/>
                </a:solidFill>
                <a:latin typeface="Inter Display" pitchFamily="34" charset="0"/>
                <a:ea typeface="Inter Display" pitchFamily="34" charset="-122"/>
                <a:cs typeface="Inter Display" pitchFamily="34" charset="-120"/>
              </a:rPr>
              <a:t>SUMMIT RIDGE</a:t>
            </a:r>
            <a:endParaRPr lang="en-US" sz="1000" dirty="0"/>
          </a:p>
        </p:txBody>
      </p:sp>
      <p:sp>
        <p:nvSpPr>
          <p:cNvPr id="34" name="Shape 32"/>
          <p:cNvSpPr/>
          <p:nvPr/>
        </p:nvSpPr>
        <p:spPr>
          <a:xfrm>
            <a:off x="10186416" y="2862072"/>
            <a:ext cx="758952" cy="137160"/>
          </a:xfrm>
          <a:prstGeom prst="roundRect">
            <a:avLst>
              <a:gd name="adj" fmla="val 33333"/>
            </a:avLst>
          </a:prstGeom>
          <a:solidFill>
            <a:srgbClr val="D98B58"/>
          </a:solidFill>
          <a:ln w="12700">
            <a:solidFill>
              <a:srgbClr val="D98B58">
                <a:alpha val="0"/>
              </a:srgbClr>
            </a:solidFill>
            <a:prstDash val="solid"/>
          </a:ln>
        </p:spPr>
      </p:sp>
      <p:pic>
        <p:nvPicPr>
          <p:cNvPr id="35" name="Image 0" descr="/mnt/data/rekode_assets/construction_scene.png">    </p:cNvPr>
          <p:cNvPicPr>
            <a:picLocks noChangeAspect="1"/>
          </p:cNvPicPr>
          <p:nvPr/>
        </p:nvPicPr>
        <p:blipFill>
          <a:blip r:embed="rId1"/>
          <a:stretch>
            <a:fillRect/>
          </a:stretch>
        </p:blipFill>
        <p:spPr>
          <a:xfrm>
            <a:off x="6547104" y="3063240"/>
            <a:ext cx="4599432" cy="1216152"/>
          </a:xfrm>
          <a:prstGeom prst="rect">
            <a:avLst/>
          </a:prstGeom>
        </p:spPr>
      </p:pic>
      <p:sp>
        <p:nvSpPr>
          <p:cNvPr id="36" name="Shape 33"/>
          <p:cNvSpPr/>
          <p:nvPr/>
        </p:nvSpPr>
        <p:spPr>
          <a:xfrm>
            <a:off x="6757416" y="3346704"/>
            <a:ext cx="2743200" cy="731520"/>
          </a:xfrm>
          <a:prstGeom prst="roundRect">
            <a:avLst>
              <a:gd name="adj" fmla="val 15000"/>
            </a:avLst>
          </a:prstGeom>
          <a:solidFill>
            <a:srgbClr val="071423">
              <a:alpha val="83000"/>
            </a:srgbClr>
          </a:solidFill>
          <a:ln w="12700">
            <a:solidFill>
              <a:srgbClr val="071423">
                <a:alpha val="0"/>
              </a:srgbClr>
            </a:solidFill>
            <a:prstDash val="solid"/>
          </a:ln>
        </p:spPr>
      </p:sp>
      <p:sp>
        <p:nvSpPr>
          <p:cNvPr id="37" name="Text 34"/>
          <p:cNvSpPr/>
          <p:nvPr/>
        </p:nvSpPr>
        <p:spPr>
          <a:xfrm>
            <a:off x="6940296" y="3520440"/>
            <a:ext cx="2560320" cy="274320"/>
          </a:xfrm>
          <a:prstGeom prst="rect">
            <a:avLst/>
          </a:prstGeom>
          <a:noFill/>
          <a:ln/>
        </p:spPr>
        <p:txBody>
          <a:bodyPr wrap="square" lIns="0" tIns="0" rIns="0" bIns="0" rtlCol="0" anchor="ctr">
            <a:normAutofit/>
          </a:bodyPr>
          <a:lstStyle/>
          <a:p>
            <a:pPr indent="0" marL="0">
              <a:buNone/>
            </a:pPr>
            <a:r>
              <a:rPr lang="en-US" sz="1600" b="1" dirty="0">
                <a:solidFill>
                  <a:srgbClr val="FFFFFF"/>
                </a:solidFill>
                <a:latin typeface="Inter Display" pitchFamily="34" charset="0"/>
                <a:ea typeface="Inter Display" pitchFamily="34" charset="-122"/>
                <a:cs typeface="Inter Display" pitchFamily="34" charset="-120"/>
              </a:rPr>
              <a:t>BUILT ON TRUST.</a:t>
            </a:r>
            <a:endParaRPr lang="en-US" sz="1600" dirty="0"/>
          </a:p>
        </p:txBody>
      </p:sp>
      <p:sp>
        <p:nvSpPr>
          <p:cNvPr id="38" name="Shape 35"/>
          <p:cNvSpPr/>
          <p:nvPr/>
        </p:nvSpPr>
        <p:spPr>
          <a:xfrm>
            <a:off x="6775704" y="4416552"/>
            <a:ext cx="2011680" cy="347472"/>
          </a:xfrm>
          <a:prstGeom prst="roundRect">
            <a:avLst>
              <a:gd name="adj" fmla="val 18421"/>
            </a:avLst>
          </a:prstGeom>
          <a:solidFill>
            <a:srgbClr val="D98B58"/>
          </a:solidFill>
          <a:ln w="12700">
            <a:solidFill>
              <a:srgbClr val="D98B58">
                <a:alpha val="0"/>
              </a:srgbClr>
            </a:solidFill>
            <a:prstDash val="solid"/>
          </a:ln>
        </p:spPr>
      </p:sp>
      <p:sp>
        <p:nvSpPr>
          <p:cNvPr id="39" name="Text 36"/>
          <p:cNvSpPr/>
          <p:nvPr/>
        </p:nvSpPr>
        <p:spPr>
          <a:xfrm>
            <a:off x="6867144" y="4489704"/>
            <a:ext cx="1828800" cy="192024"/>
          </a:xfrm>
          <a:prstGeom prst="rect">
            <a:avLst/>
          </a:prstGeom>
          <a:noFill/>
          <a:ln/>
        </p:spPr>
        <p:txBody>
          <a:bodyPr wrap="square" lIns="0" tIns="0" rIns="0" bIns="0" rtlCol="0" anchor="ctr">
            <a:normAutofit/>
          </a:bodyPr>
          <a:lstStyle/>
          <a:p>
            <a:pPr indent="0" marL="0">
              <a:buNone/>
            </a:pPr>
            <a:r>
              <a:rPr lang="en-US" sz="1000" b="1" dirty="0">
                <a:solidFill>
                  <a:srgbClr val="091321"/>
                </a:solidFill>
                <a:latin typeface="Inter Display" pitchFamily="34" charset="0"/>
                <a:ea typeface="Inter Display" pitchFamily="34" charset="-122"/>
                <a:cs typeface="Inter Display" pitchFamily="34" charset="-120"/>
              </a:rPr>
              <a:t>REQUEST AN ESTIMATE →</a:t>
            </a:r>
            <a:endParaRPr lang="en-US" sz="1000" dirty="0"/>
          </a:p>
        </p:txBody>
      </p:sp>
      <p:sp>
        <p:nvSpPr>
          <p:cNvPr id="40" name="Text 37"/>
          <p:cNvSpPr/>
          <p:nvPr/>
        </p:nvSpPr>
        <p:spPr>
          <a:xfrm>
            <a:off x="6537960" y="5340096"/>
            <a:ext cx="4654296" cy="173736"/>
          </a:xfrm>
          <a:prstGeom prst="rect">
            <a:avLst/>
          </a:prstGeom>
          <a:noFill/>
          <a:ln/>
        </p:spPr>
        <p:txBody>
          <a:bodyPr wrap="square" lIns="0" tIns="0" rIns="0" bIns="0" rtlCol="0" anchor="ctr">
            <a:normAutofit/>
          </a:bodyPr>
          <a:lstStyle/>
          <a:p>
            <a:pPr algn="ctr" indent="0" marL="0">
              <a:buNone/>
            </a:pPr>
            <a:r>
              <a:rPr lang="en-US" sz="1000" dirty="0">
                <a:solidFill>
                  <a:srgbClr val="DAE5EB"/>
                </a:solidFill>
                <a:latin typeface="Inter" pitchFamily="34" charset="0"/>
                <a:ea typeface="Inter" pitchFamily="34" charset="-122"/>
                <a:cs typeface="Inter" pitchFamily="34" charset="-120"/>
              </a:rPr>
              <a:t>Clear services · Visual proof · Easy contact</a:t>
            </a:r>
            <a:endParaRPr lang="en-US" sz="1000" dirty="0"/>
          </a:p>
        </p:txBody>
      </p:sp>
      <p:sp>
        <p:nvSpPr>
          <p:cNvPr id="41" name="Text 38"/>
          <p:cNvSpPr/>
          <p:nvPr/>
        </p:nvSpPr>
        <p:spPr>
          <a:xfrm>
            <a:off x="694944" y="5989320"/>
            <a:ext cx="9144000" cy="192024"/>
          </a:xfrm>
          <a:prstGeom prst="rect">
            <a:avLst/>
          </a:prstGeom>
          <a:noFill/>
          <a:ln/>
        </p:spPr>
        <p:txBody>
          <a:bodyPr wrap="square" lIns="0" tIns="0" rIns="0" bIns="0" rtlCol="0" anchor="ctr">
            <a:normAutofit/>
          </a:bodyPr>
          <a:lstStyle/>
          <a:p>
            <a:pPr indent="0" marL="0">
              <a:buNone/>
            </a:pPr>
            <a:r>
              <a:rPr lang="en-US" sz="880" dirty="0">
                <a:solidFill>
                  <a:srgbClr val="9DAFC1"/>
                </a:solidFill>
                <a:latin typeface="Inter" pitchFamily="34" charset="0"/>
                <a:ea typeface="Inter" pitchFamily="34" charset="-122"/>
                <a:cs typeface="Inter" pitchFamily="34" charset="-120"/>
              </a:rPr>
              <a:t>Concept illustration — not an actual client before-and-after.</a:t>
            </a:r>
            <a:endParaRPr lang="en-US" sz="88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71423"/>
        </a:solidFill>
      </p:bgPr>
    </p:bg>
    <p:spTree>
      <p:nvGrpSpPr>
        <p:cNvPr id="1" name=""/>
        <p:cNvGrpSpPr/>
        <p:nvPr/>
      </p:nvGrpSpPr>
      <p:grpSpPr>
        <a:xfrm>
          <a:off x="0" y="0"/>
          <a:ext cx="0" cy="0"/>
          <a:chOff x="0" y="0"/>
          <a:chExt cx="0" cy="0"/>
        </a:xfrm>
      </p:grpSpPr>
      <p:sp>
        <p:nvSpPr>
          <p:cNvPr id="2" name="Shape 0"/>
          <p:cNvSpPr/>
          <p:nvPr/>
        </p:nvSpPr>
        <p:spPr>
          <a:xfrm>
            <a:off x="0" y="0"/>
            <a:ext cx="12192000" cy="43891"/>
          </a:xfrm>
          <a:prstGeom prst="rect">
            <a:avLst/>
          </a:prstGeom>
          <a:solidFill>
            <a:srgbClr val="D98B58"/>
          </a:solidFill>
          <a:ln w="12700">
            <a:solidFill>
              <a:srgbClr val="D98B58">
                <a:alpha val="0"/>
              </a:srgbClr>
            </a:solidFill>
            <a:prstDash val="solid"/>
          </a:ln>
        </p:spPr>
      </p:sp>
      <p:sp>
        <p:nvSpPr>
          <p:cNvPr id="3" name="Shape 1"/>
          <p:cNvSpPr/>
          <p:nvPr/>
        </p:nvSpPr>
        <p:spPr>
          <a:xfrm>
            <a:off x="11750040" y="0"/>
            <a:ext cx="438912" cy="43891"/>
          </a:xfrm>
          <a:prstGeom prst="rect">
            <a:avLst/>
          </a:prstGeom>
          <a:solidFill>
            <a:srgbClr val="F0B080"/>
          </a:solidFill>
          <a:ln w="12700">
            <a:solidFill>
              <a:srgbClr val="F0B080">
                <a:alpha val="0"/>
              </a:srgbClr>
            </a:solidFill>
            <a:prstDash val="solid"/>
          </a:ln>
        </p:spPr>
      </p:sp>
      <p:sp>
        <p:nvSpPr>
          <p:cNvPr id="4" name="Shape 2"/>
          <p:cNvSpPr/>
          <p:nvPr/>
        </p:nvSpPr>
        <p:spPr>
          <a:xfrm>
            <a:off x="11841480" y="822960"/>
            <a:ext cx="118872" cy="3749040"/>
          </a:xfrm>
          <a:prstGeom prst="rect">
            <a:avLst/>
          </a:prstGeom>
          <a:solidFill>
            <a:srgbClr val="D98B58">
              <a:alpha val="10000"/>
            </a:srgbClr>
          </a:solidFill>
          <a:ln w="12700">
            <a:solidFill>
              <a:srgbClr val="D98B58">
                <a:alpha val="0"/>
              </a:srgbClr>
            </a:solidFill>
            <a:prstDash val="solid"/>
          </a:ln>
        </p:spPr>
      </p:sp>
      <p:sp>
        <p:nvSpPr>
          <p:cNvPr id="5" name="Shape 3"/>
          <p:cNvSpPr/>
          <p:nvPr/>
        </p:nvSpPr>
        <p:spPr>
          <a:xfrm>
            <a:off x="603504" y="6460236"/>
            <a:ext cx="10981944" cy="0"/>
          </a:xfrm>
          <a:prstGeom prst="line">
            <a:avLst/>
          </a:prstGeom>
          <a:noFill/>
          <a:ln w="8255">
            <a:solidFill>
              <a:srgbClr val="274054"/>
            </a:solidFill>
            <a:prstDash val="solid"/>
            <a:headEnd type="none"/>
            <a:tailEnd type="none"/>
          </a:ln>
        </p:spPr>
      </p:sp>
      <p:sp>
        <p:nvSpPr>
          <p:cNvPr id="6" name="Text 4"/>
          <p:cNvSpPr/>
          <p:nvPr/>
        </p:nvSpPr>
        <p:spPr>
          <a:xfrm>
            <a:off x="612648" y="6537960"/>
            <a:ext cx="7315200" cy="173736"/>
          </a:xfrm>
          <a:prstGeom prst="rect">
            <a:avLst/>
          </a:prstGeom>
          <a:noFill/>
          <a:ln/>
        </p:spPr>
        <p:txBody>
          <a:bodyPr wrap="square" lIns="0" tIns="0" rIns="0" bIns="0" rtlCol="0" anchor="ctr">
            <a:normAutofit/>
          </a:bodyPr>
          <a:lstStyle/>
          <a:p>
            <a:pPr indent="0" marL="0">
              <a:buNone/>
            </a:pPr>
            <a:r>
              <a:rPr lang="en-US" sz="810" b="1" spc="75" kern="0" dirty="0">
                <a:solidFill>
                  <a:srgbClr val="9DAFC1"/>
                </a:solidFill>
                <a:latin typeface="Inter Display" pitchFamily="34" charset="0"/>
                <a:ea typeface="Inter Display" pitchFamily="34" charset="-122"/>
                <a:cs typeface="Inter Display" pitchFamily="34" charset="-120"/>
              </a:rPr>
              <a:t>REKODE DIGITAL  /  WINNEMUCCA · NORTHERN NEVADA</a:t>
            </a:r>
            <a:endParaRPr lang="en-US" sz="810" dirty="0"/>
          </a:p>
        </p:txBody>
      </p:sp>
      <p:sp>
        <p:nvSpPr>
          <p:cNvPr id="7" name="Text 5"/>
          <p:cNvSpPr/>
          <p:nvPr/>
        </p:nvSpPr>
        <p:spPr>
          <a:xfrm>
            <a:off x="11091672" y="6510528"/>
            <a:ext cx="475488" cy="210312"/>
          </a:xfrm>
          <a:prstGeom prst="rect">
            <a:avLst/>
          </a:prstGeom>
          <a:noFill/>
          <a:ln/>
        </p:spPr>
        <p:txBody>
          <a:bodyPr wrap="square" lIns="0" tIns="0" rIns="0" bIns="0" rtlCol="0" anchor="ctr">
            <a:normAutofit/>
          </a:bodyPr>
          <a:lstStyle/>
          <a:p>
            <a:pPr algn="r" indent="0" marL="0">
              <a:buNone/>
            </a:pPr>
            <a:r>
              <a:rPr lang="en-US" sz="900" b="1" dirty="0">
                <a:solidFill>
                  <a:srgbClr val="D98B58"/>
                </a:solidFill>
                <a:latin typeface="Inter Display" pitchFamily="34" charset="0"/>
                <a:ea typeface="Inter Display" pitchFamily="34" charset="-122"/>
                <a:cs typeface="Inter Display" pitchFamily="34" charset="-120"/>
              </a:rPr>
              <a:t>04</a:t>
            </a:r>
            <a:endParaRPr lang="en-US" sz="900" dirty="0"/>
          </a:p>
        </p:txBody>
      </p:sp>
      <p:sp>
        <p:nvSpPr>
          <p:cNvPr id="8" name="Text 6"/>
          <p:cNvSpPr/>
          <p:nvPr/>
        </p:nvSpPr>
        <p:spPr>
          <a:xfrm>
            <a:off x="621792" y="466344"/>
            <a:ext cx="9966960" cy="237744"/>
          </a:xfrm>
          <a:prstGeom prst="rect">
            <a:avLst/>
          </a:prstGeom>
          <a:noFill/>
          <a:ln/>
        </p:spPr>
        <p:txBody>
          <a:bodyPr wrap="square" lIns="0" tIns="0" rIns="0" bIns="0" rtlCol="0" anchor="ctr">
            <a:normAutofit/>
          </a:bodyPr>
          <a:lstStyle/>
          <a:p>
            <a:pPr indent="0" marL="0">
              <a:buNone/>
            </a:pPr>
            <a:r>
              <a:rPr lang="en-US" sz="960" b="1" spc="260" kern="0" dirty="0">
                <a:solidFill>
                  <a:srgbClr val="D98B58"/>
                </a:solidFill>
                <a:latin typeface="Inter Display" pitchFamily="34" charset="0"/>
                <a:ea typeface="Inter Display" pitchFamily="34" charset="-122"/>
                <a:cs typeface="Inter Display" pitchFamily="34" charset="-120"/>
              </a:rPr>
              <a:t>GET FOUND LOCALLY</a:t>
            </a:r>
            <a:endParaRPr lang="en-US" sz="960" dirty="0"/>
          </a:p>
        </p:txBody>
      </p:sp>
      <p:sp>
        <p:nvSpPr>
          <p:cNvPr id="9" name="Text 7"/>
          <p:cNvSpPr/>
          <p:nvPr/>
        </p:nvSpPr>
        <p:spPr>
          <a:xfrm>
            <a:off x="621792" y="896112"/>
            <a:ext cx="10789920" cy="731520"/>
          </a:xfrm>
          <a:prstGeom prst="rect">
            <a:avLst/>
          </a:prstGeom>
          <a:noFill/>
          <a:ln/>
        </p:spPr>
        <p:txBody>
          <a:bodyPr wrap="square" lIns="0" tIns="0" rIns="0" bIns="0" rtlCol="0" anchor="ctr">
            <a:normAutofit/>
          </a:bodyPr>
          <a:lstStyle/>
          <a:p>
            <a:pPr indent="0" marL="0">
              <a:buNone/>
            </a:pPr>
            <a:r>
              <a:rPr lang="en-US" sz="3200" b="1" dirty="0">
                <a:solidFill>
                  <a:srgbClr val="F6F8FB"/>
                </a:solidFill>
                <a:latin typeface="Inter Display" pitchFamily="34" charset="0"/>
                <a:ea typeface="Inter Display" pitchFamily="34" charset="-122"/>
                <a:cs typeface="Inter Display" pitchFamily="34" charset="-120"/>
              </a:rPr>
              <a:t>Help nearby customers connect the dots</a:t>
            </a:r>
            <a:endParaRPr lang="en-US" sz="3200" dirty="0"/>
          </a:p>
        </p:txBody>
      </p:sp>
      <p:sp>
        <p:nvSpPr>
          <p:cNvPr id="10" name="Text 8"/>
          <p:cNvSpPr/>
          <p:nvPr/>
        </p:nvSpPr>
        <p:spPr>
          <a:xfrm>
            <a:off x="640080" y="1700784"/>
            <a:ext cx="10698480" cy="475488"/>
          </a:xfrm>
          <a:prstGeom prst="rect">
            <a:avLst/>
          </a:prstGeom>
          <a:noFill/>
          <a:ln/>
        </p:spPr>
        <p:txBody>
          <a:bodyPr wrap="square" lIns="0" tIns="0" rIns="0" bIns="0" rtlCol="0" anchor="ctr">
            <a:normAutofit/>
          </a:bodyPr>
          <a:lstStyle/>
          <a:p>
            <a:pPr indent="0" marL="0">
              <a:buNone/>
            </a:pPr>
            <a:r>
              <a:rPr lang="en-US" sz="1420" dirty="0">
                <a:solidFill>
                  <a:srgbClr val="DAE5EB"/>
                </a:solidFill>
                <a:latin typeface="Inter" pitchFamily="34" charset="0"/>
                <a:ea typeface="Inter" pitchFamily="34" charset="-122"/>
                <a:cs typeface="Inter" pitchFamily="34" charset="-120"/>
              </a:rPr>
              <a:t>Local search, your website, and contact details should work together.</a:t>
            </a:r>
            <a:endParaRPr lang="en-US" sz="1420" dirty="0"/>
          </a:p>
        </p:txBody>
      </p:sp>
      <p:sp>
        <p:nvSpPr>
          <p:cNvPr id="11" name="Shape 9"/>
          <p:cNvSpPr/>
          <p:nvPr/>
        </p:nvSpPr>
        <p:spPr>
          <a:xfrm>
            <a:off x="667512" y="2148840"/>
            <a:ext cx="6035040" cy="3584448"/>
          </a:xfrm>
          <a:prstGeom prst="roundRect">
            <a:avLst>
              <a:gd name="adj" fmla="val 5612"/>
            </a:avLst>
          </a:prstGeom>
          <a:solidFill>
            <a:srgbClr val="F7F9FB"/>
          </a:solidFill>
          <a:ln w="12700">
            <a:solidFill>
              <a:srgbClr val="F7F9FB">
                <a:alpha val="0"/>
              </a:srgbClr>
            </a:solidFill>
            <a:prstDash val="solid"/>
          </a:ln>
        </p:spPr>
      </p:sp>
      <p:sp>
        <p:nvSpPr>
          <p:cNvPr id="12" name="Shape 10"/>
          <p:cNvSpPr/>
          <p:nvPr/>
        </p:nvSpPr>
        <p:spPr>
          <a:xfrm>
            <a:off x="868680" y="2350008"/>
            <a:ext cx="5650992" cy="548640"/>
          </a:xfrm>
          <a:prstGeom prst="roundRect">
            <a:avLst>
              <a:gd name="adj" fmla="val 36667"/>
            </a:avLst>
          </a:prstGeom>
          <a:solidFill>
            <a:srgbClr val="E6ECF1"/>
          </a:solidFill>
          <a:ln w="12700">
            <a:solidFill>
              <a:srgbClr val="E6ECF1">
                <a:alpha val="0"/>
              </a:srgbClr>
            </a:solidFill>
            <a:prstDash val="solid"/>
          </a:ln>
        </p:spPr>
      </p:sp>
      <p:sp>
        <p:nvSpPr>
          <p:cNvPr id="13" name="Text 11"/>
          <p:cNvSpPr/>
          <p:nvPr/>
        </p:nvSpPr>
        <p:spPr>
          <a:xfrm>
            <a:off x="1069848" y="2478024"/>
            <a:ext cx="310896" cy="228600"/>
          </a:xfrm>
          <a:prstGeom prst="rect">
            <a:avLst/>
          </a:prstGeom>
          <a:noFill/>
          <a:ln/>
        </p:spPr>
        <p:txBody>
          <a:bodyPr wrap="square" lIns="0" tIns="0" rIns="0" bIns="0" rtlCol="0" anchor="ctr">
            <a:normAutofit/>
          </a:bodyPr>
          <a:lstStyle/>
          <a:p>
            <a:pPr indent="0" marL="0">
              <a:buNone/>
            </a:pPr>
            <a:r>
              <a:rPr lang="en-US" sz="1700" dirty="0">
                <a:solidFill>
                  <a:srgbClr val="4F6272"/>
                </a:solidFill>
                <a:latin typeface="Inter" pitchFamily="34" charset="0"/>
                <a:ea typeface="Inter" pitchFamily="34" charset="-122"/>
                <a:cs typeface="Inter" pitchFamily="34" charset="-120"/>
              </a:rPr>
              <a:t>⌕</a:t>
            </a:r>
            <a:endParaRPr lang="en-US" sz="1700" dirty="0"/>
          </a:p>
        </p:txBody>
      </p:sp>
      <p:sp>
        <p:nvSpPr>
          <p:cNvPr id="14" name="Text 12"/>
          <p:cNvSpPr/>
          <p:nvPr/>
        </p:nvSpPr>
        <p:spPr>
          <a:xfrm>
            <a:off x="1463040" y="2478024"/>
            <a:ext cx="4315968" cy="237744"/>
          </a:xfrm>
          <a:prstGeom prst="rect">
            <a:avLst/>
          </a:prstGeom>
          <a:noFill/>
          <a:ln/>
        </p:spPr>
        <p:txBody>
          <a:bodyPr wrap="square" lIns="0" tIns="0" rIns="0" bIns="0" rtlCol="0" anchor="ctr">
            <a:normAutofit/>
          </a:bodyPr>
          <a:lstStyle/>
          <a:p>
            <a:pPr indent="0" marL="0">
              <a:buNone/>
            </a:pPr>
            <a:r>
              <a:rPr lang="en-US" sz="1500" dirty="0">
                <a:solidFill>
                  <a:srgbClr val="253E50"/>
                </a:solidFill>
                <a:latin typeface="Inter" pitchFamily="34" charset="0"/>
                <a:ea typeface="Inter" pitchFamily="34" charset="-122"/>
                <a:cs typeface="Inter" pitchFamily="34" charset="-120"/>
              </a:rPr>
              <a:t>auto repair near me</a:t>
            </a:r>
            <a:endParaRPr lang="en-US" sz="1500" dirty="0"/>
          </a:p>
        </p:txBody>
      </p:sp>
      <p:sp>
        <p:nvSpPr>
          <p:cNvPr id="15" name="Shape 13"/>
          <p:cNvSpPr/>
          <p:nvPr/>
        </p:nvSpPr>
        <p:spPr>
          <a:xfrm>
            <a:off x="969264" y="3099816"/>
            <a:ext cx="5404104" cy="2185416"/>
          </a:xfrm>
          <a:prstGeom prst="roundRect">
            <a:avLst>
              <a:gd name="adj" fmla="val 6276"/>
            </a:avLst>
          </a:prstGeom>
          <a:solidFill>
            <a:srgbClr val="FFFFFF"/>
          </a:solidFill>
          <a:ln w="12700">
            <a:solidFill>
              <a:srgbClr val="D8E2E7"/>
            </a:solidFill>
            <a:prstDash val="solid"/>
          </a:ln>
        </p:spPr>
      </p:sp>
      <p:sp>
        <p:nvSpPr>
          <p:cNvPr id="16" name="Text 14"/>
          <p:cNvSpPr/>
          <p:nvPr/>
        </p:nvSpPr>
        <p:spPr>
          <a:xfrm>
            <a:off x="1188720" y="3255264"/>
            <a:ext cx="4754880" cy="182880"/>
          </a:xfrm>
          <a:prstGeom prst="rect">
            <a:avLst/>
          </a:prstGeom>
          <a:noFill/>
          <a:ln/>
        </p:spPr>
        <p:txBody>
          <a:bodyPr wrap="square" lIns="0" tIns="0" rIns="0" bIns="0" rtlCol="0" anchor="ctr">
            <a:normAutofit/>
          </a:bodyPr>
          <a:lstStyle/>
          <a:p>
            <a:pPr indent="0" marL="0">
              <a:buNone/>
            </a:pPr>
            <a:r>
              <a:rPr lang="en-US" sz="900" b="1" spc="100" kern="0" dirty="0">
                <a:solidFill>
                  <a:srgbClr val="657C8F"/>
                </a:solidFill>
                <a:latin typeface="Inter Display" pitchFamily="34" charset="0"/>
                <a:ea typeface="Inter Display" pitchFamily="34" charset="-122"/>
                <a:cs typeface="Inter Display" pitchFamily="34" charset="-120"/>
              </a:rPr>
              <a:t>ILLUSTRATIVE LOCAL SEARCH RESULT</a:t>
            </a:r>
            <a:endParaRPr lang="en-US" sz="900" dirty="0"/>
          </a:p>
        </p:txBody>
      </p:sp>
      <p:sp>
        <p:nvSpPr>
          <p:cNvPr id="17" name="Text 15"/>
          <p:cNvSpPr/>
          <p:nvPr/>
        </p:nvSpPr>
        <p:spPr>
          <a:xfrm>
            <a:off x="1179576" y="3639312"/>
            <a:ext cx="4169664" cy="320040"/>
          </a:xfrm>
          <a:prstGeom prst="rect">
            <a:avLst/>
          </a:prstGeom>
          <a:noFill/>
          <a:ln/>
        </p:spPr>
        <p:txBody>
          <a:bodyPr wrap="square" lIns="0" tIns="0" rIns="0" bIns="0" rtlCol="0" anchor="ctr">
            <a:normAutofit/>
          </a:bodyPr>
          <a:lstStyle/>
          <a:p>
            <a:pPr indent="0" marL="0">
              <a:buNone/>
            </a:pPr>
            <a:r>
              <a:rPr lang="en-US" sz="1900" b="1" dirty="0">
                <a:solidFill>
                  <a:srgbClr val="163044"/>
                </a:solidFill>
                <a:latin typeface="Inter Display" pitchFamily="34" charset="0"/>
                <a:ea typeface="Inter Display" pitchFamily="34" charset="-122"/>
                <a:cs typeface="Inter Display" pitchFamily="34" charset="-120"/>
              </a:rPr>
              <a:t>High Desert Auto Repair</a:t>
            </a:r>
            <a:endParaRPr lang="en-US" sz="1900" dirty="0"/>
          </a:p>
        </p:txBody>
      </p:sp>
      <p:sp>
        <p:nvSpPr>
          <p:cNvPr id="18" name="Text 16"/>
          <p:cNvSpPr/>
          <p:nvPr/>
        </p:nvSpPr>
        <p:spPr>
          <a:xfrm>
            <a:off x="1188720" y="4005072"/>
            <a:ext cx="4553712" cy="237744"/>
          </a:xfrm>
          <a:prstGeom prst="rect">
            <a:avLst/>
          </a:prstGeom>
          <a:noFill/>
          <a:ln/>
        </p:spPr>
        <p:txBody>
          <a:bodyPr wrap="square" lIns="0" tIns="0" rIns="0" bIns="0" rtlCol="0" anchor="ctr">
            <a:normAutofit/>
          </a:bodyPr>
          <a:lstStyle/>
          <a:p>
            <a:pPr indent="0" marL="0">
              <a:buNone/>
            </a:pPr>
            <a:r>
              <a:rPr lang="en-US" sz="1100" dirty="0">
                <a:solidFill>
                  <a:srgbClr val="516779"/>
                </a:solidFill>
                <a:latin typeface="Inter" pitchFamily="34" charset="0"/>
                <a:ea typeface="Inter" pitchFamily="34" charset="-122"/>
                <a:cs typeface="Inter" pitchFamily="34" charset="-120"/>
              </a:rPr>
              <a:t>Auto service · Clear hours · Direct contact</a:t>
            </a:r>
            <a:endParaRPr lang="en-US" sz="1100" dirty="0"/>
          </a:p>
        </p:txBody>
      </p:sp>
      <p:sp>
        <p:nvSpPr>
          <p:cNvPr id="19" name="Shape 17"/>
          <p:cNvSpPr/>
          <p:nvPr/>
        </p:nvSpPr>
        <p:spPr>
          <a:xfrm>
            <a:off x="1179576" y="4453128"/>
            <a:ext cx="1380744" cy="420624"/>
          </a:xfrm>
          <a:prstGeom prst="roundRect">
            <a:avLst>
              <a:gd name="adj" fmla="val 28261"/>
            </a:avLst>
          </a:prstGeom>
          <a:solidFill>
            <a:srgbClr val="E8F3F0"/>
          </a:solidFill>
          <a:ln w="12700">
            <a:solidFill>
              <a:srgbClr val="E8F3F0">
                <a:alpha val="0"/>
              </a:srgbClr>
            </a:solidFill>
            <a:prstDash val="solid"/>
          </a:ln>
        </p:spPr>
      </p:sp>
      <p:sp>
        <p:nvSpPr>
          <p:cNvPr id="20" name="Text 18"/>
          <p:cNvSpPr/>
          <p:nvPr/>
        </p:nvSpPr>
        <p:spPr>
          <a:xfrm>
            <a:off x="1335024" y="4553712"/>
            <a:ext cx="996696" cy="182880"/>
          </a:xfrm>
          <a:prstGeom prst="rect">
            <a:avLst/>
          </a:prstGeom>
          <a:noFill/>
          <a:ln/>
        </p:spPr>
        <p:txBody>
          <a:bodyPr wrap="square" lIns="0" tIns="0" rIns="0" bIns="0" rtlCol="0" anchor="ctr">
            <a:normAutofit/>
          </a:bodyPr>
          <a:lstStyle/>
          <a:p>
            <a:pPr algn="ctr" indent="0" marL="0">
              <a:buNone/>
            </a:pPr>
            <a:r>
              <a:rPr lang="en-US" sz="1000" b="1" dirty="0">
                <a:solidFill>
                  <a:srgbClr val="246653"/>
                </a:solidFill>
                <a:latin typeface="Inter Display" pitchFamily="34" charset="0"/>
                <a:ea typeface="Inter Display" pitchFamily="34" charset="-122"/>
                <a:cs typeface="Inter Display" pitchFamily="34" charset="-120"/>
              </a:rPr>
              <a:t>CALL</a:t>
            </a:r>
            <a:endParaRPr lang="en-US" sz="1000" dirty="0"/>
          </a:p>
        </p:txBody>
      </p:sp>
      <p:sp>
        <p:nvSpPr>
          <p:cNvPr id="21" name="Shape 19"/>
          <p:cNvSpPr/>
          <p:nvPr/>
        </p:nvSpPr>
        <p:spPr>
          <a:xfrm>
            <a:off x="2743200" y="4453128"/>
            <a:ext cx="1472184" cy="420624"/>
          </a:xfrm>
          <a:prstGeom prst="roundRect">
            <a:avLst>
              <a:gd name="adj" fmla="val 28261"/>
            </a:avLst>
          </a:prstGeom>
          <a:solidFill>
            <a:srgbClr val="E7EDF3"/>
          </a:solidFill>
          <a:ln w="12700">
            <a:solidFill>
              <a:srgbClr val="E7EDF3">
                <a:alpha val="0"/>
              </a:srgbClr>
            </a:solidFill>
            <a:prstDash val="solid"/>
          </a:ln>
        </p:spPr>
      </p:sp>
      <p:sp>
        <p:nvSpPr>
          <p:cNvPr id="22" name="Text 20"/>
          <p:cNvSpPr/>
          <p:nvPr/>
        </p:nvSpPr>
        <p:spPr>
          <a:xfrm>
            <a:off x="2935224" y="4553712"/>
            <a:ext cx="1097280" cy="182880"/>
          </a:xfrm>
          <a:prstGeom prst="rect">
            <a:avLst/>
          </a:prstGeom>
          <a:noFill/>
          <a:ln/>
        </p:spPr>
        <p:txBody>
          <a:bodyPr wrap="square" lIns="0" tIns="0" rIns="0" bIns="0" rtlCol="0" anchor="ctr">
            <a:normAutofit/>
          </a:bodyPr>
          <a:lstStyle/>
          <a:p>
            <a:pPr algn="ctr" indent="0" marL="0">
              <a:buNone/>
            </a:pPr>
            <a:r>
              <a:rPr lang="en-US" sz="1000" b="1" dirty="0">
                <a:solidFill>
                  <a:srgbClr val="2E526B"/>
                </a:solidFill>
                <a:latin typeface="Inter Display" pitchFamily="34" charset="0"/>
                <a:ea typeface="Inter Display" pitchFamily="34" charset="-122"/>
                <a:cs typeface="Inter Display" pitchFamily="34" charset="-120"/>
              </a:rPr>
              <a:t>WEBSITE</a:t>
            </a:r>
            <a:endParaRPr lang="en-US" sz="1000" dirty="0"/>
          </a:p>
        </p:txBody>
      </p:sp>
      <p:sp>
        <p:nvSpPr>
          <p:cNvPr id="23" name="Shape 21"/>
          <p:cNvSpPr/>
          <p:nvPr/>
        </p:nvSpPr>
        <p:spPr>
          <a:xfrm>
            <a:off x="4407408" y="4453128"/>
            <a:ext cx="1645920" cy="420624"/>
          </a:xfrm>
          <a:prstGeom prst="roundRect">
            <a:avLst>
              <a:gd name="adj" fmla="val 28261"/>
            </a:avLst>
          </a:prstGeom>
          <a:solidFill>
            <a:srgbClr val="F8E9DE"/>
          </a:solidFill>
          <a:ln w="12700">
            <a:solidFill>
              <a:srgbClr val="F8E9DE">
                <a:alpha val="0"/>
              </a:srgbClr>
            </a:solidFill>
            <a:prstDash val="solid"/>
          </a:ln>
        </p:spPr>
      </p:sp>
      <p:sp>
        <p:nvSpPr>
          <p:cNvPr id="24" name="Text 22"/>
          <p:cNvSpPr/>
          <p:nvPr/>
        </p:nvSpPr>
        <p:spPr>
          <a:xfrm>
            <a:off x="4562856" y="4553712"/>
            <a:ext cx="1344168" cy="182880"/>
          </a:xfrm>
          <a:prstGeom prst="rect">
            <a:avLst/>
          </a:prstGeom>
          <a:noFill/>
          <a:ln/>
        </p:spPr>
        <p:txBody>
          <a:bodyPr wrap="square" lIns="0" tIns="0" rIns="0" bIns="0" rtlCol="0" anchor="ctr">
            <a:normAutofit/>
          </a:bodyPr>
          <a:lstStyle/>
          <a:p>
            <a:pPr algn="ctr" indent="0" marL="0">
              <a:buNone/>
            </a:pPr>
            <a:r>
              <a:rPr lang="en-US" sz="960" b="1" dirty="0">
                <a:solidFill>
                  <a:srgbClr val="925931"/>
                </a:solidFill>
                <a:latin typeface="Inter Display" pitchFamily="34" charset="0"/>
                <a:ea typeface="Inter Display" pitchFamily="34" charset="-122"/>
                <a:cs typeface="Inter Display" pitchFamily="34" charset="-120"/>
              </a:rPr>
              <a:t>DIRECTIONS</a:t>
            </a:r>
            <a:endParaRPr lang="en-US" sz="960" dirty="0"/>
          </a:p>
        </p:txBody>
      </p:sp>
      <p:sp>
        <p:nvSpPr>
          <p:cNvPr id="25" name="Shape 23"/>
          <p:cNvSpPr/>
          <p:nvPr/>
        </p:nvSpPr>
        <p:spPr>
          <a:xfrm>
            <a:off x="7022592" y="2313432"/>
            <a:ext cx="393192" cy="393192"/>
          </a:xfrm>
          <a:prstGeom prst="roundRect">
            <a:avLst>
              <a:gd name="adj" fmla="val 39535"/>
            </a:avLst>
          </a:prstGeom>
          <a:solidFill>
            <a:srgbClr val="D98B58"/>
          </a:solidFill>
          <a:ln w="12700">
            <a:solidFill>
              <a:srgbClr val="D98B58">
                <a:alpha val="0"/>
              </a:srgbClr>
            </a:solidFill>
            <a:prstDash val="solid"/>
          </a:ln>
        </p:spPr>
      </p:sp>
      <p:sp>
        <p:nvSpPr>
          <p:cNvPr id="26" name="Text 24"/>
          <p:cNvSpPr/>
          <p:nvPr/>
        </p:nvSpPr>
        <p:spPr>
          <a:xfrm>
            <a:off x="7104888" y="2377440"/>
            <a:ext cx="246888" cy="246888"/>
          </a:xfrm>
          <a:prstGeom prst="rect">
            <a:avLst/>
          </a:prstGeom>
          <a:noFill/>
          <a:ln/>
        </p:spPr>
        <p:txBody>
          <a:bodyPr wrap="square" lIns="0" tIns="0" rIns="0" bIns="0" rtlCol="0" anchor="ctr">
            <a:normAutofit/>
          </a:bodyPr>
          <a:lstStyle/>
          <a:p>
            <a:pPr algn="ctr" indent="0" marL="0">
              <a:buNone/>
            </a:pPr>
            <a:r>
              <a:rPr lang="en-US" sz="1500" b="1" dirty="0">
                <a:solidFill>
                  <a:srgbClr val="091321"/>
                </a:solidFill>
                <a:latin typeface="Inter Display" pitchFamily="34" charset="0"/>
                <a:ea typeface="Inter Display" pitchFamily="34" charset="-122"/>
                <a:cs typeface="Inter Display" pitchFamily="34" charset="-120"/>
              </a:rPr>
              <a:t>✓</a:t>
            </a:r>
            <a:endParaRPr lang="en-US" sz="1500" dirty="0"/>
          </a:p>
        </p:txBody>
      </p:sp>
      <p:sp>
        <p:nvSpPr>
          <p:cNvPr id="27" name="Text 25"/>
          <p:cNvSpPr/>
          <p:nvPr/>
        </p:nvSpPr>
        <p:spPr>
          <a:xfrm>
            <a:off x="7580376" y="2313432"/>
            <a:ext cx="4041648" cy="347472"/>
          </a:xfrm>
          <a:prstGeom prst="rect">
            <a:avLst/>
          </a:prstGeom>
          <a:noFill/>
          <a:ln/>
        </p:spPr>
        <p:txBody>
          <a:bodyPr wrap="square" lIns="0" tIns="0" rIns="0" bIns="0" rtlCol="0" anchor="ctr">
            <a:normAutofit/>
          </a:bodyPr>
          <a:lstStyle/>
          <a:p>
            <a:pPr indent="0" marL="0">
              <a:buNone/>
            </a:pPr>
            <a:r>
              <a:rPr lang="en-US" sz="1800" b="1" dirty="0">
                <a:solidFill>
                  <a:srgbClr val="F6F8FB"/>
                </a:solidFill>
                <a:latin typeface="Inter Display" pitchFamily="34" charset="0"/>
                <a:ea typeface="Inter Display" pitchFamily="34" charset="-122"/>
                <a:cs typeface="Inter Display" pitchFamily="34" charset="-120"/>
              </a:rPr>
              <a:t>Be discoverable</a:t>
            </a:r>
            <a:endParaRPr lang="en-US" sz="1800" dirty="0"/>
          </a:p>
        </p:txBody>
      </p:sp>
      <p:sp>
        <p:nvSpPr>
          <p:cNvPr id="28" name="Text 26"/>
          <p:cNvSpPr/>
          <p:nvPr/>
        </p:nvSpPr>
        <p:spPr>
          <a:xfrm>
            <a:off x="7598664" y="2752344"/>
            <a:ext cx="3749040" cy="301752"/>
          </a:xfrm>
          <a:prstGeom prst="rect">
            <a:avLst/>
          </a:prstGeom>
          <a:noFill/>
          <a:ln/>
        </p:spPr>
        <p:txBody>
          <a:bodyPr wrap="square" lIns="0" tIns="0" rIns="0" bIns="0" rtlCol="0" anchor="ctr">
            <a:normAutofit/>
          </a:bodyPr>
          <a:lstStyle/>
          <a:p>
            <a:pPr indent="0" marL="0">
              <a:buNone/>
            </a:pPr>
            <a:r>
              <a:rPr lang="en-US" sz="1220" dirty="0">
                <a:solidFill>
                  <a:srgbClr val="DAE5EB"/>
                </a:solidFill>
                <a:latin typeface="Inter" pitchFamily="34" charset="0"/>
                <a:ea typeface="Inter" pitchFamily="34" charset="-122"/>
                <a:cs typeface="Inter" pitchFamily="34" charset="-120"/>
              </a:rPr>
              <a:t>Accurate business information</a:t>
            </a:r>
            <a:endParaRPr lang="en-US" sz="1220" dirty="0"/>
          </a:p>
        </p:txBody>
      </p:sp>
      <p:sp>
        <p:nvSpPr>
          <p:cNvPr id="29" name="Shape 27"/>
          <p:cNvSpPr/>
          <p:nvPr/>
        </p:nvSpPr>
        <p:spPr>
          <a:xfrm>
            <a:off x="7022592" y="3483864"/>
            <a:ext cx="393192" cy="393192"/>
          </a:xfrm>
          <a:prstGeom prst="roundRect">
            <a:avLst>
              <a:gd name="adj" fmla="val 39535"/>
            </a:avLst>
          </a:prstGeom>
          <a:solidFill>
            <a:srgbClr val="D98B58"/>
          </a:solidFill>
          <a:ln w="12700">
            <a:solidFill>
              <a:srgbClr val="D98B58">
                <a:alpha val="0"/>
              </a:srgbClr>
            </a:solidFill>
            <a:prstDash val="solid"/>
          </a:ln>
        </p:spPr>
      </p:sp>
      <p:sp>
        <p:nvSpPr>
          <p:cNvPr id="30" name="Text 28"/>
          <p:cNvSpPr/>
          <p:nvPr/>
        </p:nvSpPr>
        <p:spPr>
          <a:xfrm>
            <a:off x="7104888" y="3547872"/>
            <a:ext cx="246888" cy="246888"/>
          </a:xfrm>
          <a:prstGeom prst="rect">
            <a:avLst/>
          </a:prstGeom>
          <a:noFill/>
          <a:ln/>
        </p:spPr>
        <p:txBody>
          <a:bodyPr wrap="square" lIns="0" tIns="0" rIns="0" bIns="0" rtlCol="0" anchor="ctr">
            <a:normAutofit/>
          </a:bodyPr>
          <a:lstStyle/>
          <a:p>
            <a:pPr algn="ctr" indent="0" marL="0">
              <a:buNone/>
            </a:pPr>
            <a:r>
              <a:rPr lang="en-US" sz="1500" b="1" dirty="0">
                <a:solidFill>
                  <a:srgbClr val="091321"/>
                </a:solidFill>
                <a:latin typeface="Inter Display" pitchFamily="34" charset="0"/>
                <a:ea typeface="Inter Display" pitchFamily="34" charset="-122"/>
                <a:cs typeface="Inter Display" pitchFamily="34" charset="-120"/>
              </a:rPr>
              <a:t>✓</a:t>
            </a:r>
            <a:endParaRPr lang="en-US" sz="1500" dirty="0"/>
          </a:p>
        </p:txBody>
      </p:sp>
      <p:sp>
        <p:nvSpPr>
          <p:cNvPr id="31" name="Text 29"/>
          <p:cNvSpPr/>
          <p:nvPr/>
        </p:nvSpPr>
        <p:spPr>
          <a:xfrm>
            <a:off x="7580376" y="3483864"/>
            <a:ext cx="4041648" cy="347472"/>
          </a:xfrm>
          <a:prstGeom prst="rect">
            <a:avLst/>
          </a:prstGeom>
          <a:noFill/>
          <a:ln/>
        </p:spPr>
        <p:txBody>
          <a:bodyPr wrap="square" lIns="0" tIns="0" rIns="0" bIns="0" rtlCol="0" anchor="ctr">
            <a:normAutofit/>
          </a:bodyPr>
          <a:lstStyle/>
          <a:p>
            <a:pPr indent="0" marL="0">
              <a:buNone/>
            </a:pPr>
            <a:r>
              <a:rPr lang="en-US" sz="1800" b="1" dirty="0">
                <a:solidFill>
                  <a:srgbClr val="F6F8FB"/>
                </a:solidFill>
                <a:latin typeface="Inter Display" pitchFamily="34" charset="0"/>
                <a:ea typeface="Inter Display" pitchFamily="34" charset="-122"/>
                <a:cs typeface="Inter Display" pitchFamily="34" charset="-120"/>
              </a:rPr>
              <a:t>Be convincing</a:t>
            </a:r>
            <a:endParaRPr lang="en-US" sz="1800" dirty="0"/>
          </a:p>
        </p:txBody>
      </p:sp>
      <p:sp>
        <p:nvSpPr>
          <p:cNvPr id="32" name="Text 30"/>
          <p:cNvSpPr/>
          <p:nvPr/>
        </p:nvSpPr>
        <p:spPr>
          <a:xfrm>
            <a:off x="7598664" y="3922776"/>
            <a:ext cx="3749040" cy="301752"/>
          </a:xfrm>
          <a:prstGeom prst="rect">
            <a:avLst/>
          </a:prstGeom>
          <a:noFill/>
          <a:ln/>
        </p:spPr>
        <p:txBody>
          <a:bodyPr wrap="square" lIns="0" tIns="0" rIns="0" bIns="0" rtlCol="0" anchor="ctr">
            <a:normAutofit/>
          </a:bodyPr>
          <a:lstStyle/>
          <a:p>
            <a:pPr indent="0" marL="0">
              <a:buNone/>
            </a:pPr>
            <a:r>
              <a:rPr lang="en-US" sz="1220" dirty="0">
                <a:solidFill>
                  <a:srgbClr val="DAE5EB"/>
                </a:solidFill>
                <a:latin typeface="Inter" pitchFamily="34" charset="0"/>
                <a:ea typeface="Inter" pitchFamily="34" charset="-122"/>
                <a:cs typeface="Inter" pitchFamily="34" charset="-120"/>
              </a:rPr>
              <a:t>A professional first impression</a:t>
            </a:r>
            <a:endParaRPr lang="en-US" sz="1220" dirty="0"/>
          </a:p>
        </p:txBody>
      </p:sp>
      <p:sp>
        <p:nvSpPr>
          <p:cNvPr id="33" name="Shape 31"/>
          <p:cNvSpPr/>
          <p:nvPr/>
        </p:nvSpPr>
        <p:spPr>
          <a:xfrm>
            <a:off x="7022592" y="4654296"/>
            <a:ext cx="393192" cy="393192"/>
          </a:xfrm>
          <a:prstGeom prst="roundRect">
            <a:avLst>
              <a:gd name="adj" fmla="val 39535"/>
            </a:avLst>
          </a:prstGeom>
          <a:solidFill>
            <a:srgbClr val="D98B58"/>
          </a:solidFill>
          <a:ln w="12700">
            <a:solidFill>
              <a:srgbClr val="D98B58">
                <a:alpha val="0"/>
              </a:srgbClr>
            </a:solidFill>
            <a:prstDash val="solid"/>
          </a:ln>
        </p:spPr>
      </p:sp>
      <p:sp>
        <p:nvSpPr>
          <p:cNvPr id="34" name="Text 32"/>
          <p:cNvSpPr/>
          <p:nvPr/>
        </p:nvSpPr>
        <p:spPr>
          <a:xfrm>
            <a:off x="7104888" y="4718304"/>
            <a:ext cx="246888" cy="246888"/>
          </a:xfrm>
          <a:prstGeom prst="rect">
            <a:avLst/>
          </a:prstGeom>
          <a:noFill/>
          <a:ln/>
        </p:spPr>
        <p:txBody>
          <a:bodyPr wrap="square" lIns="0" tIns="0" rIns="0" bIns="0" rtlCol="0" anchor="ctr">
            <a:normAutofit/>
          </a:bodyPr>
          <a:lstStyle/>
          <a:p>
            <a:pPr algn="ctr" indent="0" marL="0">
              <a:buNone/>
            </a:pPr>
            <a:r>
              <a:rPr lang="en-US" sz="1500" b="1" dirty="0">
                <a:solidFill>
                  <a:srgbClr val="091321"/>
                </a:solidFill>
                <a:latin typeface="Inter Display" pitchFamily="34" charset="0"/>
                <a:ea typeface="Inter Display" pitchFamily="34" charset="-122"/>
                <a:cs typeface="Inter Display" pitchFamily="34" charset="-120"/>
              </a:rPr>
              <a:t>✓</a:t>
            </a:r>
            <a:endParaRPr lang="en-US" sz="1500" dirty="0"/>
          </a:p>
        </p:txBody>
      </p:sp>
      <p:sp>
        <p:nvSpPr>
          <p:cNvPr id="35" name="Text 33"/>
          <p:cNvSpPr/>
          <p:nvPr/>
        </p:nvSpPr>
        <p:spPr>
          <a:xfrm>
            <a:off x="7580376" y="4654296"/>
            <a:ext cx="4041648" cy="347472"/>
          </a:xfrm>
          <a:prstGeom prst="rect">
            <a:avLst/>
          </a:prstGeom>
          <a:noFill/>
          <a:ln/>
        </p:spPr>
        <p:txBody>
          <a:bodyPr wrap="square" lIns="0" tIns="0" rIns="0" bIns="0" rtlCol="0" anchor="ctr">
            <a:normAutofit/>
          </a:bodyPr>
          <a:lstStyle/>
          <a:p>
            <a:pPr indent="0" marL="0">
              <a:buNone/>
            </a:pPr>
            <a:r>
              <a:rPr lang="en-US" sz="1800" b="1" dirty="0">
                <a:solidFill>
                  <a:srgbClr val="F6F8FB"/>
                </a:solidFill>
                <a:latin typeface="Inter Display" pitchFamily="34" charset="0"/>
                <a:ea typeface="Inter Display" pitchFamily="34" charset="-122"/>
                <a:cs typeface="Inter Display" pitchFamily="34" charset="-120"/>
              </a:rPr>
              <a:t>Be reachable</a:t>
            </a:r>
            <a:endParaRPr lang="en-US" sz="1800" dirty="0"/>
          </a:p>
        </p:txBody>
      </p:sp>
      <p:sp>
        <p:nvSpPr>
          <p:cNvPr id="36" name="Text 34"/>
          <p:cNvSpPr/>
          <p:nvPr/>
        </p:nvSpPr>
        <p:spPr>
          <a:xfrm>
            <a:off x="7598664" y="5093208"/>
            <a:ext cx="3749040" cy="301752"/>
          </a:xfrm>
          <a:prstGeom prst="rect">
            <a:avLst/>
          </a:prstGeom>
          <a:noFill/>
          <a:ln/>
        </p:spPr>
        <p:txBody>
          <a:bodyPr wrap="square" lIns="0" tIns="0" rIns="0" bIns="0" rtlCol="0" anchor="ctr">
            <a:normAutofit/>
          </a:bodyPr>
          <a:lstStyle/>
          <a:p>
            <a:pPr indent="0" marL="0">
              <a:buNone/>
            </a:pPr>
            <a:r>
              <a:rPr lang="en-US" sz="1220" dirty="0">
                <a:solidFill>
                  <a:srgbClr val="DAE5EB"/>
                </a:solidFill>
                <a:latin typeface="Inter" pitchFamily="34" charset="0"/>
                <a:ea typeface="Inter" pitchFamily="34" charset="-122"/>
                <a:cs typeface="Inter" pitchFamily="34" charset="-120"/>
              </a:rPr>
              <a:t>Simple paths to call or inquire</a:t>
            </a:r>
            <a:endParaRPr lang="en-US" sz="1220" dirty="0"/>
          </a:p>
        </p:txBody>
      </p:sp>
      <p:sp>
        <p:nvSpPr>
          <p:cNvPr id="37" name="Text 35"/>
          <p:cNvSpPr/>
          <p:nvPr/>
        </p:nvSpPr>
        <p:spPr>
          <a:xfrm>
            <a:off x="704088" y="5998464"/>
            <a:ext cx="9601200" cy="182880"/>
          </a:xfrm>
          <a:prstGeom prst="rect">
            <a:avLst/>
          </a:prstGeom>
          <a:noFill/>
          <a:ln/>
        </p:spPr>
        <p:txBody>
          <a:bodyPr wrap="square" lIns="0" tIns="0" rIns="0" bIns="0" rtlCol="0" anchor="ctr">
            <a:normAutofit/>
          </a:bodyPr>
          <a:lstStyle/>
          <a:p>
            <a:pPr indent="0" marL="0">
              <a:buNone/>
            </a:pPr>
            <a:r>
              <a:rPr lang="en-US" sz="880" dirty="0">
                <a:solidFill>
                  <a:srgbClr val="9DAFC1"/>
                </a:solidFill>
                <a:latin typeface="Inter" pitchFamily="34" charset="0"/>
                <a:ea typeface="Inter" pitchFamily="34" charset="-122"/>
                <a:cs typeface="Inter" pitchFamily="34" charset="-120"/>
              </a:rPr>
              <a:t>Search preview is a conceptual example, not a live Google ranking.</a:t>
            </a:r>
            <a:endParaRPr lang="en-US" sz="88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71423"/>
        </a:solidFill>
      </p:bgPr>
    </p:bg>
    <p:spTree>
      <p:nvGrpSpPr>
        <p:cNvPr id="1" name=""/>
        <p:cNvGrpSpPr/>
        <p:nvPr/>
      </p:nvGrpSpPr>
      <p:grpSpPr>
        <a:xfrm>
          <a:off x="0" y="0"/>
          <a:ext cx="0" cy="0"/>
          <a:chOff x="0" y="0"/>
          <a:chExt cx="0" cy="0"/>
        </a:xfrm>
      </p:grpSpPr>
      <p:sp>
        <p:nvSpPr>
          <p:cNvPr id="2" name="Shape 0"/>
          <p:cNvSpPr/>
          <p:nvPr/>
        </p:nvSpPr>
        <p:spPr>
          <a:xfrm>
            <a:off x="0" y="0"/>
            <a:ext cx="12192000" cy="43891"/>
          </a:xfrm>
          <a:prstGeom prst="rect">
            <a:avLst/>
          </a:prstGeom>
          <a:solidFill>
            <a:srgbClr val="D98B58"/>
          </a:solidFill>
          <a:ln w="12700">
            <a:solidFill>
              <a:srgbClr val="D98B58">
                <a:alpha val="0"/>
              </a:srgbClr>
            </a:solidFill>
            <a:prstDash val="solid"/>
          </a:ln>
        </p:spPr>
      </p:sp>
      <p:sp>
        <p:nvSpPr>
          <p:cNvPr id="3" name="Shape 1"/>
          <p:cNvSpPr/>
          <p:nvPr/>
        </p:nvSpPr>
        <p:spPr>
          <a:xfrm>
            <a:off x="11750040" y="0"/>
            <a:ext cx="438912" cy="43891"/>
          </a:xfrm>
          <a:prstGeom prst="rect">
            <a:avLst/>
          </a:prstGeom>
          <a:solidFill>
            <a:srgbClr val="F0B080"/>
          </a:solidFill>
          <a:ln w="12700">
            <a:solidFill>
              <a:srgbClr val="F0B080">
                <a:alpha val="0"/>
              </a:srgbClr>
            </a:solidFill>
            <a:prstDash val="solid"/>
          </a:ln>
        </p:spPr>
      </p:sp>
      <p:sp>
        <p:nvSpPr>
          <p:cNvPr id="4" name="Shape 2"/>
          <p:cNvSpPr/>
          <p:nvPr/>
        </p:nvSpPr>
        <p:spPr>
          <a:xfrm>
            <a:off x="11841480" y="822960"/>
            <a:ext cx="118872" cy="3749040"/>
          </a:xfrm>
          <a:prstGeom prst="rect">
            <a:avLst/>
          </a:prstGeom>
          <a:solidFill>
            <a:srgbClr val="D98B58">
              <a:alpha val="10000"/>
            </a:srgbClr>
          </a:solidFill>
          <a:ln w="12700">
            <a:solidFill>
              <a:srgbClr val="D98B58">
                <a:alpha val="0"/>
              </a:srgbClr>
            </a:solidFill>
            <a:prstDash val="solid"/>
          </a:ln>
        </p:spPr>
      </p:sp>
      <p:sp>
        <p:nvSpPr>
          <p:cNvPr id="5" name="Shape 3"/>
          <p:cNvSpPr/>
          <p:nvPr/>
        </p:nvSpPr>
        <p:spPr>
          <a:xfrm>
            <a:off x="603504" y="6460236"/>
            <a:ext cx="10981944" cy="0"/>
          </a:xfrm>
          <a:prstGeom prst="line">
            <a:avLst/>
          </a:prstGeom>
          <a:noFill/>
          <a:ln w="8255">
            <a:solidFill>
              <a:srgbClr val="274054"/>
            </a:solidFill>
            <a:prstDash val="solid"/>
            <a:headEnd type="none"/>
            <a:tailEnd type="none"/>
          </a:ln>
        </p:spPr>
      </p:sp>
      <p:sp>
        <p:nvSpPr>
          <p:cNvPr id="6" name="Text 4"/>
          <p:cNvSpPr/>
          <p:nvPr/>
        </p:nvSpPr>
        <p:spPr>
          <a:xfrm>
            <a:off x="612648" y="6537960"/>
            <a:ext cx="7315200" cy="173736"/>
          </a:xfrm>
          <a:prstGeom prst="rect">
            <a:avLst/>
          </a:prstGeom>
          <a:noFill/>
          <a:ln/>
        </p:spPr>
        <p:txBody>
          <a:bodyPr wrap="square" lIns="0" tIns="0" rIns="0" bIns="0" rtlCol="0" anchor="ctr">
            <a:normAutofit/>
          </a:bodyPr>
          <a:lstStyle/>
          <a:p>
            <a:pPr indent="0" marL="0">
              <a:buNone/>
            </a:pPr>
            <a:r>
              <a:rPr lang="en-US" sz="810" b="1" spc="75" kern="0" dirty="0">
                <a:solidFill>
                  <a:srgbClr val="9DAFC1"/>
                </a:solidFill>
                <a:latin typeface="Inter Display" pitchFamily="34" charset="0"/>
                <a:ea typeface="Inter Display" pitchFamily="34" charset="-122"/>
                <a:cs typeface="Inter Display" pitchFamily="34" charset="-120"/>
              </a:rPr>
              <a:t>REKODE DIGITAL  /  WINNEMUCCA · NORTHERN NEVADA</a:t>
            </a:r>
            <a:endParaRPr lang="en-US" sz="810" dirty="0"/>
          </a:p>
        </p:txBody>
      </p:sp>
      <p:sp>
        <p:nvSpPr>
          <p:cNvPr id="7" name="Text 5"/>
          <p:cNvSpPr/>
          <p:nvPr/>
        </p:nvSpPr>
        <p:spPr>
          <a:xfrm>
            <a:off x="11091672" y="6510528"/>
            <a:ext cx="475488" cy="210312"/>
          </a:xfrm>
          <a:prstGeom prst="rect">
            <a:avLst/>
          </a:prstGeom>
          <a:noFill/>
          <a:ln/>
        </p:spPr>
        <p:txBody>
          <a:bodyPr wrap="square" lIns="0" tIns="0" rIns="0" bIns="0" rtlCol="0" anchor="ctr">
            <a:normAutofit/>
          </a:bodyPr>
          <a:lstStyle/>
          <a:p>
            <a:pPr algn="r" indent="0" marL="0">
              <a:buNone/>
            </a:pPr>
            <a:r>
              <a:rPr lang="en-US" sz="900" b="1" dirty="0">
                <a:solidFill>
                  <a:srgbClr val="D98B58"/>
                </a:solidFill>
                <a:latin typeface="Inter Display" pitchFamily="34" charset="0"/>
                <a:ea typeface="Inter Display" pitchFamily="34" charset="-122"/>
                <a:cs typeface="Inter Display" pitchFamily="34" charset="-120"/>
              </a:rPr>
              <a:t>05</a:t>
            </a:r>
            <a:endParaRPr lang="en-US" sz="900" dirty="0"/>
          </a:p>
        </p:txBody>
      </p:sp>
      <p:sp>
        <p:nvSpPr>
          <p:cNvPr id="8" name="Text 6"/>
          <p:cNvSpPr/>
          <p:nvPr/>
        </p:nvSpPr>
        <p:spPr>
          <a:xfrm>
            <a:off x="621792" y="466344"/>
            <a:ext cx="9966960" cy="237744"/>
          </a:xfrm>
          <a:prstGeom prst="rect">
            <a:avLst/>
          </a:prstGeom>
          <a:noFill/>
          <a:ln/>
        </p:spPr>
        <p:txBody>
          <a:bodyPr wrap="square" lIns="0" tIns="0" rIns="0" bIns="0" rtlCol="0" anchor="ctr">
            <a:normAutofit/>
          </a:bodyPr>
          <a:lstStyle/>
          <a:p>
            <a:pPr indent="0" marL="0">
              <a:buNone/>
            </a:pPr>
            <a:r>
              <a:rPr lang="en-US" sz="960" b="1" spc="260" kern="0" dirty="0">
                <a:solidFill>
                  <a:srgbClr val="D98B58"/>
                </a:solidFill>
                <a:latin typeface="Inter Display" pitchFamily="34" charset="0"/>
                <a:ea typeface="Inter Display" pitchFamily="34" charset="-122"/>
                <a:cs typeface="Inter Display" pitchFamily="34" charset="-120"/>
              </a:rPr>
              <a:t>HOW REKODE HELPS</a:t>
            </a:r>
            <a:endParaRPr lang="en-US" sz="960" dirty="0"/>
          </a:p>
        </p:txBody>
      </p:sp>
      <p:sp>
        <p:nvSpPr>
          <p:cNvPr id="9" name="Text 7"/>
          <p:cNvSpPr/>
          <p:nvPr/>
        </p:nvSpPr>
        <p:spPr>
          <a:xfrm>
            <a:off x="621792" y="896112"/>
            <a:ext cx="10789920" cy="731520"/>
          </a:xfrm>
          <a:prstGeom prst="rect">
            <a:avLst/>
          </a:prstGeom>
          <a:noFill/>
          <a:ln/>
        </p:spPr>
        <p:txBody>
          <a:bodyPr wrap="square" lIns="0" tIns="0" rIns="0" bIns="0" rtlCol="0" anchor="ctr">
            <a:normAutofit/>
          </a:bodyPr>
          <a:lstStyle/>
          <a:p>
            <a:pPr indent="0" marL="0">
              <a:buNone/>
            </a:pPr>
            <a:r>
              <a:rPr lang="en-US" sz="3200" b="1" dirty="0">
                <a:solidFill>
                  <a:srgbClr val="F6F8FB"/>
                </a:solidFill>
                <a:latin typeface="Inter Display" pitchFamily="34" charset="0"/>
                <a:ea typeface="Inter Display" pitchFamily="34" charset="-122"/>
                <a:cs typeface="Inter Display" pitchFamily="34" charset="-120"/>
              </a:rPr>
              <a:t>Practical tools. No unnecessary complexity.</a:t>
            </a:r>
            <a:endParaRPr lang="en-US" sz="3200" dirty="0"/>
          </a:p>
        </p:txBody>
      </p:sp>
      <p:sp>
        <p:nvSpPr>
          <p:cNvPr id="10" name="Text 8"/>
          <p:cNvSpPr/>
          <p:nvPr/>
        </p:nvSpPr>
        <p:spPr>
          <a:xfrm>
            <a:off x="640080" y="1700784"/>
            <a:ext cx="10698480" cy="475488"/>
          </a:xfrm>
          <a:prstGeom prst="rect">
            <a:avLst/>
          </a:prstGeom>
          <a:noFill/>
          <a:ln/>
        </p:spPr>
        <p:txBody>
          <a:bodyPr wrap="square" lIns="0" tIns="0" rIns="0" bIns="0" rtlCol="0" anchor="ctr">
            <a:normAutofit/>
          </a:bodyPr>
          <a:lstStyle/>
          <a:p>
            <a:pPr indent="0" marL="0">
              <a:buNone/>
            </a:pPr>
            <a:r>
              <a:rPr lang="en-US" sz="1420" dirty="0">
                <a:solidFill>
                  <a:srgbClr val="DAE5EB"/>
                </a:solidFill>
                <a:latin typeface="Inter" pitchFamily="34" charset="0"/>
                <a:ea typeface="Inter" pitchFamily="34" charset="-122"/>
                <a:cs typeface="Inter" pitchFamily="34" charset="-120"/>
              </a:rPr>
              <a:t>A right-sized approach for the needs of your business.</a:t>
            </a:r>
            <a:endParaRPr lang="en-US" sz="1420" dirty="0"/>
          </a:p>
        </p:txBody>
      </p:sp>
      <p:sp>
        <p:nvSpPr>
          <p:cNvPr id="11" name="Shape 9"/>
          <p:cNvSpPr/>
          <p:nvPr/>
        </p:nvSpPr>
        <p:spPr>
          <a:xfrm>
            <a:off x="676656" y="2267712"/>
            <a:ext cx="5422392" cy="1426464"/>
          </a:xfrm>
          <a:prstGeom prst="roundRect">
            <a:avLst>
              <a:gd name="adj" fmla="val 10256"/>
            </a:avLst>
          </a:prstGeom>
          <a:solidFill>
            <a:srgbClr val="11263B"/>
          </a:solidFill>
          <a:ln w="12700">
            <a:solidFill>
              <a:srgbClr val="274054"/>
            </a:solidFill>
            <a:prstDash val="solid"/>
          </a:ln>
        </p:spPr>
      </p:sp>
      <p:sp>
        <p:nvSpPr>
          <p:cNvPr id="12" name="Shape 10"/>
          <p:cNvSpPr/>
          <p:nvPr/>
        </p:nvSpPr>
        <p:spPr>
          <a:xfrm>
            <a:off x="905256" y="2496312"/>
            <a:ext cx="612648" cy="612648"/>
          </a:xfrm>
          <a:prstGeom prst="roundRect">
            <a:avLst>
              <a:gd name="adj" fmla="val 25373"/>
            </a:avLst>
          </a:prstGeom>
          <a:solidFill>
            <a:srgbClr val="D98B58"/>
          </a:solidFill>
          <a:ln w="12700">
            <a:solidFill>
              <a:srgbClr val="D98B58">
                <a:alpha val="0"/>
              </a:srgbClr>
            </a:solidFill>
            <a:prstDash val="solid"/>
          </a:ln>
        </p:spPr>
      </p:sp>
      <p:sp>
        <p:nvSpPr>
          <p:cNvPr id="13" name="Text 11"/>
          <p:cNvSpPr/>
          <p:nvPr/>
        </p:nvSpPr>
        <p:spPr>
          <a:xfrm>
            <a:off x="960120" y="2606040"/>
            <a:ext cx="502920" cy="237744"/>
          </a:xfrm>
          <a:prstGeom prst="rect">
            <a:avLst/>
          </a:prstGeom>
          <a:noFill/>
          <a:ln/>
        </p:spPr>
        <p:txBody>
          <a:bodyPr wrap="square" lIns="0" tIns="0" rIns="0" bIns="0" rtlCol="0" anchor="ctr">
            <a:normAutofit/>
          </a:bodyPr>
          <a:lstStyle/>
          <a:p>
            <a:pPr algn="ctr" indent="0" marL="0">
              <a:buNone/>
            </a:pPr>
            <a:r>
              <a:rPr lang="en-US" sz="1400" b="1" dirty="0">
                <a:solidFill>
                  <a:srgbClr val="091321"/>
                </a:solidFill>
                <a:latin typeface="Inter Display" pitchFamily="34" charset="0"/>
                <a:ea typeface="Inter Display" pitchFamily="34" charset="-122"/>
                <a:cs typeface="Inter Display" pitchFamily="34" charset="-120"/>
              </a:rPr>
              <a:t>01</a:t>
            </a:r>
            <a:endParaRPr lang="en-US" sz="1400" dirty="0"/>
          </a:p>
        </p:txBody>
      </p:sp>
      <p:sp>
        <p:nvSpPr>
          <p:cNvPr id="14" name="Text 12"/>
          <p:cNvSpPr/>
          <p:nvPr/>
        </p:nvSpPr>
        <p:spPr>
          <a:xfrm>
            <a:off x="1746504" y="2514600"/>
            <a:ext cx="4041648" cy="320040"/>
          </a:xfrm>
          <a:prstGeom prst="rect">
            <a:avLst/>
          </a:prstGeom>
          <a:noFill/>
          <a:ln/>
        </p:spPr>
        <p:txBody>
          <a:bodyPr wrap="square" lIns="0" tIns="0" rIns="0" bIns="0" rtlCol="0" anchor="ctr">
            <a:normAutofit/>
          </a:bodyPr>
          <a:lstStyle/>
          <a:p>
            <a:pPr indent="0" marL="0">
              <a:buNone/>
            </a:pPr>
            <a:r>
              <a:rPr lang="en-US" sz="1800" b="1" dirty="0">
                <a:solidFill>
                  <a:srgbClr val="F6F8FB"/>
                </a:solidFill>
                <a:latin typeface="Inter Display" pitchFamily="34" charset="0"/>
                <a:ea typeface="Inter Display" pitchFamily="34" charset="-122"/>
                <a:cs typeface="Inter Display" pitchFamily="34" charset="-120"/>
              </a:rPr>
              <a:t>WEBSITES</a:t>
            </a:r>
            <a:endParaRPr lang="en-US" sz="1800" dirty="0"/>
          </a:p>
        </p:txBody>
      </p:sp>
      <p:sp>
        <p:nvSpPr>
          <p:cNvPr id="15" name="Text 13"/>
          <p:cNvSpPr/>
          <p:nvPr/>
        </p:nvSpPr>
        <p:spPr>
          <a:xfrm>
            <a:off x="1764792" y="2953512"/>
            <a:ext cx="4050792" cy="466344"/>
          </a:xfrm>
          <a:prstGeom prst="rect">
            <a:avLst/>
          </a:prstGeom>
          <a:noFill/>
          <a:ln/>
        </p:spPr>
        <p:txBody>
          <a:bodyPr wrap="square" lIns="0" tIns="0" rIns="0" bIns="0" rtlCol="0" anchor="ctr">
            <a:normAutofit/>
          </a:bodyPr>
          <a:lstStyle/>
          <a:p>
            <a:pPr indent="0" marL="0">
              <a:buNone/>
            </a:pPr>
            <a:r>
              <a:rPr lang="en-US" sz="1230" dirty="0">
                <a:solidFill>
                  <a:srgbClr val="DAE5EB"/>
                </a:solidFill>
                <a:latin typeface="Inter" pitchFamily="34" charset="0"/>
                <a:ea typeface="Inter" pitchFamily="34" charset="-122"/>
                <a:cs typeface="Inter" pitchFamily="34" charset="-120"/>
              </a:rPr>
              <a:t>Responsive, clear, and built to encourage action.</a:t>
            </a:r>
            <a:endParaRPr lang="en-US" sz="1230" dirty="0"/>
          </a:p>
        </p:txBody>
      </p:sp>
      <p:sp>
        <p:nvSpPr>
          <p:cNvPr id="16" name="Shape 14"/>
          <p:cNvSpPr/>
          <p:nvPr/>
        </p:nvSpPr>
        <p:spPr>
          <a:xfrm>
            <a:off x="6419088" y="2267712"/>
            <a:ext cx="5422392" cy="1426464"/>
          </a:xfrm>
          <a:prstGeom prst="roundRect">
            <a:avLst>
              <a:gd name="adj" fmla="val 10256"/>
            </a:avLst>
          </a:prstGeom>
          <a:solidFill>
            <a:srgbClr val="11263B"/>
          </a:solidFill>
          <a:ln w="12700">
            <a:solidFill>
              <a:srgbClr val="274054"/>
            </a:solidFill>
            <a:prstDash val="solid"/>
          </a:ln>
        </p:spPr>
      </p:sp>
      <p:sp>
        <p:nvSpPr>
          <p:cNvPr id="17" name="Shape 15"/>
          <p:cNvSpPr/>
          <p:nvPr/>
        </p:nvSpPr>
        <p:spPr>
          <a:xfrm>
            <a:off x="6647688" y="2496312"/>
            <a:ext cx="612648" cy="612648"/>
          </a:xfrm>
          <a:prstGeom prst="roundRect">
            <a:avLst>
              <a:gd name="adj" fmla="val 25373"/>
            </a:avLst>
          </a:prstGeom>
          <a:solidFill>
            <a:srgbClr val="D98B58"/>
          </a:solidFill>
          <a:ln w="12700">
            <a:solidFill>
              <a:srgbClr val="D98B58">
                <a:alpha val="0"/>
              </a:srgbClr>
            </a:solidFill>
            <a:prstDash val="solid"/>
          </a:ln>
        </p:spPr>
      </p:sp>
      <p:sp>
        <p:nvSpPr>
          <p:cNvPr id="18" name="Text 16"/>
          <p:cNvSpPr/>
          <p:nvPr/>
        </p:nvSpPr>
        <p:spPr>
          <a:xfrm>
            <a:off x="6702552" y="2606040"/>
            <a:ext cx="502920" cy="237744"/>
          </a:xfrm>
          <a:prstGeom prst="rect">
            <a:avLst/>
          </a:prstGeom>
          <a:noFill/>
          <a:ln/>
        </p:spPr>
        <p:txBody>
          <a:bodyPr wrap="square" lIns="0" tIns="0" rIns="0" bIns="0" rtlCol="0" anchor="ctr">
            <a:normAutofit/>
          </a:bodyPr>
          <a:lstStyle/>
          <a:p>
            <a:pPr algn="ctr" indent="0" marL="0">
              <a:buNone/>
            </a:pPr>
            <a:r>
              <a:rPr lang="en-US" sz="1400" b="1" dirty="0">
                <a:solidFill>
                  <a:srgbClr val="091321"/>
                </a:solidFill>
                <a:latin typeface="Inter Display" pitchFamily="34" charset="0"/>
                <a:ea typeface="Inter Display" pitchFamily="34" charset="-122"/>
                <a:cs typeface="Inter Display" pitchFamily="34" charset="-120"/>
              </a:rPr>
              <a:t>02</a:t>
            </a:r>
            <a:endParaRPr lang="en-US" sz="1400" dirty="0"/>
          </a:p>
        </p:txBody>
      </p:sp>
      <p:sp>
        <p:nvSpPr>
          <p:cNvPr id="19" name="Text 17"/>
          <p:cNvSpPr/>
          <p:nvPr/>
        </p:nvSpPr>
        <p:spPr>
          <a:xfrm>
            <a:off x="7488936" y="2514600"/>
            <a:ext cx="4041648" cy="320040"/>
          </a:xfrm>
          <a:prstGeom prst="rect">
            <a:avLst/>
          </a:prstGeom>
          <a:noFill/>
          <a:ln/>
        </p:spPr>
        <p:txBody>
          <a:bodyPr wrap="square" lIns="0" tIns="0" rIns="0" bIns="0" rtlCol="0" anchor="ctr">
            <a:normAutofit/>
          </a:bodyPr>
          <a:lstStyle/>
          <a:p>
            <a:pPr indent="0" marL="0">
              <a:buNone/>
            </a:pPr>
            <a:r>
              <a:rPr lang="en-US" sz="1800" b="1" dirty="0">
                <a:solidFill>
                  <a:srgbClr val="F6F8FB"/>
                </a:solidFill>
                <a:latin typeface="Inter Display" pitchFamily="34" charset="0"/>
                <a:ea typeface="Inter Display" pitchFamily="34" charset="-122"/>
                <a:cs typeface="Inter Display" pitchFamily="34" charset="-120"/>
              </a:rPr>
              <a:t>LOCAL VISIBILITY</a:t>
            </a:r>
            <a:endParaRPr lang="en-US" sz="1800" dirty="0"/>
          </a:p>
        </p:txBody>
      </p:sp>
      <p:sp>
        <p:nvSpPr>
          <p:cNvPr id="20" name="Text 18"/>
          <p:cNvSpPr/>
          <p:nvPr/>
        </p:nvSpPr>
        <p:spPr>
          <a:xfrm>
            <a:off x="7507224" y="2953512"/>
            <a:ext cx="4050792" cy="466344"/>
          </a:xfrm>
          <a:prstGeom prst="rect">
            <a:avLst/>
          </a:prstGeom>
          <a:noFill/>
          <a:ln/>
        </p:spPr>
        <p:txBody>
          <a:bodyPr wrap="square" lIns="0" tIns="0" rIns="0" bIns="0" rtlCol="0" anchor="ctr">
            <a:normAutofit/>
          </a:bodyPr>
          <a:lstStyle/>
          <a:p>
            <a:pPr indent="0" marL="0">
              <a:buNone/>
            </a:pPr>
            <a:r>
              <a:rPr lang="en-US" sz="1230" dirty="0">
                <a:solidFill>
                  <a:srgbClr val="DAE5EB"/>
                </a:solidFill>
                <a:latin typeface="Inter" pitchFamily="34" charset="0"/>
                <a:ea typeface="Inter" pitchFamily="34" charset="-122"/>
                <a:cs typeface="Inter" pitchFamily="34" charset="-120"/>
              </a:rPr>
              <a:t>Help customers find accurate, useful information.</a:t>
            </a:r>
            <a:endParaRPr lang="en-US" sz="1230" dirty="0"/>
          </a:p>
        </p:txBody>
      </p:sp>
      <p:sp>
        <p:nvSpPr>
          <p:cNvPr id="21" name="Shape 19"/>
          <p:cNvSpPr/>
          <p:nvPr/>
        </p:nvSpPr>
        <p:spPr>
          <a:xfrm>
            <a:off x="676656" y="3977640"/>
            <a:ext cx="5422392" cy="1426464"/>
          </a:xfrm>
          <a:prstGeom prst="roundRect">
            <a:avLst>
              <a:gd name="adj" fmla="val 10256"/>
            </a:avLst>
          </a:prstGeom>
          <a:solidFill>
            <a:srgbClr val="11263B"/>
          </a:solidFill>
          <a:ln w="12700">
            <a:solidFill>
              <a:srgbClr val="274054"/>
            </a:solidFill>
            <a:prstDash val="solid"/>
          </a:ln>
        </p:spPr>
      </p:sp>
      <p:sp>
        <p:nvSpPr>
          <p:cNvPr id="22" name="Shape 20"/>
          <p:cNvSpPr/>
          <p:nvPr/>
        </p:nvSpPr>
        <p:spPr>
          <a:xfrm>
            <a:off x="905256" y="4206240"/>
            <a:ext cx="612648" cy="612648"/>
          </a:xfrm>
          <a:prstGeom prst="roundRect">
            <a:avLst>
              <a:gd name="adj" fmla="val 25373"/>
            </a:avLst>
          </a:prstGeom>
          <a:solidFill>
            <a:srgbClr val="D98B58"/>
          </a:solidFill>
          <a:ln w="12700">
            <a:solidFill>
              <a:srgbClr val="D98B58">
                <a:alpha val="0"/>
              </a:srgbClr>
            </a:solidFill>
            <a:prstDash val="solid"/>
          </a:ln>
        </p:spPr>
      </p:sp>
      <p:sp>
        <p:nvSpPr>
          <p:cNvPr id="23" name="Text 21"/>
          <p:cNvSpPr/>
          <p:nvPr/>
        </p:nvSpPr>
        <p:spPr>
          <a:xfrm>
            <a:off x="960120" y="4315968"/>
            <a:ext cx="502920" cy="237744"/>
          </a:xfrm>
          <a:prstGeom prst="rect">
            <a:avLst/>
          </a:prstGeom>
          <a:noFill/>
          <a:ln/>
        </p:spPr>
        <p:txBody>
          <a:bodyPr wrap="square" lIns="0" tIns="0" rIns="0" bIns="0" rtlCol="0" anchor="ctr">
            <a:normAutofit/>
          </a:bodyPr>
          <a:lstStyle/>
          <a:p>
            <a:pPr algn="ctr" indent="0" marL="0">
              <a:buNone/>
            </a:pPr>
            <a:r>
              <a:rPr lang="en-US" sz="1400" b="1" dirty="0">
                <a:solidFill>
                  <a:srgbClr val="091321"/>
                </a:solidFill>
                <a:latin typeface="Inter Display" pitchFamily="34" charset="0"/>
                <a:ea typeface="Inter Display" pitchFamily="34" charset="-122"/>
                <a:cs typeface="Inter Display" pitchFamily="34" charset="-120"/>
              </a:rPr>
              <a:t>03</a:t>
            </a:r>
            <a:endParaRPr lang="en-US" sz="1400" dirty="0"/>
          </a:p>
        </p:txBody>
      </p:sp>
      <p:sp>
        <p:nvSpPr>
          <p:cNvPr id="24" name="Text 22"/>
          <p:cNvSpPr/>
          <p:nvPr/>
        </p:nvSpPr>
        <p:spPr>
          <a:xfrm>
            <a:off x="1746504" y="4224528"/>
            <a:ext cx="4041648" cy="320040"/>
          </a:xfrm>
          <a:prstGeom prst="rect">
            <a:avLst/>
          </a:prstGeom>
          <a:noFill/>
          <a:ln/>
        </p:spPr>
        <p:txBody>
          <a:bodyPr wrap="square" lIns="0" tIns="0" rIns="0" bIns="0" rtlCol="0" anchor="ctr">
            <a:normAutofit/>
          </a:bodyPr>
          <a:lstStyle/>
          <a:p>
            <a:pPr indent="0" marL="0">
              <a:buNone/>
            </a:pPr>
            <a:r>
              <a:rPr lang="en-US" sz="1800" b="1" dirty="0">
                <a:solidFill>
                  <a:srgbClr val="F6F8FB"/>
                </a:solidFill>
                <a:latin typeface="Inter Display" pitchFamily="34" charset="0"/>
                <a:ea typeface="Inter Display" pitchFamily="34" charset="-122"/>
                <a:cs typeface="Inter Display" pitchFamily="34" charset="-120"/>
              </a:rPr>
              <a:t>BRANDING</a:t>
            </a:r>
            <a:endParaRPr lang="en-US" sz="1800" dirty="0"/>
          </a:p>
        </p:txBody>
      </p:sp>
      <p:sp>
        <p:nvSpPr>
          <p:cNvPr id="25" name="Text 23"/>
          <p:cNvSpPr/>
          <p:nvPr/>
        </p:nvSpPr>
        <p:spPr>
          <a:xfrm>
            <a:off x="1764792" y="4663440"/>
            <a:ext cx="4050792" cy="466344"/>
          </a:xfrm>
          <a:prstGeom prst="rect">
            <a:avLst/>
          </a:prstGeom>
          <a:noFill/>
          <a:ln/>
        </p:spPr>
        <p:txBody>
          <a:bodyPr wrap="square" lIns="0" tIns="0" rIns="0" bIns="0" rtlCol="0" anchor="ctr">
            <a:normAutofit/>
          </a:bodyPr>
          <a:lstStyle/>
          <a:p>
            <a:pPr indent="0" marL="0">
              <a:buNone/>
            </a:pPr>
            <a:r>
              <a:rPr lang="en-US" sz="1230" dirty="0">
                <a:solidFill>
                  <a:srgbClr val="DAE5EB"/>
                </a:solidFill>
                <a:latin typeface="Inter" pitchFamily="34" charset="0"/>
                <a:ea typeface="Inter" pitchFamily="34" charset="-122"/>
                <a:cs typeface="Inter" pitchFamily="34" charset="-120"/>
              </a:rPr>
              <a:t>Present a consistent, memorable first impression.</a:t>
            </a:r>
            <a:endParaRPr lang="en-US" sz="1230" dirty="0"/>
          </a:p>
        </p:txBody>
      </p:sp>
      <p:sp>
        <p:nvSpPr>
          <p:cNvPr id="26" name="Shape 24"/>
          <p:cNvSpPr/>
          <p:nvPr/>
        </p:nvSpPr>
        <p:spPr>
          <a:xfrm>
            <a:off x="6419088" y="3977640"/>
            <a:ext cx="5422392" cy="1426464"/>
          </a:xfrm>
          <a:prstGeom prst="roundRect">
            <a:avLst>
              <a:gd name="adj" fmla="val 10256"/>
            </a:avLst>
          </a:prstGeom>
          <a:solidFill>
            <a:srgbClr val="11263B"/>
          </a:solidFill>
          <a:ln w="12700">
            <a:solidFill>
              <a:srgbClr val="274054"/>
            </a:solidFill>
            <a:prstDash val="solid"/>
          </a:ln>
        </p:spPr>
      </p:sp>
      <p:sp>
        <p:nvSpPr>
          <p:cNvPr id="27" name="Shape 25"/>
          <p:cNvSpPr/>
          <p:nvPr/>
        </p:nvSpPr>
        <p:spPr>
          <a:xfrm>
            <a:off x="6647688" y="4206240"/>
            <a:ext cx="612648" cy="612648"/>
          </a:xfrm>
          <a:prstGeom prst="roundRect">
            <a:avLst>
              <a:gd name="adj" fmla="val 25373"/>
            </a:avLst>
          </a:prstGeom>
          <a:solidFill>
            <a:srgbClr val="D98B58"/>
          </a:solidFill>
          <a:ln w="12700">
            <a:solidFill>
              <a:srgbClr val="D98B58">
                <a:alpha val="0"/>
              </a:srgbClr>
            </a:solidFill>
            <a:prstDash val="solid"/>
          </a:ln>
        </p:spPr>
      </p:sp>
      <p:sp>
        <p:nvSpPr>
          <p:cNvPr id="28" name="Text 26"/>
          <p:cNvSpPr/>
          <p:nvPr/>
        </p:nvSpPr>
        <p:spPr>
          <a:xfrm>
            <a:off x="6702552" y="4315968"/>
            <a:ext cx="502920" cy="237744"/>
          </a:xfrm>
          <a:prstGeom prst="rect">
            <a:avLst/>
          </a:prstGeom>
          <a:noFill/>
          <a:ln/>
        </p:spPr>
        <p:txBody>
          <a:bodyPr wrap="square" lIns="0" tIns="0" rIns="0" bIns="0" rtlCol="0" anchor="ctr">
            <a:normAutofit/>
          </a:bodyPr>
          <a:lstStyle/>
          <a:p>
            <a:pPr algn="ctr" indent="0" marL="0">
              <a:buNone/>
            </a:pPr>
            <a:r>
              <a:rPr lang="en-US" sz="1400" b="1" dirty="0">
                <a:solidFill>
                  <a:srgbClr val="091321"/>
                </a:solidFill>
                <a:latin typeface="Inter Display" pitchFamily="34" charset="0"/>
                <a:ea typeface="Inter Display" pitchFamily="34" charset="-122"/>
                <a:cs typeface="Inter Display" pitchFamily="34" charset="-120"/>
              </a:rPr>
              <a:t>04</a:t>
            </a:r>
            <a:endParaRPr lang="en-US" sz="1400" dirty="0"/>
          </a:p>
        </p:txBody>
      </p:sp>
      <p:sp>
        <p:nvSpPr>
          <p:cNvPr id="29" name="Text 27"/>
          <p:cNvSpPr/>
          <p:nvPr/>
        </p:nvSpPr>
        <p:spPr>
          <a:xfrm>
            <a:off x="7488936" y="4224528"/>
            <a:ext cx="4041648" cy="320040"/>
          </a:xfrm>
          <a:prstGeom prst="rect">
            <a:avLst/>
          </a:prstGeom>
          <a:noFill/>
          <a:ln/>
        </p:spPr>
        <p:txBody>
          <a:bodyPr wrap="square" lIns="0" tIns="0" rIns="0" bIns="0" rtlCol="0" anchor="ctr">
            <a:normAutofit/>
          </a:bodyPr>
          <a:lstStyle/>
          <a:p>
            <a:pPr indent="0" marL="0">
              <a:buNone/>
            </a:pPr>
            <a:r>
              <a:rPr lang="en-US" sz="1800" b="1" dirty="0">
                <a:solidFill>
                  <a:srgbClr val="F6F8FB"/>
                </a:solidFill>
                <a:latin typeface="Inter Display" pitchFamily="34" charset="0"/>
                <a:ea typeface="Inter Display" pitchFamily="34" charset="-122"/>
                <a:cs typeface="Inter Display" pitchFamily="34" charset="-120"/>
              </a:rPr>
              <a:t>DIGITAL SOLUTIONS</a:t>
            </a:r>
            <a:endParaRPr lang="en-US" sz="1800" dirty="0"/>
          </a:p>
        </p:txBody>
      </p:sp>
      <p:sp>
        <p:nvSpPr>
          <p:cNvPr id="30" name="Text 28"/>
          <p:cNvSpPr/>
          <p:nvPr/>
        </p:nvSpPr>
        <p:spPr>
          <a:xfrm>
            <a:off x="7507224" y="4663440"/>
            <a:ext cx="4050792" cy="466344"/>
          </a:xfrm>
          <a:prstGeom prst="rect">
            <a:avLst/>
          </a:prstGeom>
          <a:noFill/>
          <a:ln/>
        </p:spPr>
        <p:txBody>
          <a:bodyPr wrap="square" lIns="0" tIns="0" rIns="0" bIns="0" rtlCol="0" anchor="ctr">
            <a:normAutofit/>
          </a:bodyPr>
          <a:lstStyle/>
          <a:p>
            <a:pPr indent="0" marL="0">
              <a:buNone/>
            </a:pPr>
            <a:r>
              <a:rPr lang="en-US" sz="1230" dirty="0">
                <a:solidFill>
                  <a:srgbClr val="DAE5EB"/>
                </a:solidFill>
                <a:latin typeface="Inter" pitchFamily="34" charset="0"/>
                <a:ea typeface="Inter" pitchFamily="34" charset="-122"/>
                <a:cs typeface="Inter" pitchFamily="34" charset="-120"/>
              </a:rPr>
              <a:t>Simplify inquiries and everyday digital workflows.</a:t>
            </a:r>
            <a:endParaRPr lang="en-US" sz="1230" dirty="0"/>
          </a:p>
        </p:txBody>
      </p:sp>
      <p:sp>
        <p:nvSpPr>
          <p:cNvPr id="31" name="Shape 29"/>
          <p:cNvSpPr/>
          <p:nvPr/>
        </p:nvSpPr>
        <p:spPr>
          <a:xfrm>
            <a:off x="676656" y="5934456"/>
            <a:ext cx="10954512" cy="292608"/>
          </a:xfrm>
          <a:prstGeom prst="roundRect">
            <a:avLst>
              <a:gd name="adj" fmla="val 25000"/>
            </a:avLst>
          </a:prstGeom>
          <a:solidFill>
            <a:srgbClr val="102637"/>
          </a:solidFill>
          <a:ln w="12700">
            <a:solidFill>
              <a:srgbClr val="102637">
                <a:alpha val="0"/>
              </a:srgbClr>
            </a:solidFill>
            <a:prstDash val="solid"/>
          </a:ln>
        </p:spPr>
      </p:sp>
      <p:sp>
        <p:nvSpPr>
          <p:cNvPr id="32" name="Text 30"/>
          <p:cNvSpPr/>
          <p:nvPr/>
        </p:nvSpPr>
        <p:spPr>
          <a:xfrm>
            <a:off x="859536" y="6007608"/>
            <a:ext cx="10561320" cy="137160"/>
          </a:xfrm>
          <a:prstGeom prst="rect">
            <a:avLst/>
          </a:prstGeom>
          <a:noFill/>
          <a:ln/>
        </p:spPr>
        <p:txBody>
          <a:bodyPr wrap="square" lIns="0" tIns="0" rIns="0" bIns="0" rtlCol="0" anchor="ctr">
            <a:normAutofit/>
          </a:bodyPr>
          <a:lstStyle/>
          <a:p>
            <a:pPr algn="ctr" indent="0" marL="0">
              <a:buNone/>
            </a:pPr>
            <a:r>
              <a:rPr lang="en-US" sz="1110" dirty="0">
                <a:solidFill>
                  <a:srgbClr val="F0B080"/>
                </a:solidFill>
                <a:latin typeface="Inter" pitchFamily="34" charset="0"/>
                <a:ea typeface="Inter" pitchFamily="34" charset="-122"/>
                <a:cs typeface="Inter" pitchFamily="34" charset="-120"/>
              </a:rPr>
              <a:t>Start with what moves the needle — add more only when it makes sense.</a:t>
            </a:r>
            <a:endParaRPr lang="en-US" sz="111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71423"/>
        </a:solidFill>
      </p:bgPr>
    </p:bg>
    <p:spTree>
      <p:nvGrpSpPr>
        <p:cNvPr id="1" name=""/>
        <p:cNvGrpSpPr/>
        <p:nvPr/>
      </p:nvGrpSpPr>
      <p:grpSpPr>
        <a:xfrm>
          <a:off x="0" y="0"/>
          <a:ext cx="0" cy="0"/>
          <a:chOff x="0" y="0"/>
          <a:chExt cx="0" cy="0"/>
        </a:xfrm>
      </p:grpSpPr>
      <p:sp>
        <p:nvSpPr>
          <p:cNvPr id="2" name="Shape 0"/>
          <p:cNvSpPr/>
          <p:nvPr/>
        </p:nvSpPr>
        <p:spPr>
          <a:xfrm>
            <a:off x="0" y="0"/>
            <a:ext cx="12192000" cy="43891"/>
          </a:xfrm>
          <a:prstGeom prst="rect">
            <a:avLst/>
          </a:prstGeom>
          <a:solidFill>
            <a:srgbClr val="D98B58"/>
          </a:solidFill>
          <a:ln w="12700">
            <a:solidFill>
              <a:srgbClr val="D98B58">
                <a:alpha val="0"/>
              </a:srgbClr>
            </a:solidFill>
            <a:prstDash val="solid"/>
          </a:ln>
        </p:spPr>
      </p:sp>
      <p:sp>
        <p:nvSpPr>
          <p:cNvPr id="3" name="Shape 1"/>
          <p:cNvSpPr/>
          <p:nvPr/>
        </p:nvSpPr>
        <p:spPr>
          <a:xfrm>
            <a:off x="11750040" y="0"/>
            <a:ext cx="438912" cy="43891"/>
          </a:xfrm>
          <a:prstGeom prst="rect">
            <a:avLst/>
          </a:prstGeom>
          <a:solidFill>
            <a:srgbClr val="F0B080"/>
          </a:solidFill>
          <a:ln w="12700">
            <a:solidFill>
              <a:srgbClr val="F0B080">
                <a:alpha val="0"/>
              </a:srgbClr>
            </a:solidFill>
            <a:prstDash val="solid"/>
          </a:ln>
        </p:spPr>
      </p:sp>
      <p:sp>
        <p:nvSpPr>
          <p:cNvPr id="4" name="Shape 2"/>
          <p:cNvSpPr/>
          <p:nvPr/>
        </p:nvSpPr>
        <p:spPr>
          <a:xfrm>
            <a:off x="11841480" y="822960"/>
            <a:ext cx="118872" cy="3749040"/>
          </a:xfrm>
          <a:prstGeom prst="rect">
            <a:avLst/>
          </a:prstGeom>
          <a:solidFill>
            <a:srgbClr val="D98B58">
              <a:alpha val="10000"/>
            </a:srgbClr>
          </a:solidFill>
          <a:ln w="12700">
            <a:solidFill>
              <a:srgbClr val="D98B58">
                <a:alpha val="0"/>
              </a:srgbClr>
            </a:solidFill>
            <a:prstDash val="solid"/>
          </a:ln>
        </p:spPr>
      </p:sp>
      <p:sp>
        <p:nvSpPr>
          <p:cNvPr id="5" name="Shape 3"/>
          <p:cNvSpPr/>
          <p:nvPr/>
        </p:nvSpPr>
        <p:spPr>
          <a:xfrm>
            <a:off x="603504" y="6460236"/>
            <a:ext cx="10981944" cy="0"/>
          </a:xfrm>
          <a:prstGeom prst="line">
            <a:avLst/>
          </a:prstGeom>
          <a:noFill/>
          <a:ln w="8255">
            <a:solidFill>
              <a:srgbClr val="274054"/>
            </a:solidFill>
            <a:prstDash val="solid"/>
            <a:headEnd type="none"/>
            <a:tailEnd type="none"/>
          </a:ln>
        </p:spPr>
      </p:sp>
      <p:sp>
        <p:nvSpPr>
          <p:cNvPr id="6" name="Text 4"/>
          <p:cNvSpPr/>
          <p:nvPr/>
        </p:nvSpPr>
        <p:spPr>
          <a:xfrm>
            <a:off x="612648" y="6537960"/>
            <a:ext cx="7315200" cy="173736"/>
          </a:xfrm>
          <a:prstGeom prst="rect">
            <a:avLst/>
          </a:prstGeom>
          <a:noFill/>
          <a:ln/>
        </p:spPr>
        <p:txBody>
          <a:bodyPr wrap="square" lIns="0" tIns="0" rIns="0" bIns="0" rtlCol="0" anchor="ctr">
            <a:normAutofit/>
          </a:bodyPr>
          <a:lstStyle/>
          <a:p>
            <a:pPr indent="0" marL="0">
              <a:buNone/>
            </a:pPr>
            <a:r>
              <a:rPr lang="en-US" sz="810" b="1" spc="75" kern="0" dirty="0">
                <a:solidFill>
                  <a:srgbClr val="9DAFC1"/>
                </a:solidFill>
                <a:latin typeface="Inter Display" pitchFamily="34" charset="0"/>
                <a:ea typeface="Inter Display" pitchFamily="34" charset="-122"/>
                <a:cs typeface="Inter Display" pitchFamily="34" charset="-120"/>
              </a:rPr>
              <a:t>REKODE DIGITAL  /  WINNEMUCCA · NORTHERN NEVADA</a:t>
            </a:r>
            <a:endParaRPr lang="en-US" sz="810" dirty="0"/>
          </a:p>
        </p:txBody>
      </p:sp>
      <p:sp>
        <p:nvSpPr>
          <p:cNvPr id="7" name="Text 5"/>
          <p:cNvSpPr/>
          <p:nvPr/>
        </p:nvSpPr>
        <p:spPr>
          <a:xfrm>
            <a:off x="11091672" y="6510528"/>
            <a:ext cx="475488" cy="210312"/>
          </a:xfrm>
          <a:prstGeom prst="rect">
            <a:avLst/>
          </a:prstGeom>
          <a:noFill/>
          <a:ln/>
        </p:spPr>
        <p:txBody>
          <a:bodyPr wrap="square" lIns="0" tIns="0" rIns="0" bIns="0" rtlCol="0" anchor="ctr">
            <a:normAutofit/>
          </a:bodyPr>
          <a:lstStyle/>
          <a:p>
            <a:pPr algn="r" indent="0" marL="0">
              <a:buNone/>
            </a:pPr>
            <a:r>
              <a:rPr lang="en-US" sz="900" b="1" dirty="0">
                <a:solidFill>
                  <a:srgbClr val="D98B58"/>
                </a:solidFill>
                <a:latin typeface="Inter Display" pitchFamily="34" charset="0"/>
                <a:ea typeface="Inter Display" pitchFamily="34" charset="-122"/>
                <a:cs typeface="Inter Display" pitchFamily="34" charset="-120"/>
              </a:rPr>
              <a:t>06</a:t>
            </a:r>
            <a:endParaRPr lang="en-US" sz="900" dirty="0"/>
          </a:p>
        </p:txBody>
      </p:sp>
      <p:sp>
        <p:nvSpPr>
          <p:cNvPr id="8" name="Text 6"/>
          <p:cNvSpPr/>
          <p:nvPr/>
        </p:nvSpPr>
        <p:spPr>
          <a:xfrm>
            <a:off x="621792" y="466344"/>
            <a:ext cx="9966960" cy="237744"/>
          </a:xfrm>
          <a:prstGeom prst="rect">
            <a:avLst/>
          </a:prstGeom>
          <a:noFill/>
          <a:ln/>
        </p:spPr>
        <p:txBody>
          <a:bodyPr wrap="square" lIns="0" tIns="0" rIns="0" bIns="0" rtlCol="0" anchor="ctr">
            <a:normAutofit/>
          </a:bodyPr>
          <a:lstStyle/>
          <a:p>
            <a:pPr indent="0" marL="0">
              <a:buNone/>
            </a:pPr>
            <a:r>
              <a:rPr lang="en-US" sz="960" b="1" spc="260" kern="0" dirty="0">
                <a:solidFill>
                  <a:srgbClr val="D98B58"/>
                </a:solidFill>
                <a:latin typeface="Inter Display" pitchFamily="34" charset="0"/>
                <a:ea typeface="Inter Display" pitchFamily="34" charset="-122"/>
                <a:cs typeface="Inter Display" pitchFamily="34" charset="-120"/>
              </a:rPr>
              <a:t>SEE THE DIFFERENCE</a:t>
            </a:r>
            <a:endParaRPr lang="en-US" sz="960" dirty="0"/>
          </a:p>
        </p:txBody>
      </p:sp>
      <p:sp>
        <p:nvSpPr>
          <p:cNvPr id="9" name="Text 7"/>
          <p:cNvSpPr/>
          <p:nvPr/>
        </p:nvSpPr>
        <p:spPr>
          <a:xfrm>
            <a:off x="621792" y="896112"/>
            <a:ext cx="10789920" cy="731520"/>
          </a:xfrm>
          <a:prstGeom prst="rect">
            <a:avLst/>
          </a:prstGeom>
          <a:noFill/>
          <a:ln/>
        </p:spPr>
        <p:txBody>
          <a:bodyPr wrap="square" lIns="0" tIns="0" rIns="0" bIns="0" rtlCol="0" anchor="ctr">
            <a:normAutofit/>
          </a:bodyPr>
          <a:lstStyle/>
          <a:p>
            <a:pPr indent="0" marL="0">
              <a:buNone/>
            </a:pPr>
            <a:r>
              <a:rPr lang="en-US" sz="3200" b="1" dirty="0">
                <a:solidFill>
                  <a:srgbClr val="F6F8FB"/>
                </a:solidFill>
                <a:latin typeface="Inter Display" pitchFamily="34" charset="0"/>
                <a:ea typeface="Inter Display" pitchFamily="34" charset="-122"/>
                <a:cs typeface="Inter Display" pitchFamily="34" charset="-120"/>
              </a:rPr>
              <a:t>A website should be more than a brochure</a:t>
            </a:r>
            <a:endParaRPr lang="en-US" sz="3200" dirty="0"/>
          </a:p>
        </p:txBody>
      </p:sp>
      <p:sp>
        <p:nvSpPr>
          <p:cNvPr id="10" name="Text 8"/>
          <p:cNvSpPr/>
          <p:nvPr/>
        </p:nvSpPr>
        <p:spPr>
          <a:xfrm>
            <a:off x="640080" y="1700784"/>
            <a:ext cx="10698480" cy="475488"/>
          </a:xfrm>
          <a:prstGeom prst="rect">
            <a:avLst/>
          </a:prstGeom>
          <a:noFill/>
          <a:ln/>
        </p:spPr>
        <p:txBody>
          <a:bodyPr wrap="square" lIns="0" tIns="0" rIns="0" bIns="0" rtlCol="0" anchor="ctr">
            <a:normAutofit/>
          </a:bodyPr>
          <a:lstStyle/>
          <a:p>
            <a:pPr indent="0" marL="0">
              <a:buNone/>
            </a:pPr>
            <a:r>
              <a:rPr lang="en-US" sz="1420" dirty="0">
                <a:solidFill>
                  <a:srgbClr val="DAE5EB"/>
                </a:solidFill>
                <a:latin typeface="Inter" pitchFamily="34" charset="0"/>
                <a:ea typeface="Inter" pitchFamily="34" charset="-122"/>
                <a:cs typeface="Inter" pitchFamily="34" charset="-120"/>
              </a:rPr>
              <a:t>Give visitors confidence and an obvious way to take the next step.</a:t>
            </a:r>
            <a:endParaRPr lang="en-US" sz="1420" dirty="0"/>
          </a:p>
        </p:txBody>
      </p:sp>
      <p:sp>
        <p:nvSpPr>
          <p:cNvPr id="11" name="Shape 9"/>
          <p:cNvSpPr/>
          <p:nvPr/>
        </p:nvSpPr>
        <p:spPr>
          <a:xfrm>
            <a:off x="713232" y="2340864"/>
            <a:ext cx="493776" cy="493776"/>
          </a:xfrm>
          <a:prstGeom prst="roundRect">
            <a:avLst>
              <a:gd name="adj" fmla="val 50000"/>
            </a:avLst>
          </a:prstGeom>
          <a:solidFill>
            <a:srgbClr val="D98B58"/>
          </a:solidFill>
          <a:ln w="12700">
            <a:solidFill>
              <a:srgbClr val="D98B58">
                <a:alpha val="0"/>
              </a:srgbClr>
            </a:solidFill>
            <a:prstDash val="solid"/>
          </a:ln>
        </p:spPr>
      </p:sp>
      <p:sp>
        <p:nvSpPr>
          <p:cNvPr id="12" name="Text 10"/>
          <p:cNvSpPr/>
          <p:nvPr/>
        </p:nvSpPr>
        <p:spPr>
          <a:xfrm>
            <a:off x="731520" y="2350008"/>
            <a:ext cx="457200" cy="475488"/>
          </a:xfrm>
          <a:prstGeom prst="rect">
            <a:avLst/>
          </a:prstGeom>
          <a:noFill/>
          <a:ln/>
        </p:spPr>
        <p:txBody>
          <a:bodyPr wrap="square" lIns="0" tIns="0" rIns="0" bIns="0" rtlCol="0" anchor="ctr">
            <a:normAutofit/>
          </a:bodyPr>
          <a:lstStyle/>
          <a:p>
            <a:pPr algn="ctr" indent="0" marL="0">
              <a:buNone/>
            </a:pPr>
            <a:r>
              <a:rPr lang="en-US" sz="1500" b="1" dirty="0">
                <a:solidFill>
                  <a:srgbClr val="071423"/>
                </a:solidFill>
                <a:latin typeface="Inter Display" pitchFamily="34" charset="0"/>
                <a:ea typeface="Inter Display" pitchFamily="34" charset="-122"/>
                <a:cs typeface="Inter Display" pitchFamily="34" charset="-120"/>
              </a:rPr>
              <a:t>✓</a:t>
            </a:r>
            <a:endParaRPr lang="en-US" sz="1500" dirty="0"/>
          </a:p>
        </p:txBody>
      </p:sp>
      <p:sp>
        <p:nvSpPr>
          <p:cNvPr id="13" name="Text 11"/>
          <p:cNvSpPr/>
          <p:nvPr/>
        </p:nvSpPr>
        <p:spPr>
          <a:xfrm>
            <a:off x="1444752" y="2304288"/>
            <a:ext cx="3236976" cy="347472"/>
          </a:xfrm>
          <a:prstGeom prst="rect">
            <a:avLst/>
          </a:prstGeom>
          <a:noFill/>
          <a:ln/>
        </p:spPr>
        <p:txBody>
          <a:bodyPr wrap="square" lIns="0" tIns="0" rIns="0" bIns="0" rtlCol="0" anchor="ctr">
            <a:normAutofit/>
          </a:bodyPr>
          <a:lstStyle/>
          <a:p>
            <a:pPr indent="0" marL="0">
              <a:buNone/>
            </a:pPr>
            <a:r>
              <a:rPr lang="en-US" sz="1750" b="1" dirty="0">
                <a:solidFill>
                  <a:srgbClr val="F6F8FB"/>
                </a:solidFill>
                <a:latin typeface="Inter Display" pitchFamily="34" charset="0"/>
                <a:ea typeface="Inter Display" pitchFamily="34" charset="-122"/>
                <a:cs typeface="Inter Display" pitchFamily="34" charset="-120"/>
              </a:rPr>
              <a:t>Clear offer</a:t>
            </a:r>
            <a:endParaRPr lang="en-US" sz="1750" dirty="0"/>
          </a:p>
        </p:txBody>
      </p:sp>
      <p:sp>
        <p:nvSpPr>
          <p:cNvPr id="14" name="Text 12"/>
          <p:cNvSpPr/>
          <p:nvPr/>
        </p:nvSpPr>
        <p:spPr>
          <a:xfrm>
            <a:off x="1453896" y="2697480"/>
            <a:ext cx="3456432" cy="411480"/>
          </a:xfrm>
          <a:prstGeom prst="rect">
            <a:avLst/>
          </a:prstGeom>
          <a:noFill/>
          <a:ln/>
        </p:spPr>
        <p:txBody>
          <a:bodyPr wrap="square" lIns="0" tIns="0" rIns="0" bIns="0" rtlCol="0" anchor="ctr">
            <a:normAutofit/>
          </a:bodyPr>
          <a:lstStyle/>
          <a:p>
            <a:pPr indent="0" marL="0">
              <a:buNone/>
            </a:pPr>
            <a:r>
              <a:rPr lang="en-US" sz="1220" dirty="0">
                <a:solidFill>
                  <a:srgbClr val="DAE5EB"/>
                </a:solidFill>
                <a:latin typeface="Inter" pitchFamily="34" charset="0"/>
                <a:ea typeface="Inter" pitchFamily="34" charset="-122"/>
                <a:cs typeface="Inter" pitchFamily="34" charset="-120"/>
              </a:rPr>
              <a:t>Say what you do and who you help.</a:t>
            </a:r>
            <a:endParaRPr lang="en-US" sz="1220" dirty="0"/>
          </a:p>
        </p:txBody>
      </p:sp>
      <p:sp>
        <p:nvSpPr>
          <p:cNvPr id="15" name="Shape 13"/>
          <p:cNvSpPr/>
          <p:nvPr/>
        </p:nvSpPr>
        <p:spPr>
          <a:xfrm>
            <a:off x="713232" y="3465576"/>
            <a:ext cx="493776" cy="493776"/>
          </a:xfrm>
          <a:prstGeom prst="roundRect">
            <a:avLst>
              <a:gd name="adj" fmla="val 50000"/>
            </a:avLst>
          </a:prstGeom>
          <a:solidFill>
            <a:srgbClr val="D98B58"/>
          </a:solidFill>
          <a:ln w="12700">
            <a:solidFill>
              <a:srgbClr val="D98B58">
                <a:alpha val="0"/>
              </a:srgbClr>
            </a:solidFill>
            <a:prstDash val="solid"/>
          </a:ln>
        </p:spPr>
      </p:sp>
      <p:sp>
        <p:nvSpPr>
          <p:cNvPr id="16" name="Text 14"/>
          <p:cNvSpPr/>
          <p:nvPr/>
        </p:nvSpPr>
        <p:spPr>
          <a:xfrm>
            <a:off x="731520" y="3474720"/>
            <a:ext cx="457200" cy="475488"/>
          </a:xfrm>
          <a:prstGeom prst="rect">
            <a:avLst/>
          </a:prstGeom>
          <a:noFill/>
          <a:ln/>
        </p:spPr>
        <p:txBody>
          <a:bodyPr wrap="square" lIns="0" tIns="0" rIns="0" bIns="0" rtlCol="0" anchor="ctr">
            <a:normAutofit/>
          </a:bodyPr>
          <a:lstStyle/>
          <a:p>
            <a:pPr algn="ctr" indent="0" marL="0">
              <a:buNone/>
            </a:pPr>
            <a:r>
              <a:rPr lang="en-US" sz="1500" b="1" dirty="0">
                <a:solidFill>
                  <a:srgbClr val="071423"/>
                </a:solidFill>
                <a:latin typeface="Inter Display" pitchFamily="34" charset="0"/>
                <a:ea typeface="Inter Display" pitchFamily="34" charset="-122"/>
                <a:cs typeface="Inter Display" pitchFamily="34" charset="-120"/>
              </a:rPr>
              <a:t>✓</a:t>
            </a:r>
            <a:endParaRPr lang="en-US" sz="1500" dirty="0"/>
          </a:p>
        </p:txBody>
      </p:sp>
      <p:sp>
        <p:nvSpPr>
          <p:cNvPr id="17" name="Text 15"/>
          <p:cNvSpPr/>
          <p:nvPr/>
        </p:nvSpPr>
        <p:spPr>
          <a:xfrm>
            <a:off x="1444752" y="3429000"/>
            <a:ext cx="3236976" cy="347472"/>
          </a:xfrm>
          <a:prstGeom prst="rect">
            <a:avLst/>
          </a:prstGeom>
          <a:noFill/>
          <a:ln/>
        </p:spPr>
        <p:txBody>
          <a:bodyPr wrap="square" lIns="0" tIns="0" rIns="0" bIns="0" rtlCol="0" anchor="ctr">
            <a:normAutofit/>
          </a:bodyPr>
          <a:lstStyle/>
          <a:p>
            <a:pPr indent="0" marL="0">
              <a:buNone/>
            </a:pPr>
            <a:r>
              <a:rPr lang="en-US" sz="1750" b="1" dirty="0">
                <a:solidFill>
                  <a:srgbClr val="F6F8FB"/>
                </a:solidFill>
                <a:latin typeface="Inter Display" pitchFamily="34" charset="0"/>
                <a:ea typeface="Inter Display" pitchFamily="34" charset="-122"/>
                <a:cs typeface="Inter Display" pitchFamily="34" charset="-120"/>
              </a:rPr>
              <a:t>Strong proof</a:t>
            </a:r>
            <a:endParaRPr lang="en-US" sz="1750" dirty="0"/>
          </a:p>
        </p:txBody>
      </p:sp>
      <p:sp>
        <p:nvSpPr>
          <p:cNvPr id="18" name="Text 16"/>
          <p:cNvSpPr/>
          <p:nvPr/>
        </p:nvSpPr>
        <p:spPr>
          <a:xfrm>
            <a:off x="1453896" y="3822192"/>
            <a:ext cx="3456432" cy="411480"/>
          </a:xfrm>
          <a:prstGeom prst="rect">
            <a:avLst/>
          </a:prstGeom>
          <a:noFill/>
          <a:ln/>
        </p:spPr>
        <p:txBody>
          <a:bodyPr wrap="square" lIns="0" tIns="0" rIns="0" bIns="0" rtlCol="0" anchor="ctr">
            <a:normAutofit/>
          </a:bodyPr>
          <a:lstStyle/>
          <a:p>
            <a:pPr indent="0" marL="0">
              <a:buNone/>
            </a:pPr>
            <a:r>
              <a:rPr lang="en-US" sz="1220" dirty="0">
                <a:solidFill>
                  <a:srgbClr val="DAE5EB"/>
                </a:solidFill>
                <a:latin typeface="Inter" pitchFamily="34" charset="0"/>
                <a:ea typeface="Inter" pitchFamily="34" charset="-122"/>
                <a:cs typeface="Inter" pitchFamily="34" charset="-120"/>
              </a:rPr>
              <a:t>Showcase work, services, and personality.</a:t>
            </a:r>
            <a:endParaRPr lang="en-US" sz="1220" dirty="0"/>
          </a:p>
        </p:txBody>
      </p:sp>
      <p:sp>
        <p:nvSpPr>
          <p:cNvPr id="19" name="Shape 17"/>
          <p:cNvSpPr/>
          <p:nvPr/>
        </p:nvSpPr>
        <p:spPr>
          <a:xfrm>
            <a:off x="713232" y="4590288"/>
            <a:ext cx="493776" cy="493776"/>
          </a:xfrm>
          <a:prstGeom prst="roundRect">
            <a:avLst>
              <a:gd name="adj" fmla="val 50000"/>
            </a:avLst>
          </a:prstGeom>
          <a:solidFill>
            <a:srgbClr val="D98B58"/>
          </a:solidFill>
          <a:ln w="12700">
            <a:solidFill>
              <a:srgbClr val="D98B58">
                <a:alpha val="0"/>
              </a:srgbClr>
            </a:solidFill>
            <a:prstDash val="solid"/>
          </a:ln>
        </p:spPr>
      </p:sp>
      <p:sp>
        <p:nvSpPr>
          <p:cNvPr id="20" name="Text 18"/>
          <p:cNvSpPr/>
          <p:nvPr/>
        </p:nvSpPr>
        <p:spPr>
          <a:xfrm>
            <a:off x="731520" y="4599432"/>
            <a:ext cx="457200" cy="475488"/>
          </a:xfrm>
          <a:prstGeom prst="rect">
            <a:avLst/>
          </a:prstGeom>
          <a:noFill/>
          <a:ln/>
        </p:spPr>
        <p:txBody>
          <a:bodyPr wrap="square" lIns="0" tIns="0" rIns="0" bIns="0" rtlCol="0" anchor="ctr">
            <a:normAutofit/>
          </a:bodyPr>
          <a:lstStyle/>
          <a:p>
            <a:pPr algn="ctr" indent="0" marL="0">
              <a:buNone/>
            </a:pPr>
            <a:r>
              <a:rPr lang="en-US" sz="1500" b="1" dirty="0">
                <a:solidFill>
                  <a:srgbClr val="071423"/>
                </a:solidFill>
                <a:latin typeface="Inter Display" pitchFamily="34" charset="0"/>
                <a:ea typeface="Inter Display" pitchFamily="34" charset="-122"/>
                <a:cs typeface="Inter Display" pitchFamily="34" charset="-120"/>
              </a:rPr>
              <a:t>✓</a:t>
            </a:r>
            <a:endParaRPr lang="en-US" sz="1500" dirty="0"/>
          </a:p>
        </p:txBody>
      </p:sp>
      <p:sp>
        <p:nvSpPr>
          <p:cNvPr id="21" name="Text 19"/>
          <p:cNvSpPr/>
          <p:nvPr/>
        </p:nvSpPr>
        <p:spPr>
          <a:xfrm>
            <a:off x="1444752" y="4553712"/>
            <a:ext cx="3236976" cy="347472"/>
          </a:xfrm>
          <a:prstGeom prst="rect">
            <a:avLst/>
          </a:prstGeom>
          <a:noFill/>
          <a:ln/>
        </p:spPr>
        <p:txBody>
          <a:bodyPr wrap="square" lIns="0" tIns="0" rIns="0" bIns="0" rtlCol="0" anchor="ctr">
            <a:normAutofit/>
          </a:bodyPr>
          <a:lstStyle/>
          <a:p>
            <a:pPr indent="0" marL="0">
              <a:buNone/>
            </a:pPr>
            <a:r>
              <a:rPr lang="en-US" sz="1750" b="1" dirty="0">
                <a:solidFill>
                  <a:srgbClr val="F6F8FB"/>
                </a:solidFill>
                <a:latin typeface="Inter Display" pitchFamily="34" charset="0"/>
                <a:ea typeface="Inter Display" pitchFamily="34" charset="-122"/>
                <a:cs typeface="Inter Display" pitchFamily="34" charset="-120"/>
              </a:rPr>
              <a:t>Easy conversion</a:t>
            </a:r>
            <a:endParaRPr lang="en-US" sz="1750" dirty="0"/>
          </a:p>
        </p:txBody>
      </p:sp>
      <p:sp>
        <p:nvSpPr>
          <p:cNvPr id="22" name="Text 20"/>
          <p:cNvSpPr/>
          <p:nvPr/>
        </p:nvSpPr>
        <p:spPr>
          <a:xfrm>
            <a:off x="1453896" y="4946904"/>
            <a:ext cx="3456432" cy="411480"/>
          </a:xfrm>
          <a:prstGeom prst="rect">
            <a:avLst/>
          </a:prstGeom>
          <a:noFill/>
          <a:ln/>
        </p:spPr>
        <p:txBody>
          <a:bodyPr wrap="square" lIns="0" tIns="0" rIns="0" bIns="0" rtlCol="0" anchor="ctr">
            <a:normAutofit/>
          </a:bodyPr>
          <a:lstStyle/>
          <a:p>
            <a:pPr indent="0" marL="0">
              <a:buNone/>
            </a:pPr>
            <a:r>
              <a:rPr lang="en-US" sz="1220" dirty="0">
                <a:solidFill>
                  <a:srgbClr val="DAE5EB"/>
                </a:solidFill>
                <a:latin typeface="Inter" pitchFamily="34" charset="0"/>
                <a:ea typeface="Inter" pitchFamily="34" charset="-122"/>
                <a:cs typeface="Inter" pitchFamily="34" charset="-120"/>
              </a:rPr>
              <a:t>Help customers call or request a quote.</a:t>
            </a:r>
            <a:endParaRPr lang="en-US" sz="1220" dirty="0"/>
          </a:p>
        </p:txBody>
      </p:sp>
      <p:sp>
        <p:nvSpPr>
          <p:cNvPr id="23" name="Shape 21"/>
          <p:cNvSpPr/>
          <p:nvPr/>
        </p:nvSpPr>
        <p:spPr>
          <a:xfrm>
            <a:off x="4928616" y="2130552"/>
            <a:ext cx="6565392" cy="3758184"/>
          </a:xfrm>
          <a:prstGeom prst="roundRect">
            <a:avLst>
              <a:gd name="adj" fmla="val 3893"/>
            </a:avLst>
          </a:prstGeom>
          <a:solidFill>
            <a:srgbClr val="F6F8FA"/>
          </a:solidFill>
          <a:ln w="12700">
            <a:solidFill>
              <a:srgbClr val="F6F8FA">
                <a:alpha val="0"/>
              </a:srgbClr>
            </a:solidFill>
            <a:prstDash val="solid"/>
          </a:ln>
        </p:spPr>
      </p:sp>
      <p:sp>
        <p:nvSpPr>
          <p:cNvPr id="24" name="Shape 22"/>
          <p:cNvSpPr/>
          <p:nvPr/>
        </p:nvSpPr>
        <p:spPr>
          <a:xfrm>
            <a:off x="4928616" y="2130552"/>
            <a:ext cx="6565392" cy="274320"/>
          </a:xfrm>
          <a:prstGeom prst="rect">
            <a:avLst/>
          </a:prstGeom>
          <a:solidFill>
            <a:srgbClr val="24394A"/>
          </a:solidFill>
          <a:ln w="12700">
            <a:solidFill>
              <a:srgbClr val="24394A">
                <a:alpha val="0"/>
              </a:srgbClr>
            </a:solidFill>
            <a:prstDash val="solid"/>
          </a:ln>
        </p:spPr>
      </p:sp>
      <p:sp>
        <p:nvSpPr>
          <p:cNvPr id="25" name="Shape 23"/>
          <p:cNvSpPr/>
          <p:nvPr/>
        </p:nvSpPr>
        <p:spPr>
          <a:xfrm>
            <a:off x="5093208" y="2231136"/>
            <a:ext cx="64008" cy="64008"/>
          </a:xfrm>
          <a:prstGeom prst="roundRect">
            <a:avLst>
              <a:gd name="adj" fmla="val 42857"/>
            </a:avLst>
          </a:prstGeom>
          <a:solidFill>
            <a:srgbClr val="D98B58"/>
          </a:solidFill>
          <a:ln w="12700">
            <a:solidFill>
              <a:srgbClr val="D98B58">
                <a:alpha val="0"/>
              </a:srgbClr>
            </a:solidFill>
            <a:prstDash val="solid"/>
          </a:ln>
        </p:spPr>
      </p:sp>
      <p:sp>
        <p:nvSpPr>
          <p:cNvPr id="26" name="Shape 24"/>
          <p:cNvSpPr/>
          <p:nvPr/>
        </p:nvSpPr>
        <p:spPr>
          <a:xfrm>
            <a:off x="5276088" y="2231136"/>
            <a:ext cx="64008" cy="64008"/>
          </a:xfrm>
          <a:prstGeom prst="roundRect">
            <a:avLst>
              <a:gd name="adj" fmla="val 42857"/>
            </a:avLst>
          </a:prstGeom>
          <a:solidFill>
            <a:srgbClr val="698193"/>
          </a:solidFill>
          <a:ln w="12700">
            <a:solidFill>
              <a:srgbClr val="698193">
                <a:alpha val="0"/>
              </a:srgbClr>
            </a:solidFill>
            <a:prstDash val="solid"/>
          </a:ln>
        </p:spPr>
      </p:sp>
      <p:sp>
        <p:nvSpPr>
          <p:cNvPr id="27" name="Shape 25"/>
          <p:cNvSpPr/>
          <p:nvPr/>
        </p:nvSpPr>
        <p:spPr>
          <a:xfrm>
            <a:off x="5458968" y="2231136"/>
            <a:ext cx="64008" cy="64008"/>
          </a:xfrm>
          <a:prstGeom prst="roundRect">
            <a:avLst>
              <a:gd name="adj" fmla="val 42857"/>
            </a:avLst>
          </a:prstGeom>
          <a:solidFill>
            <a:srgbClr val="698193"/>
          </a:solidFill>
          <a:ln w="12700">
            <a:solidFill>
              <a:srgbClr val="698193">
                <a:alpha val="0"/>
              </a:srgbClr>
            </a:solidFill>
            <a:prstDash val="solid"/>
          </a:ln>
        </p:spPr>
      </p:sp>
      <p:pic>
        <p:nvPicPr>
          <p:cNvPr id="28" name="Image 0" descr="/mnt/data/rekode_assets/construction_scene.png">    </p:cNvPr>
          <p:cNvPicPr>
            <a:picLocks noChangeAspect="1"/>
          </p:cNvPicPr>
          <p:nvPr/>
        </p:nvPicPr>
        <p:blipFill>
          <a:blip r:embed="rId1"/>
          <a:stretch>
            <a:fillRect/>
          </a:stretch>
        </p:blipFill>
        <p:spPr>
          <a:xfrm>
            <a:off x="5029200" y="2514600"/>
            <a:ext cx="6364224" cy="2322576"/>
          </a:xfrm>
          <a:prstGeom prst="rect">
            <a:avLst/>
          </a:prstGeom>
        </p:spPr>
      </p:pic>
      <p:sp>
        <p:nvSpPr>
          <p:cNvPr id="29" name="Shape 26"/>
          <p:cNvSpPr/>
          <p:nvPr/>
        </p:nvSpPr>
        <p:spPr>
          <a:xfrm>
            <a:off x="5285232" y="2980944"/>
            <a:ext cx="3364992" cy="1380744"/>
          </a:xfrm>
          <a:prstGeom prst="roundRect">
            <a:avLst>
              <a:gd name="adj" fmla="val 8609"/>
            </a:avLst>
          </a:prstGeom>
          <a:solidFill>
            <a:srgbClr val="071423">
              <a:alpha val="94000"/>
            </a:srgbClr>
          </a:solidFill>
          <a:ln w="12700">
            <a:solidFill>
              <a:srgbClr val="071423">
                <a:alpha val="0"/>
              </a:srgbClr>
            </a:solidFill>
            <a:prstDash val="solid"/>
          </a:ln>
        </p:spPr>
      </p:sp>
      <p:sp>
        <p:nvSpPr>
          <p:cNvPr id="30" name="Text 27"/>
          <p:cNvSpPr/>
          <p:nvPr/>
        </p:nvSpPr>
        <p:spPr>
          <a:xfrm>
            <a:off x="5504688" y="3136392"/>
            <a:ext cx="2834640" cy="210312"/>
          </a:xfrm>
          <a:prstGeom prst="rect">
            <a:avLst/>
          </a:prstGeom>
          <a:noFill/>
          <a:ln/>
        </p:spPr>
        <p:txBody>
          <a:bodyPr wrap="square" lIns="0" tIns="0" rIns="0" bIns="0" rtlCol="0" anchor="ctr">
            <a:normAutofit/>
          </a:bodyPr>
          <a:lstStyle/>
          <a:p>
            <a:pPr indent="0" marL="0">
              <a:buNone/>
            </a:pPr>
            <a:r>
              <a:rPr lang="en-US" sz="1200" b="1" spc="170" kern="0" dirty="0">
                <a:solidFill>
                  <a:srgbClr val="F0B080"/>
                </a:solidFill>
                <a:latin typeface="Inter Display" pitchFamily="34" charset="0"/>
                <a:ea typeface="Inter Display" pitchFamily="34" charset="-122"/>
                <a:cs typeface="Inter Display" pitchFamily="34" charset="-120"/>
              </a:rPr>
              <a:t>SUMMIT RIDGE</a:t>
            </a:r>
            <a:endParaRPr lang="en-US" sz="1200" dirty="0"/>
          </a:p>
        </p:txBody>
      </p:sp>
      <p:sp>
        <p:nvSpPr>
          <p:cNvPr id="31" name="Text 28"/>
          <p:cNvSpPr/>
          <p:nvPr/>
        </p:nvSpPr>
        <p:spPr>
          <a:xfrm>
            <a:off x="5504688" y="3456432"/>
            <a:ext cx="2834640" cy="384048"/>
          </a:xfrm>
          <a:prstGeom prst="rect">
            <a:avLst/>
          </a:prstGeom>
          <a:noFill/>
          <a:ln/>
        </p:spPr>
        <p:txBody>
          <a:bodyPr wrap="square" lIns="0" tIns="0" rIns="0" bIns="0" rtlCol="0" anchor="ctr">
            <a:normAutofit/>
          </a:bodyPr>
          <a:lstStyle/>
          <a:p>
            <a:pPr indent="0" marL="0">
              <a:buNone/>
            </a:pPr>
            <a:r>
              <a:rPr lang="en-US" sz="2200" b="1" dirty="0">
                <a:solidFill>
                  <a:srgbClr val="F6F8FB"/>
                </a:solidFill>
                <a:latin typeface="Inter Display" pitchFamily="34" charset="0"/>
                <a:ea typeface="Inter Display" pitchFamily="34" charset="-122"/>
                <a:cs typeface="Inter Display" pitchFamily="34" charset="-120"/>
              </a:rPr>
              <a:t>BUILT TO LAST.</a:t>
            </a:r>
            <a:endParaRPr lang="en-US" sz="2200" dirty="0"/>
          </a:p>
        </p:txBody>
      </p:sp>
      <p:sp>
        <p:nvSpPr>
          <p:cNvPr id="32" name="Shape 29"/>
          <p:cNvSpPr/>
          <p:nvPr/>
        </p:nvSpPr>
        <p:spPr>
          <a:xfrm>
            <a:off x="5504688" y="4023360"/>
            <a:ext cx="1975104" cy="292608"/>
          </a:xfrm>
          <a:prstGeom prst="roundRect">
            <a:avLst>
              <a:gd name="adj" fmla="val 21875"/>
            </a:avLst>
          </a:prstGeom>
          <a:solidFill>
            <a:srgbClr val="D98B58"/>
          </a:solidFill>
          <a:ln w="12700">
            <a:solidFill>
              <a:srgbClr val="D98B58">
                <a:alpha val="0"/>
              </a:srgbClr>
            </a:solidFill>
            <a:prstDash val="solid"/>
          </a:ln>
        </p:spPr>
      </p:sp>
      <p:sp>
        <p:nvSpPr>
          <p:cNvPr id="33" name="Text 30"/>
          <p:cNvSpPr/>
          <p:nvPr/>
        </p:nvSpPr>
        <p:spPr>
          <a:xfrm>
            <a:off x="5623560" y="4096512"/>
            <a:ext cx="1755648" cy="137160"/>
          </a:xfrm>
          <a:prstGeom prst="rect">
            <a:avLst/>
          </a:prstGeom>
          <a:noFill/>
          <a:ln/>
        </p:spPr>
        <p:txBody>
          <a:bodyPr wrap="square" lIns="0" tIns="0" rIns="0" bIns="0" rtlCol="0" anchor="ctr">
            <a:normAutofit/>
          </a:bodyPr>
          <a:lstStyle/>
          <a:p>
            <a:pPr algn="ctr" indent="0" marL="0">
              <a:buNone/>
            </a:pPr>
            <a:r>
              <a:rPr lang="en-US" sz="820" b="1" dirty="0">
                <a:solidFill>
                  <a:srgbClr val="071423"/>
                </a:solidFill>
                <a:latin typeface="Inter Display" pitchFamily="34" charset="0"/>
                <a:ea typeface="Inter Display" pitchFamily="34" charset="-122"/>
                <a:cs typeface="Inter Display" pitchFamily="34" charset="-120"/>
              </a:rPr>
              <a:t>REQUEST AN ESTIMATE</a:t>
            </a:r>
            <a:endParaRPr lang="en-US" sz="820" dirty="0"/>
          </a:p>
        </p:txBody>
      </p:sp>
      <p:sp>
        <p:nvSpPr>
          <p:cNvPr id="34" name="Shape 31"/>
          <p:cNvSpPr/>
          <p:nvPr/>
        </p:nvSpPr>
        <p:spPr>
          <a:xfrm>
            <a:off x="5029200" y="4882896"/>
            <a:ext cx="6364224" cy="658368"/>
          </a:xfrm>
          <a:prstGeom prst="rect">
            <a:avLst/>
          </a:prstGeom>
          <a:solidFill>
            <a:srgbClr val="EDF2F5"/>
          </a:solidFill>
          <a:ln w="12700">
            <a:solidFill>
              <a:srgbClr val="EDF2F5">
                <a:alpha val="0"/>
              </a:srgbClr>
            </a:solidFill>
            <a:prstDash val="solid"/>
          </a:ln>
        </p:spPr>
      </p:sp>
      <p:sp>
        <p:nvSpPr>
          <p:cNvPr id="35" name="Shape 32"/>
          <p:cNvSpPr/>
          <p:nvPr/>
        </p:nvSpPr>
        <p:spPr>
          <a:xfrm>
            <a:off x="5312664" y="5038344"/>
            <a:ext cx="1600200" cy="109728"/>
          </a:xfrm>
          <a:prstGeom prst="rect">
            <a:avLst/>
          </a:prstGeom>
          <a:solidFill>
            <a:srgbClr val="60788B"/>
          </a:solidFill>
          <a:ln w="12700">
            <a:solidFill>
              <a:srgbClr val="60788B">
                <a:alpha val="0"/>
              </a:srgbClr>
            </a:solidFill>
            <a:prstDash val="solid"/>
          </a:ln>
        </p:spPr>
      </p:sp>
      <p:sp>
        <p:nvSpPr>
          <p:cNvPr id="36" name="Shape 33"/>
          <p:cNvSpPr/>
          <p:nvPr/>
        </p:nvSpPr>
        <p:spPr>
          <a:xfrm>
            <a:off x="5312664" y="5239512"/>
            <a:ext cx="1271016" cy="82296"/>
          </a:xfrm>
          <a:prstGeom prst="rect">
            <a:avLst/>
          </a:prstGeom>
          <a:solidFill>
            <a:srgbClr val="CED8DE"/>
          </a:solidFill>
          <a:ln w="12700">
            <a:solidFill>
              <a:srgbClr val="CED8DE">
                <a:alpha val="0"/>
              </a:srgbClr>
            </a:solidFill>
            <a:prstDash val="solid"/>
          </a:ln>
        </p:spPr>
      </p:sp>
      <p:sp>
        <p:nvSpPr>
          <p:cNvPr id="37" name="Shape 34"/>
          <p:cNvSpPr/>
          <p:nvPr/>
        </p:nvSpPr>
        <p:spPr>
          <a:xfrm>
            <a:off x="7324344" y="5038344"/>
            <a:ext cx="1600200" cy="109728"/>
          </a:xfrm>
          <a:prstGeom prst="rect">
            <a:avLst/>
          </a:prstGeom>
          <a:solidFill>
            <a:srgbClr val="BCCAD2"/>
          </a:solidFill>
          <a:ln w="12700">
            <a:solidFill>
              <a:srgbClr val="BCCAD2">
                <a:alpha val="0"/>
              </a:srgbClr>
            </a:solidFill>
            <a:prstDash val="solid"/>
          </a:ln>
        </p:spPr>
      </p:sp>
      <p:sp>
        <p:nvSpPr>
          <p:cNvPr id="38" name="Shape 35"/>
          <p:cNvSpPr/>
          <p:nvPr/>
        </p:nvSpPr>
        <p:spPr>
          <a:xfrm>
            <a:off x="7324344" y="5239512"/>
            <a:ext cx="1271016" cy="82296"/>
          </a:xfrm>
          <a:prstGeom prst="rect">
            <a:avLst/>
          </a:prstGeom>
          <a:solidFill>
            <a:srgbClr val="CED8DE"/>
          </a:solidFill>
          <a:ln w="12700">
            <a:solidFill>
              <a:srgbClr val="CED8DE">
                <a:alpha val="0"/>
              </a:srgbClr>
            </a:solidFill>
            <a:prstDash val="solid"/>
          </a:ln>
        </p:spPr>
      </p:sp>
      <p:sp>
        <p:nvSpPr>
          <p:cNvPr id="39" name="Shape 36"/>
          <p:cNvSpPr/>
          <p:nvPr/>
        </p:nvSpPr>
        <p:spPr>
          <a:xfrm>
            <a:off x="9336024" y="5038344"/>
            <a:ext cx="1600200" cy="109728"/>
          </a:xfrm>
          <a:prstGeom prst="rect">
            <a:avLst/>
          </a:prstGeom>
          <a:solidFill>
            <a:srgbClr val="BCCAD2"/>
          </a:solidFill>
          <a:ln w="12700">
            <a:solidFill>
              <a:srgbClr val="BCCAD2">
                <a:alpha val="0"/>
              </a:srgbClr>
            </a:solidFill>
            <a:prstDash val="solid"/>
          </a:ln>
        </p:spPr>
      </p:sp>
      <p:sp>
        <p:nvSpPr>
          <p:cNvPr id="40" name="Shape 37"/>
          <p:cNvSpPr/>
          <p:nvPr/>
        </p:nvSpPr>
        <p:spPr>
          <a:xfrm>
            <a:off x="9336024" y="5239512"/>
            <a:ext cx="1271016" cy="82296"/>
          </a:xfrm>
          <a:prstGeom prst="rect">
            <a:avLst/>
          </a:prstGeom>
          <a:solidFill>
            <a:srgbClr val="CED8DE"/>
          </a:solidFill>
          <a:ln w="12700">
            <a:solidFill>
              <a:srgbClr val="CED8DE">
                <a:alpha val="0"/>
              </a:srgbClr>
            </a:solidFill>
            <a:prstDash val="solid"/>
          </a:ln>
        </p:spPr>
      </p:sp>
      <p:sp>
        <p:nvSpPr>
          <p:cNvPr id="41" name="Text 38"/>
          <p:cNvSpPr/>
          <p:nvPr/>
        </p:nvSpPr>
        <p:spPr>
          <a:xfrm>
            <a:off x="5020056" y="6016752"/>
            <a:ext cx="6583680" cy="164592"/>
          </a:xfrm>
          <a:prstGeom prst="rect">
            <a:avLst/>
          </a:prstGeom>
          <a:noFill/>
          <a:ln/>
        </p:spPr>
        <p:txBody>
          <a:bodyPr wrap="square" lIns="0" tIns="0" rIns="0" bIns="0" rtlCol="0" anchor="ctr">
            <a:normAutofit/>
          </a:bodyPr>
          <a:lstStyle/>
          <a:p>
            <a:pPr indent="0" marL="0">
              <a:buNone/>
            </a:pPr>
            <a:r>
              <a:rPr lang="en-US" sz="870" dirty="0">
                <a:solidFill>
                  <a:srgbClr val="9DAFC1"/>
                </a:solidFill>
                <a:latin typeface="Inter" pitchFamily="34" charset="0"/>
                <a:ea typeface="Inter" pitchFamily="34" charset="-122"/>
                <a:cs typeface="Inter" pitchFamily="34" charset="-120"/>
              </a:rPr>
              <a:t>Illustrative layout for a fictional construction business concept.</a:t>
            </a:r>
            <a:endParaRPr lang="en-US" sz="87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71423"/>
        </a:solidFill>
      </p:bgPr>
    </p:bg>
    <p:spTree>
      <p:nvGrpSpPr>
        <p:cNvPr id="1" name=""/>
        <p:cNvGrpSpPr/>
        <p:nvPr/>
      </p:nvGrpSpPr>
      <p:grpSpPr>
        <a:xfrm>
          <a:off x="0" y="0"/>
          <a:ext cx="0" cy="0"/>
          <a:chOff x="0" y="0"/>
          <a:chExt cx="0" cy="0"/>
        </a:xfrm>
      </p:grpSpPr>
      <p:sp>
        <p:nvSpPr>
          <p:cNvPr id="2" name="Shape 0"/>
          <p:cNvSpPr/>
          <p:nvPr/>
        </p:nvSpPr>
        <p:spPr>
          <a:xfrm>
            <a:off x="0" y="0"/>
            <a:ext cx="12192000" cy="43891"/>
          </a:xfrm>
          <a:prstGeom prst="rect">
            <a:avLst/>
          </a:prstGeom>
          <a:solidFill>
            <a:srgbClr val="D98B58"/>
          </a:solidFill>
          <a:ln w="12700">
            <a:solidFill>
              <a:srgbClr val="D98B58">
                <a:alpha val="0"/>
              </a:srgbClr>
            </a:solidFill>
            <a:prstDash val="solid"/>
          </a:ln>
        </p:spPr>
      </p:sp>
      <p:sp>
        <p:nvSpPr>
          <p:cNvPr id="3" name="Shape 1"/>
          <p:cNvSpPr/>
          <p:nvPr/>
        </p:nvSpPr>
        <p:spPr>
          <a:xfrm>
            <a:off x="11750040" y="0"/>
            <a:ext cx="438912" cy="43891"/>
          </a:xfrm>
          <a:prstGeom prst="rect">
            <a:avLst/>
          </a:prstGeom>
          <a:solidFill>
            <a:srgbClr val="F0B080"/>
          </a:solidFill>
          <a:ln w="12700">
            <a:solidFill>
              <a:srgbClr val="F0B080">
                <a:alpha val="0"/>
              </a:srgbClr>
            </a:solidFill>
            <a:prstDash val="solid"/>
          </a:ln>
        </p:spPr>
      </p:sp>
      <p:sp>
        <p:nvSpPr>
          <p:cNvPr id="4" name="Shape 2"/>
          <p:cNvSpPr/>
          <p:nvPr/>
        </p:nvSpPr>
        <p:spPr>
          <a:xfrm>
            <a:off x="11841480" y="822960"/>
            <a:ext cx="118872" cy="3749040"/>
          </a:xfrm>
          <a:prstGeom prst="rect">
            <a:avLst/>
          </a:prstGeom>
          <a:solidFill>
            <a:srgbClr val="D98B58">
              <a:alpha val="10000"/>
            </a:srgbClr>
          </a:solidFill>
          <a:ln w="12700">
            <a:solidFill>
              <a:srgbClr val="D98B58">
                <a:alpha val="0"/>
              </a:srgbClr>
            </a:solidFill>
            <a:prstDash val="solid"/>
          </a:ln>
        </p:spPr>
      </p:sp>
      <p:sp>
        <p:nvSpPr>
          <p:cNvPr id="5" name="Shape 3"/>
          <p:cNvSpPr/>
          <p:nvPr/>
        </p:nvSpPr>
        <p:spPr>
          <a:xfrm>
            <a:off x="603504" y="6460236"/>
            <a:ext cx="10981944" cy="0"/>
          </a:xfrm>
          <a:prstGeom prst="line">
            <a:avLst/>
          </a:prstGeom>
          <a:noFill/>
          <a:ln w="8255">
            <a:solidFill>
              <a:srgbClr val="274054"/>
            </a:solidFill>
            <a:prstDash val="solid"/>
            <a:headEnd type="none"/>
            <a:tailEnd type="none"/>
          </a:ln>
        </p:spPr>
      </p:sp>
      <p:sp>
        <p:nvSpPr>
          <p:cNvPr id="6" name="Text 4"/>
          <p:cNvSpPr/>
          <p:nvPr/>
        </p:nvSpPr>
        <p:spPr>
          <a:xfrm>
            <a:off x="612648" y="6537960"/>
            <a:ext cx="7315200" cy="173736"/>
          </a:xfrm>
          <a:prstGeom prst="rect">
            <a:avLst/>
          </a:prstGeom>
          <a:noFill/>
          <a:ln/>
        </p:spPr>
        <p:txBody>
          <a:bodyPr wrap="square" lIns="0" tIns="0" rIns="0" bIns="0" rtlCol="0" anchor="ctr">
            <a:normAutofit/>
          </a:bodyPr>
          <a:lstStyle/>
          <a:p>
            <a:pPr indent="0" marL="0">
              <a:buNone/>
            </a:pPr>
            <a:r>
              <a:rPr lang="en-US" sz="810" b="1" spc="75" kern="0" dirty="0">
                <a:solidFill>
                  <a:srgbClr val="9DAFC1"/>
                </a:solidFill>
                <a:latin typeface="Inter Display" pitchFamily="34" charset="0"/>
                <a:ea typeface="Inter Display" pitchFamily="34" charset="-122"/>
                <a:cs typeface="Inter Display" pitchFamily="34" charset="-120"/>
              </a:rPr>
              <a:t>REKODE DIGITAL  /  WINNEMUCCA · NORTHERN NEVADA</a:t>
            </a:r>
            <a:endParaRPr lang="en-US" sz="810" dirty="0"/>
          </a:p>
        </p:txBody>
      </p:sp>
      <p:sp>
        <p:nvSpPr>
          <p:cNvPr id="7" name="Text 5"/>
          <p:cNvSpPr/>
          <p:nvPr/>
        </p:nvSpPr>
        <p:spPr>
          <a:xfrm>
            <a:off x="11091672" y="6510528"/>
            <a:ext cx="475488" cy="210312"/>
          </a:xfrm>
          <a:prstGeom prst="rect">
            <a:avLst/>
          </a:prstGeom>
          <a:noFill/>
          <a:ln/>
        </p:spPr>
        <p:txBody>
          <a:bodyPr wrap="square" lIns="0" tIns="0" rIns="0" bIns="0" rtlCol="0" anchor="ctr">
            <a:normAutofit/>
          </a:bodyPr>
          <a:lstStyle/>
          <a:p>
            <a:pPr algn="r" indent="0" marL="0">
              <a:buNone/>
            </a:pPr>
            <a:r>
              <a:rPr lang="en-US" sz="900" b="1" dirty="0">
                <a:solidFill>
                  <a:srgbClr val="D98B58"/>
                </a:solidFill>
                <a:latin typeface="Inter Display" pitchFamily="34" charset="0"/>
                <a:ea typeface="Inter Display" pitchFamily="34" charset="-122"/>
                <a:cs typeface="Inter Display" pitchFamily="34" charset="-120"/>
              </a:rPr>
              <a:t>07</a:t>
            </a:r>
            <a:endParaRPr lang="en-US" sz="900" dirty="0"/>
          </a:p>
        </p:txBody>
      </p:sp>
      <p:sp>
        <p:nvSpPr>
          <p:cNvPr id="8" name="Text 6"/>
          <p:cNvSpPr/>
          <p:nvPr/>
        </p:nvSpPr>
        <p:spPr>
          <a:xfrm>
            <a:off x="621792" y="466344"/>
            <a:ext cx="9966960" cy="237744"/>
          </a:xfrm>
          <a:prstGeom prst="rect">
            <a:avLst/>
          </a:prstGeom>
          <a:noFill/>
          <a:ln/>
        </p:spPr>
        <p:txBody>
          <a:bodyPr wrap="square" lIns="0" tIns="0" rIns="0" bIns="0" rtlCol="0" anchor="ctr">
            <a:normAutofit/>
          </a:bodyPr>
          <a:lstStyle/>
          <a:p>
            <a:pPr indent="0" marL="0">
              <a:buNone/>
            </a:pPr>
            <a:r>
              <a:rPr lang="en-US" sz="960" b="1" spc="260" kern="0" dirty="0">
                <a:solidFill>
                  <a:srgbClr val="D98B58"/>
                </a:solidFill>
                <a:latin typeface="Inter Display" pitchFamily="34" charset="0"/>
                <a:ea typeface="Inter Display" pitchFamily="34" charset="-122"/>
                <a:cs typeface="Inter Display" pitchFamily="34" charset="-120"/>
              </a:rPr>
              <a:t>EXPLORE THE POSSIBILITIES</a:t>
            </a:r>
            <a:endParaRPr lang="en-US" sz="960" dirty="0"/>
          </a:p>
        </p:txBody>
      </p:sp>
      <p:sp>
        <p:nvSpPr>
          <p:cNvPr id="9" name="Text 7"/>
          <p:cNvSpPr/>
          <p:nvPr/>
        </p:nvSpPr>
        <p:spPr>
          <a:xfrm>
            <a:off x="621792" y="896112"/>
            <a:ext cx="10789920" cy="731520"/>
          </a:xfrm>
          <a:prstGeom prst="rect">
            <a:avLst/>
          </a:prstGeom>
          <a:noFill/>
          <a:ln/>
        </p:spPr>
        <p:txBody>
          <a:bodyPr wrap="square" lIns="0" tIns="0" rIns="0" bIns="0" rtlCol="0" anchor="ctr">
            <a:normAutofit/>
          </a:bodyPr>
          <a:lstStyle/>
          <a:p>
            <a:pPr indent="0" marL="0">
              <a:buNone/>
            </a:pPr>
            <a:r>
              <a:rPr lang="en-US" sz="3200" b="1" dirty="0">
                <a:solidFill>
                  <a:srgbClr val="F6F8FB"/>
                </a:solidFill>
                <a:latin typeface="Inter Display" pitchFamily="34" charset="0"/>
                <a:ea typeface="Inter Display" pitchFamily="34" charset="-122"/>
                <a:cs typeface="Inter Display" pitchFamily="34" charset="-120"/>
              </a:rPr>
              <a:t>Designs tailored to different industries</a:t>
            </a:r>
            <a:endParaRPr lang="en-US" sz="3200" dirty="0"/>
          </a:p>
        </p:txBody>
      </p:sp>
      <p:sp>
        <p:nvSpPr>
          <p:cNvPr id="10" name="Text 8"/>
          <p:cNvSpPr/>
          <p:nvPr/>
        </p:nvSpPr>
        <p:spPr>
          <a:xfrm>
            <a:off x="640080" y="1700784"/>
            <a:ext cx="10698480" cy="475488"/>
          </a:xfrm>
          <a:prstGeom prst="rect">
            <a:avLst/>
          </a:prstGeom>
          <a:noFill/>
          <a:ln/>
        </p:spPr>
        <p:txBody>
          <a:bodyPr wrap="square" lIns="0" tIns="0" rIns="0" bIns="0" rtlCol="0" anchor="ctr">
            <a:normAutofit/>
          </a:bodyPr>
          <a:lstStyle/>
          <a:p>
            <a:pPr indent="0" marL="0">
              <a:buNone/>
            </a:pPr>
            <a:r>
              <a:rPr lang="en-US" sz="1420" dirty="0">
                <a:solidFill>
                  <a:srgbClr val="DAE5EB"/>
                </a:solidFill>
                <a:latin typeface="Inter" pitchFamily="34" charset="0"/>
                <a:ea typeface="Inter" pitchFamily="34" charset="-122"/>
                <a:cs typeface="Inter" pitchFamily="34" charset="-120"/>
              </a:rPr>
              <a:t>Your business is unique. Your website should feel that way.</a:t>
            </a:r>
            <a:endParaRPr lang="en-US" sz="1420" dirty="0"/>
          </a:p>
        </p:txBody>
      </p:sp>
      <p:sp>
        <p:nvSpPr>
          <p:cNvPr id="11" name="Shape 9"/>
          <p:cNvSpPr/>
          <p:nvPr/>
        </p:nvSpPr>
        <p:spPr>
          <a:xfrm>
            <a:off x="685800" y="2276856"/>
            <a:ext cx="3557016" cy="3520440"/>
          </a:xfrm>
          <a:prstGeom prst="roundRect">
            <a:avLst>
              <a:gd name="adj" fmla="val 4416"/>
            </a:avLst>
          </a:prstGeom>
          <a:solidFill>
            <a:srgbClr val="11263B"/>
          </a:solidFill>
          <a:ln w="12700">
            <a:solidFill>
              <a:srgbClr val="274054"/>
            </a:solidFill>
            <a:prstDash val="solid"/>
          </a:ln>
        </p:spPr>
      </p:sp>
      <p:pic>
        <p:nvPicPr>
          <p:cNvPr id="12" name="Image 0" descr="/mnt/data/rekode_assets/construction_scene.png">    </p:cNvPr>
          <p:cNvPicPr>
            <a:picLocks noChangeAspect="1"/>
          </p:cNvPicPr>
          <p:nvPr/>
        </p:nvPicPr>
        <p:blipFill>
          <a:blip r:embed="rId1"/>
          <a:stretch>
            <a:fillRect/>
          </a:stretch>
        </p:blipFill>
        <p:spPr>
          <a:xfrm>
            <a:off x="777240" y="2377440"/>
            <a:ext cx="3374136" cy="1728216"/>
          </a:xfrm>
          <a:prstGeom prst="rect">
            <a:avLst/>
          </a:prstGeom>
        </p:spPr>
      </p:pic>
      <p:sp>
        <p:nvSpPr>
          <p:cNvPr id="13" name="Shape 10"/>
          <p:cNvSpPr/>
          <p:nvPr/>
        </p:nvSpPr>
        <p:spPr>
          <a:xfrm>
            <a:off x="950976" y="2551176"/>
            <a:ext cx="1069848" cy="246888"/>
          </a:xfrm>
          <a:prstGeom prst="roundRect">
            <a:avLst>
              <a:gd name="adj" fmla="val 22222"/>
            </a:avLst>
          </a:prstGeom>
          <a:solidFill>
            <a:srgbClr val="D98B58"/>
          </a:solidFill>
          <a:ln w="12700">
            <a:solidFill>
              <a:srgbClr val="D98B58">
                <a:alpha val="0"/>
              </a:srgbClr>
            </a:solidFill>
            <a:prstDash val="solid"/>
          </a:ln>
        </p:spPr>
      </p:sp>
      <p:sp>
        <p:nvSpPr>
          <p:cNvPr id="14" name="Text 11"/>
          <p:cNvSpPr/>
          <p:nvPr/>
        </p:nvSpPr>
        <p:spPr>
          <a:xfrm>
            <a:off x="1060704" y="2606040"/>
            <a:ext cx="868680" cy="137160"/>
          </a:xfrm>
          <a:prstGeom prst="rect">
            <a:avLst/>
          </a:prstGeom>
          <a:noFill/>
          <a:ln/>
        </p:spPr>
        <p:txBody>
          <a:bodyPr wrap="square" lIns="0" tIns="0" rIns="0" bIns="0" rtlCol="0" anchor="ctr">
            <a:normAutofit/>
          </a:bodyPr>
          <a:lstStyle/>
          <a:p>
            <a:pPr algn="ctr" indent="0" marL="0">
              <a:buNone/>
            </a:pPr>
            <a:r>
              <a:rPr lang="en-US" sz="900" b="1" dirty="0">
                <a:solidFill>
                  <a:srgbClr val="091321"/>
                </a:solidFill>
                <a:latin typeface="Inter Display" pitchFamily="34" charset="0"/>
                <a:ea typeface="Inter Display" pitchFamily="34" charset="-122"/>
                <a:cs typeface="Inter Display" pitchFamily="34" charset="-120"/>
              </a:rPr>
              <a:t>CONCEPT</a:t>
            </a:r>
            <a:endParaRPr lang="en-US" sz="900" dirty="0"/>
          </a:p>
        </p:txBody>
      </p:sp>
      <p:sp>
        <p:nvSpPr>
          <p:cNvPr id="15" name="Text 12"/>
          <p:cNvSpPr/>
          <p:nvPr/>
        </p:nvSpPr>
        <p:spPr>
          <a:xfrm>
            <a:off x="877824" y="4389120"/>
            <a:ext cx="3154680" cy="356616"/>
          </a:xfrm>
          <a:prstGeom prst="rect">
            <a:avLst/>
          </a:prstGeom>
          <a:noFill/>
          <a:ln/>
        </p:spPr>
        <p:txBody>
          <a:bodyPr wrap="square" lIns="0" tIns="0" rIns="0" bIns="0" rtlCol="0" anchor="ctr">
            <a:normAutofit/>
          </a:bodyPr>
          <a:lstStyle/>
          <a:p>
            <a:pPr indent="0" marL="0">
              <a:buNone/>
            </a:pPr>
            <a:r>
              <a:rPr lang="en-US" sz="1900" b="1" dirty="0">
                <a:solidFill>
                  <a:srgbClr val="F6F8FB"/>
                </a:solidFill>
                <a:latin typeface="Inter Display" pitchFamily="34" charset="0"/>
                <a:ea typeface="Inter Display" pitchFamily="34" charset="-122"/>
                <a:cs typeface="Inter Display" pitchFamily="34" charset="-120"/>
              </a:rPr>
              <a:t>Summit Ridge</a:t>
            </a:r>
            <a:endParaRPr lang="en-US" sz="1900" dirty="0"/>
          </a:p>
        </p:txBody>
      </p:sp>
      <p:sp>
        <p:nvSpPr>
          <p:cNvPr id="16" name="Text 13"/>
          <p:cNvSpPr/>
          <p:nvPr/>
        </p:nvSpPr>
        <p:spPr>
          <a:xfrm>
            <a:off x="877824" y="4745736"/>
            <a:ext cx="3191256" cy="246888"/>
          </a:xfrm>
          <a:prstGeom prst="rect">
            <a:avLst/>
          </a:prstGeom>
          <a:noFill/>
          <a:ln/>
        </p:spPr>
        <p:txBody>
          <a:bodyPr wrap="square" lIns="0" tIns="0" rIns="0" bIns="0" rtlCol="0" anchor="ctr">
            <a:normAutofit/>
          </a:bodyPr>
          <a:lstStyle/>
          <a:p>
            <a:pPr indent="0" marL="0">
              <a:buNone/>
            </a:pPr>
            <a:r>
              <a:rPr lang="en-US" sz="1400" dirty="0">
                <a:solidFill>
                  <a:srgbClr val="F0B080"/>
                </a:solidFill>
                <a:latin typeface="Inter" pitchFamily="34" charset="0"/>
                <a:ea typeface="Inter" pitchFamily="34" charset="-122"/>
                <a:cs typeface="Inter" pitchFamily="34" charset="-120"/>
              </a:rPr>
              <a:t>Construction</a:t>
            </a:r>
            <a:endParaRPr lang="en-US" sz="1400" dirty="0"/>
          </a:p>
        </p:txBody>
      </p:sp>
      <p:sp>
        <p:nvSpPr>
          <p:cNvPr id="17" name="Text 14"/>
          <p:cNvSpPr/>
          <p:nvPr/>
        </p:nvSpPr>
        <p:spPr>
          <a:xfrm>
            <a:off x="877824" y="5166360"/>
            <a:ext cx="3163824" cy="384048"/>
          </a:xfrm>
          <a:prstGeom prst="rect">
            <a:avLst/>
          </a:prstGeom>
          <a:noFill/>
          <a:ln/>
        </p:spPr>
        <p:txBody>
          <a:bodyPr wrap="square" lIns="0" tIns="0" rIns="0" bIns="0" rtlCol="0" anchor="ctr">
            <a:normAutofit/>
          </a:bodyPr>
          <a:lstStyle/>
          <a:p>
            <a:pPr indent="0" marL="0">
              <a:buNone/>
            </a:pPr>
            <a:r>
              <a:rPr lang="en-US" sz="1100" dirty="0">
                <a:solidFill>
                  <a:srgbClr val="DAE5EB"/>
                </a:solidFill>
                <a:latin typeface="Inter" pitchFamily="34" charset="0"/>
                <a:ea typeface="Inter" pitchFamily="34" charset="-122"/>
                <a:cs typeface="Inter" pitchFamily="34" charset="-120"/>
              </a:rPr>
              <a:t>Show projects &amp; request estimates</a:t>
            </a:r>
            <a:endParaRPr lang="en-US" sz="1100" dirty="0"/>
          </a:p>
        </p:txBody>
      </p:sp>
      <p:sp>
        <p:nvSpPr>
          <p:cNvPr id="18" name="Shape 15"/>
          <p:cNvSpPr/>
          <p:nvPr/>
        </p:nvSpPr>
        <p:spPr>
          <a:xfrm>
            <a:off x="4535424" y="2276856"/>
            <a:ext cx="3557016" cy="3520440"/>
          </a:xfrm>
          <a:prstGeom prst="roundRect">
            <a:avLst>
              <a:gd name="adj" fmla="val 4416"/>
            </a:avLst>
          </a:prstGeom>
          <a:solidFill>
            <a:srgbClr val="11263B"/>
          </a:solidFill>
          <a:ln w="12700">
            <a:solidFill>
              <a:srgbClr val="274054"/>
            </a:solidFill>
            <a:prstDash val="solid"/>
          </a:ln>
        </p:spPr>
      </p:sp>
      <p:pic>
        <p:nvPicPr>
          <p:cNvPr id="19" name="Image 1" descr="/mnt/data/rekode_assets/auto_scene.png">    </p:cNvPr>
          <p:cNvPicPr>
            <a:picLocks noChangeAspect="1"/>
          </p:cNvPicPr>
          <p:nvPr/>
        </p:nvPicPr>
        <p:blipFill>
          <a:blip r:embed="rId2"/>
          <a:stretch>
            <a:fillRect/>
          </a:stretch>
        </p:blipFill>
        <p:spPr>
          <a:xfrm>
            <a:off x="4626864" y="2377440"/>
            <a:ext cx="3374136" cy="1728216"/>
          </a:xfrm>
          <a:prstGeom prst="rect">
            <a:avLst/>
          </a:prstGeom>
        </p:spPr>
      </p:pic>
      <p:sp>
        <p:nvSpPr>
          <p:cNvPr id="20" name="Shape 16"/>
          <p:cNvSpPr/>
          <p:nvPr/>
        </p:nvSpPr>
        <p:spPr>
          <a:xfrm>
            <a:off x="4800600" y="2551176"/>
            <a:ext cx="1069848" cy="246888"/>
          </a:xfrm>
          <a:prstGeom prst="roundRect">
            <a:avLst>
              <a:gd name="adj" fmla="val 22222"/>
            </a:avLst>
          </a:prstGeom>
          <a:solidFill>
            <a:srgbClr val="D98B58"/>
          </a:solidFill>
          <a:ln w="12700">
            <a:solidFill>
              <a:srgbClr val="D98B58">
                <a:alpha val="0"/>
              </a:srgbClr>
            </a:solidFill>
            <a:prstDash val="solid"/>
          </a:ln>
        </p:spPr>
      </p:sp>
      <p:sp>
        <p:nvSpPr>
          <p:cNvPr id="21" name="Text 17"/>
          <p:cNvSpPr/>
          <p:nvPr/>
        </p:nvSpPr>
        <p:spPr>
          <a:xfrm>
            <a:off x="4910328" y="2606040"/>
            <a:ext cx="868680" cy="137160"/>
          </a:xfrm>
          <a:prstGeom prst="rect">
            <a:avLst/>
          </a:prstGeom>
          <a:noFill/>
          <a:ln/>
        </p:spPr>
        <p:txBody>
          <a:bodyPr wrap="square" lIns="0" tIns="0" rIns="0" bIns="0" rtlCol="0" anchor="ctr">
            <a:normAutofit/>
          </a:bodyPr>
          <a:lstStyle/>
          <a:p>
            <a:pPr algn="ctr" indent="0" marL="0">
              <a:buNone/>
            </a:pPr>
            <a:r>
              <a:rPr lang="en-US" sz="900" b="1" dirty="0">
                <a:solidFill>
                  <a:srgbClr val="091321"/>
                </a:solidFill>
                <a:latin typeface="Inter Display" pitchFamily="34" charset="0"/>
                <a:ea typeface="Inter Display" pitchFamily="34" charset="-122"/>
                <a:cs typeface="Inter Display" pitchFamily="34" charset="-120"/>
              </a:rPr>
              <a:t>CONCEPT</a:t>
            </a:r>
            <a:endParaRPr lang="en-US" sz="900" dirty="0"/>
          </a:p>
        </p:txBody>
      </p:sp>
      <p:sp>
        <p:nvSpPr>
          <p:cNvPr id="22" name="Text 18"/>
          <p:cNvSpPr/>
          <p:nvPr/>
        </p:nvSpPr>
        <p:spPr>
          <a:xfrm>
            <a:off x="4727448" y="4389120"/>
            <a:ext cx="3154680" cy="356616"/>
          </a:xfrm>
          <a:prstGeom prst="rect">
            <a:avLst/>
          </a:prstGeom>
          <a:noFill/>
          <a:ln/>
        </p:spPr>
        <p:txBody>
          <a:bodyPr wrap="square" lIns="0" tIns="0" rIns="0" bIns="0" rtlCol="0" anchor="ctr">
            <a:normAutofit/>
          </a:bodyPr>
          <a:lstStyle/>
          <a:p>
            <a:pPr indent="0" marL="0">
              <a:buNone/>
            </a:pPr>
            <a:r>
              <a:rPr lang="en-US" sz="1900" b="1" dirty="0">
                <a:solidFill>
                  <a:srgbClr val="F6F8FB"/>
                </a:solidFill>
                <a:latin typeface="Inter Display" pitchFamily="34" charset="0"/>
                <a:ea typeface="Inter Display" pitchFamily="34" charset="-122"/>
                <a:cs typeface="Inter Display" pitchFamily="34" charset="-120"/>
              </a:rPr>
              <a:t>High Desert</a:t>
            </a:r>
            <a:endParaRPr lang="en-US" sz="1900" dirty="0"/>
          </a:p>
        </p:txBody>
      </p:sp>
      <p:sp>
        <p:nvSpPr>
          <p:cNvPr id="23" name="Text 19"/>
          <p:cNvSpPr/>
          <p:nvPr/>
        </p:nvSpPr>
        <p:spPr>
          <a:xfrm>
            <a:off x="4727448" y="4745736"/>
            <a:ext cx="3191256" cy="246888"/>
          </a:xfrm>
          <a:prstGeom prst="rect">
            <a:avLst/>
          </a:prstGeom>
          <a:noFill/>
          <a:ln/>
        </p:spPr>
        <p:txBody>
          <a:bodyPr wrap="square" lIns="0" tIns="0" rIns="0" bIns="0" rtlCol="0" anchor="ctr">
            <a:normAutofit/>
          </a:bodyPr>
          <a:lstStyle/>
          <a:p>
            <a:pPr indent="0" marL="0">
              <a:buNone/>
            </a:pPr>
            <a:r>
              <a:rPr lang="en-US" sz="1400" dirty="0">
                <a:solidFill>
                  <a:srgbClr val="F0B080"/>
                </a:solidFill>
                <a:latin typeface="Inter" pitchFamily="34" charset="0"/>
                <a:ea typeface="Inter" pitchFamily="34" charset="-122"/>
                <a:cs typeface="Inter" pitchFamily="34" charset="-120"/>
              </a:rPr>
              <a:t>Auto Repair</a:t>
            </a:r>
            <a:endParaRPr lang="en-US" sz="1400" dirty="0"/>
          </a:p>
        </p:txBody>
      </p:sp>
      <p:sp>
        <p:nvSpPr>
          <p:cNvPr id="24" name="Text 20"/>
          <p:cNvSpPr/>
          <p:nvPr/>
        </p:nvSpPr>
        <p:spPr>
          <a:xfrm>
            <a:off x="4727448" y="5166360"/>
            <a:ext cx="3163824" cy="384048"/>
          </a:xfrm>
          <a:prstGeom prst="rect">
            <a:avLst/>
          </a:prstGeom>
          <a:noFill/>
          <a:ln/>
        </p:spPr>
        <p:txBody>
          <a:bodyPr wrap="square" lIns="0" tIns="0" rIns="0" bIns="0" rtlCol="0" anchor="ctr">
            <a:normAutofit/>
          </a:bodyPr>
          <a:lstStyle/>
          <a:p>
            <a:pPr indent="0" marL="0">
              <a:buNone/>
            </a:pPr>
            <a:r>
              <a:rPr lang="en-US" sz="1100" dirty="0">
                <a:solidFill>
                  <a:srgbClr val="DAE5EB"/>
                </a:solidFill>
                <a:latin typeface="Inter" pitchFamily="34" charset="0"/>
                <a:ea typeface="Inter" pitchFamily="34" charset="-122"/>
                <a:cs typeface="Inter" pitchFamily="34" charset="-120"/>
              </a:rPr>
              <a:t>Build trust &amp; explain services</a:t>
            </a:r>
            <a:endParaRPr lang="en-US" sz="1100" dirty="0"/>
          </a:p>
        </p:txBody>
      </p:sp>
      <p:sp>
        <p:nvSpPr>
          <p:cNvPr id="25" name="Shape 21"/>
          <p:cNvSpPr/>
          <p:nvPr/>
        </p:nvSpPr>
        <p:spPr>
          <a:xfrm>
            <a:off x="8385048" y="2276856"/>
            <a:ext cx="3557016" cy="3520440"/>
          </a:xfrm>
          <a:prstGeom prst="roundRect">
            <a:avLst>
              <a:gd name="adj" fmla="val 4416"/>
            </a:avLst>
          </a:prstGeom>
          <a:solidFill>
            <a:srgbClr val="11263B"/>
          </a:solidFill>
          <a:ln w="12700">
            <a:solidFill>
              <a:srgbClr val="274054"/>
            </a:solidFill>
            <a:prstDash val="solid"/>
          </a:ln>
        </p:spPr>
      </p:sp>
      <p:pic>
        <p:nvPicPr>
          <p:cNvPr id="26" name="Image 2" descr="/mnt/data/rekode_assets/landscape_scene.png">    </p:cNvPr>
          <p:cNvPicPr>
            <a:picLocks noChangeAspect="1"/>
          </p:cNvPicPr>
          <p:nvPr/>
        </p:nvPicPr>
        <p:blipFill>
          <a:blip r:embed="rId3"/>
          <a:stretch>
            <a:fillRect/>
          </a:stretch>
        </p:blipFill>
        <p:spPr>
          <a:xfrm>
            <a:off x="8476488" y="2377440"/>
            <a:ext cx="3374136" cy="1728216"/>
          </a:xfrm>
          <a:prstGeom prst="rect">
            <a:avLst/>
          </a:prstGeom>
        </p:spPr>
      </p:pic>
      <p:sp>
        <p:nvSpPr>
          <p:cNvPr id="27" name="Shape 22"/>
          <p:cNvSpPr/>
          <p:nvPr/>
        </p:nvSpPr>
        <p:spPr>
          <a:xfrm>
            <a:off x="8650224" y="2551176"/>
            <a:ext cx="1069848" cy="246888"/>
          </a:xfrm>
          <a:prstGeom prst="roundRect">
            <a:avLst>
              <a:gd name="adj" fmla="val 22222"/>
            </a:avLst>
          </a:prstGeom>
          <a:solidFill>
            <a:srgbClr val="D98B58"/>
          </a:solidFill>
          <a:ln w="12700">
            <a:solidFill>
              <a:srgbClr val="D98B58">
                <a:alpha val="0"/>
              </a:srgbClr>
            </a:solidFill>
            <a:prstDash val="solid"/>
          </a:ln>
        </p:spPr>
      </p:sp>
      <p:sp>
        <p:nvSpPr>
          <p:cNvPr id="28" name="Text 23"/>
          <p:cNvSpPr/>
          <p:nvPr/>
        </p:nvSpPr>
        <p:spPr>
          <a:xfrm>
            <a:off x="8759952" y="2606040"/>
            <a:ext cx="868680" cy="137160"/>
          </a:xfrm>
          <a:prstGeom prst="rect">
            <a:avLst/>
          </a:prstGeom>
          <a:noFill/>
          <a:ln/>
        </p:spPr>
        <p:txBody>
          <a:bodyPr wrap="square" lIns="0" tIns="0" rIns="0" bIns="0" rtlCol="0" anchor="ctr">
            <a:normAutofit/>
          </a:bodyPr>
          <a:lstStyle/>
          <a:p>
            <a:pPr algn="ctr" indent="0" marL="0">
              <a:buNone/>
            </a:pPr>
            <a:r>
              <a:rPr lang="en-US" sz="900" b="1" dirty="0">
                <a:solidFill>
                  <a:srgbClr val="091321"/>
                </a:solidFill>
                <a:latin typeface="Inter Display" pitchFamily="34" charset="0"/>
                <a:ea typeface="Inter Display" pitchFamily="34" charset="-122"/>
                <a:cs typeface="Inter Display" pitchFamily="34" charset="-120"/>
              </a:rPr>
              <a:t>CONCEPT</a:t>
            </a:r>
            <a:endParaRPr lang="en-US" sz="900" dirty="0"/>
          </a:p>
        </p:txBody>
      </p:sp>
      <p:sp>
        <p:nvSpPr>
          <p:cNvPr id="29" name="Text 24"/>
          <p:cNvSpPr/>
          <p:nvPr/>
        </p:nvSpPr>
        <p:spPr>
          <a:xfrm>
            <a:off x="8577072" y="4389120"/>
            <a:ext cx="3154680" cy="356616"/>
          </a:xfrm>
          <a:prstGeom prst="rect">
            <a:avLst/>
          </a:prstGeom>
          <a:noFill/>
          <a:ln/>
        </p:spPr>
        <p:txBody>
          <a:bodyPr wrap="square" lIns="0" tIns="0" rIns="0" bIns="0" rtlCol="0" anchor="ctr">
            <a:normAutofit/>
          </a:bodyPr>
          <a:lstStyle/>
          <a:p>
            <a:pPr indent="0" marL="0">
              <a:buNone/>
            </a:pPr>
            <a:r>
              <a:rPr lang="en-US" sz="1900" b="1" dirty="0">
                <a:solidFill>
                  <a:srgbClr val="F6F8FB"/>
                </a:solidFill>
                <a:latin typeface="Inter Display" pitchFamily="34" charset="0"/>
                <a:ea typeface="Inter Display" pitchFamily="34" charset="-122"/>
                <a:cs typeface="Inter Display" pitchFamily="34" charset="-120"/>
              </a:rPr>
              <a:t>Silver State</a:t>
            </a:r>
            <a:endParaRPr lang="en-US" sz="1900" dirty="0"/>
          </a:p>
        </p:txBody>
      </p:sp>
      <p:sp>
        <p:nvSpPr>
          <p:cNvPr id="30" name="Text 25"/>
          <p:cNvSpPr/>
          <p:nvPr/>
        </p:nvSpPr>
        <p:spPr>
          <a:xfrm>
            <a:off x="8577072" y="4745736"/>
            <a:ext cx="3191256" cy="246888"/>
          </a:xfrm>
          <a:prstGeom prst="rect">
            <a:avLst/>
          </a:prstGeom>
          <a:noFill/>
          <a:ln/>
        </p:spPr>
        <p:txBody>
          <a:bodyPr wrap="square" lIns="0" tIns="0" rIns="0" bIns="0" rtlCol="0" anchor="ctr">
            <a:normAutofit/>
          </a:bodyPr>
          <a:lstStyle/>
          <a:p>
            <a:pPr indent="0" marL="0">
              <a:buNone/>
            </a:pPr>
            <a:r>
              <a:rPr lang="en-US" sz="1400" dirty="0">
                <a:solidFill>
                  <a:srgbClr val="F0B080"/>
                </a:solidFill>
                <a:latin typeface="Inter" pitchFamily="34" charset="0"/>
                <a:ea typeface="Inter" pitchFamily="34" charset="-122"/>
                <a:cs typeface="Inter" pitchFamily="34" charset="-120"/>
              </a:rPr>
              <a:t>Landscapes</a:t>
            </a:r>
            <a:endParaRPr lang="en-US" sz="1400" dirty="0"/>
          </a:p>
        </p:txBody>
      </p:sp>
      <p:sp>
        <p:nvSpPr>
          <p:cNvPr id="31" name="Text 26"/>
          <p:cNvSpPr/>
          <p:nvPr/>
        </p:nvSpPr>
        <p:spPr>
          <a:xfrm>
            <a:off x="8577072" y="5166360"/>
            <a:ext cx="3163824" cy="384048"/>
          </a:xfrm>
          <a:prstGeom prst="rect">
            <a:avLst/>
          </a:prstGeom>
          <a:noFill/>
          <a:ln/>
        </p:spPr>
        <p:txBody>
          <a:bodyPr wrap="square" lIns="0" tIns="0" rIns="0" bIns="0" rtlCol="0" anchor="ctr">
            <a:normAutofit/>
          </a:bodyPr>
          <a:lstStyle/>
          <a:p>
            <a:pPr indent="0" marL="0">
              <a:buNone/>
            </a:pPr>
            <a:r>
              <a:rPr lang="en-US" sz="1100" dirty="0">
                <a:solidFill>
                  <a:srgbClr val="DAE5EB"/>
                </a:solidFill>
                <a:latin typeface="Inter" pitchFamily="34" charset="0"/>
                <a:ea typeface="Inter" pitchFamily="34" charset="-122"/>
                <a:cs typeface="Inter" pitchFamily="34" charset="-120"/>
              </a:rPr>
              <a:t>Showcase work &amp; collect inquiries</a:t>
            </a:r>
            <a:endParaRPr lang="en-US" sz="1100" dirty="0"/>
          </a:p>
        </p:txBody>
      </p:sp>
      <p:sp>
        <p:nvSpPr>
          <p:cNvPr id="32" name="Text 27"/>
          <p:cNvSpPr/>
          <p:nvPr/>
        </p:nvSpPr>
        <p:spPr>
          <a:xfrm>
            <a:off x="704088" y="6007608"/>
            <a:ext cx="10789920" cy="173736"/>
          </a:xfrm>
          <a:prstGeom prst="rect">
            <a:avLst/>
          </a:prstGeom>
          <a:noFill/>
          <a:ln/>
        </p:spPr>
        <p:txBody>
          <a:bodyPr wrap="square" lIns="0" tIns="0" rIns="0" bIns="0" rtlCol="0" anchor="ctr">
            <a:normAutofit/>
          </a:bodyPr>
          <a:lstStyle/>
          <a:p>
            <a:pPr indent="0" marL="0">
              <a:buNone/>
            </a:pPr>
            <a:r>
              <a:rPr lang="en-US" sz="900" dirty="0">
                <a:solidFill>
                  <a:srgbClr val="9DAFC1"/>
                </a:solidFill>
                <a:latin typeface="Inter" pitchFamily="34" charset="0"/>
                <a:ea typeface="Inter" pitchFamily="34" charset="-122"/>
                <a:cs typeface="Inter" pitchFamily="34" charset="-120"/>
              </a:rPr>
              <a:t>Concept projects are fictional demonstrations — not actual client work.</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71423"/>
        </a:solidFill>
      </p:bgPr>
    </p:bg>
    <p:spTree>
      <p:nvGrpSpPr>
        <p:cNvPr id="1" name=""/>
        <p:cNvGrpSpPr/>
        <p:nvPr/>
      </p:nvGrpSpPr>
      <p:grpSpPr>
        <a:xfrm>
          <a:off x="0" y="0"/>
          <a:ext cx="0" cy="0"/>
          <a:chOff x="0" y="0"/>
          <a:chExt cx="0" cy="0"/>
        </a:xfrm>
      </p:grpSpPr>
      <p:sp>
        <p:nvSpPr>
          <p:cNvPr id="2" name="Shape 0"/>
          <p:cNvSpPr/>
          <p:nvPr/>
        </p:nvSpPr>
        <p:spPr>
          <a:xfrm>
            <a:off x="0" y="0"/>
            <a:ext cx="12192000" cy="43891"/>
          </a:xfrm>
          <a:prstGeom prst="rect">
            <a:avLst/>
          </a:prstGeom>
          <a:solidFill>
            <a:srgbClr val="D98B58"/>
          </a:solidFill>
          <a:ln w="12700">
            <a:solidFill>
              <a:srgbClr val="D98B58">
                <a:alpha val="0"/>
              </a:srgbClr>
            </a:solidFill>
            <a:prstDash val="solid"/>
          </a:ln>
        </p:spPr>
      </p:sp>
      <p:sp>
        <p:nvSpPr>
          <p:cNvPr id="3" name="Shape 1"/>
          <p:cNvSpPr/>
          <p:nvPr/>
        </p:nvSpPr>
        <p:spPr>
          <a:xfrm>
            <a:off x="11750040" y="0"/>
            <a:ext cx="438912" cy="43891"/>
          </a:xfrm>
          <a:prstGeom prst="rect">
            <a:avLst/>
          </a:prstGeom>
          <a:solidFill>
            <a:srgbClr val="F0B080"/>
          </a:solidFill>
          <a:ln w="12700">
            <a:solidFill>
              <a:srgbClr val="F0B080">
                <a:alpha val="0"/>
              </a:srgbClr>
            </a:solidFill>
            <a:prstDash val="solid"/>
          </a:ln>
        </p:spPr>
      </p:sp>
      <p:sp>
        <p:nvSpPr>
          <p:cNvPr id="4" name="Shape 2"/>
          <p:cNvSpPr/>
          <p:nvPr/>
        </p:nvSpPr>
        <p:spPr>
          <a:xfrm>
            <a:off x="11841480" y="822960"/>
            <a:ext cx="118872" cy="3749040"/>
          </a:xfrm>
          <a:prstGeom prst="rect">
            <a:avLst/>
          </a:prstGeom>
          <a:solidFill>
            <a:srgbClr val="D98B58">
              <a:alpha val="10000"/>
            </a:srgbClr>
          </a:solidFill>
          <a:ln w="12700">
            <a:solidFill>
              <a:srgbClr val="D98B58">
                <a:alpha val="0"/>
              </a:srgbClr>
            </a:solidFill>
            <a:prstDash val="solid"/>
          </a:ln>
        </p:spPr>
      </p:sp>
      <p:sp>
        <p:nvSpPr>
          <p:cNvPr id="5" name="Shape 3"/>
          <p:cNvSpPr/>
          <p:nvPr/>
        </p:nvSpPr>
        <p:spPr>
          <a:xfrm>
            <a:off x="603504" y="6460236"/>
            <a:ext cx="10981944" cy="0"/>
          </a:xfrm>
          <a:prstGeom prst="line">
            <a:avLst/>
          </a:prstGeom>
          <a:noFill/>
          <a:ln w="8255">
            <a:solidFill>
              <a:srgbClr val="274054"/>
            </a:solidFill>
            <a:prstDash val="solid"/>
            <a:headEnd type="none"/>
            <a:tailEnd type="none"/>
          </a:ln>
        </p:spPr>
      </p:sp>
      <p:sp>
        <p:nvSpPr>
          <p:cNvPr id="6" name="Text 4"/>
          <p:cNvSpPr/>
          <p:nvPr/>
        </p:nvSpPr>
        <p:spPr>
          <a:xfrm>
            <a:off x="612648" y="6537960"/>
            <a:ext cx="7315200" cy="173736"/>
          </a:xfrm>
          <a:prstGeom prst="rect">
            <a:avLst/>
          </a:prstGeom>
          <a:noFill/>
          <a:ln/>
        </p:spPr>
        <p:txBody>
          <a:bodyPr wrap="square" lIns="0" tIns="0" rIns="0" bIns="0" rtlCol="0" anchor="ctr">
            <a:normAutofit/>
          </a:bodyPr>
          <a:lstStyle/>
          <a:p>
            <a:pPr indent="0" marL="0">
              <a:buNone/>
            </a:pPr>
            <a:r>
              <a:rPr lang="en-US" sz="810" b="1" spc="75" kern="0" dirty="0">
                <a:solidFill>
                  <a:srgbClr val="9DAFC1"/>
                </a:solidFill>
                <a:latin typeface="Inter Display" pitchFamily="34" charset="0"/>
                <a:ea typeface="Inter Display" pitchFamily="34" charset="-122"/>
                <a:cs typeface="Inter Display" pitchFamily="34" charset="-120"/>
              </a:rPr>
              <a:t>REKODE DIGITAL  /  WINNEMUCCA · NORTHERN NEVADA</a:t>
            </a:r>
            <a:endParaRPr lang="en-US" sz="810" dirty="0"/>
          </a:p>
        </p:txBody>
      </p:sp>
      <p:sp>
        <p:nvSpPr>
          <p:cNvPr id="7" name="Text 5"/>
          <p:cNvSpPr/>
          <p:nvPr/>
        </p:nvSpPr>
        <p:spPr>
          <a:xfrm>
            <a:off x="11091672" y="6510528"/>
            <a:ext cx="475488" cy="210312"/>
          </a:xfrm>
          <a:prstGeom prst="rect">
            <a:avLst/>
          </a:prstGeom>
          <a:noFill/>
          <a:ln/>
        </p:spPr>
        <p:txBody>
          <a:bodyPr wrap="square" lIns="0" tIns="0" rIns="0" bIns="0" rtlCol="0" anchor="ctr">
            <a:normAutofit/>
          </a:bodyPr>
          <a:lstStyle/>
          <a:p>
            <a:pPr algn="r" indent="0" marL="0">
              <a:buNone/>
            </a:pPr>
            <a:r>
              <a:rPr lang="en-US" sz="900" b="1" dirty="0">
                <a:solidFill>
                  <a:srgbClr val="D98B58"/>
                </a:solidFill>
                <a:latin typeface="Inter Display" pitchFamily="34" charset="0"/>
                <a:ea typeface="Inter Display" pitchFamily="34" charset="-122"/>
                <a:cs typeface="Inter Display" pitchFamily="34" charset="-120"/>
              </a:rPr>
              <a:t>08</a:t>
            </a:r>
            <a:endParaRPr lang="en-US" sz="900" dirty="0"/>
          </a:p>
        </p:txBody>
      </p:sp>
      <p:sp>
        <p:nvSpPr>
          <p:cNvPr id="8" name="Text 6"/>
          <p:cNvSpPr/>
          <p:nvPr/>
        </p:nvSpPr>
        <p:spPr>
          <a:xfrm>
            <a:off x="621792" y="466344"/>
            <a:ext cx="9966960" cy="237744"/>
          </a:xfrm>
          <a:prstGeom prst="rect">
            <a:avLst/>
          </a:prstGeom>
          <a:noFill/>
          <a:ln/>
        </p:spPr>
        <p:txBody>
          <a:bodyPr wrap="square" lIns="0" tIns="0" rIns="0" bIns="0" rtlCol="0" anchor="ctr">
            <a:normAutofit/>
          </a:bodyPr>
          <a:lstStyle/>
          <a:p>
            <a:pPr indent="0" marL="0">
              <a:buNone/>
            </a:pPr>
            <a:r>
              <a:rPr lang="en-US" sz="960" b="1" spc="260" kern="0" dirty="0">
                <a:solidFill>
                  <a:srgbClr val="D98B58"/>
                </a:solidFill>
                <a:latin typeface="Inter Display" pitchFamily="34" charset="0"/>
                <a:ea typeface="Inter Display" pitchFamily="34" charset="-122"/>
                <a:cs typeface="Inter Display" pitchFamily="34" charset="-120"/>
              </a:rPr>
              <a:t>A SIMPLE WORKING PROCESS</a:t>
            </a:r>
            <a:endParaRPr lang="en-US" sz="960" dirty="0"/>
          </a:p>
        </p:txBody>
      </p:sp>
      <p:sp>
        <p:nvSpPr>
          <p:cNvPr id="9" name="Text 7"/>
          <p:cNvSpPr/>
          <p:nvPr/>
        </p:nvSpPr>
        <p:spPr>
          <a:xfrm>
            <a:off x="621792" y="896112"/>
            <a:ext cx="10789920" cy="731520"/>
          </a:xfrm>
          <a:prstGeom prst="rect">
            <a:avLst/>
          </a:prstGeom>
          <a:noFill/>
          <a:ln/>
        </p:spPr>
        <p:txBody>
          <a:bodyPr wrap="square" lIns="0" tIns="0" rIns="0" bIns="0" rtlCol="0" anchor="ctr">
            <a:normAutofit/>
          </a:bodyPr>
          <a:lstStyle/>
          <a:p>
            <a:pPr indent="0" marL="0">
              <a:buNone/>
            </a:pPr>
            <a:r>
              <a:rPr lang="en-US" sz="3200" b="1" dirty="0">
                <a:solidFill>
                  <a:srgbClr val="F6F8FB"/>
                </a:solidFill>
                <a:latin typeface="Inter Display" pitchFamily="34" charset="0"/>
                <a:ea typeface="Inter Display" pitchFamily="34" charset="-122"/>
                <a:cs typeface="Inter Display" pitchFamily="34" charset="-120"/>
              </a:rPr>
              <a:t>From first conversation to finished solution</a:t>
            </a:r>
            <a:endParaRPr lang="en-US" sz="3200" dirty="0"/>
          </a:p>
        </p:txBody>
      </p:sp>
      <p:sp>
        <p:nvSpPr>
          <p:cNvPr id="10" name="Text 8"/>
          <p:cNvSpPr/>
          <p:nvPr/>
        </p:nvSpPr>
        <p:spPr>
          <a:xfrm>
            <a:off x="640080" y="1700784"/>
            <a:ext cx="10698480" cy="475488"/>
          </a:xfrm>
          <a:prstGeom prst="rect">
            <a:avLst/>
          </a:prstGeom>
          <a:noFill/>
          <a:ln/>
        </p:spPr>
        <p:txBody>
          <a:bodyPr wrap="square" lIns="0" tIns="0" rIns="0" bIns="0" rtlCol="0" anchor="ctr">
            <a:normAutofit/>
          </a:bodyPr>
          <a:lstStyle/>
          <a:p>
            <a:pPr indent="0" marL="0">
              <a:buNone/>
            </a:pPr>
            <a:r>
              <a:rPr lang="en-US" sz="1420" dirty="0">
                <a:solidFill>
                  <a:srgbClr val="DAE5EB"/>
                </a:solidFill>
                <a:latin typeface="Inter" pitchFamily="34" charset="0"/>
                <a:ea typeface="Inter" pitchFamily="34" charset="-122"/>
                <a:cs typeface="Inter" pitchFamily="34" charset="-120"/>
              </a:rPr>
              <a:t>Clear decisions, practical steps, and direct communication.</a:t>
            </a:r>
            <a:endParaRPr lang="en-US" sz="1420" dirty="0"/>
          </a:p>
        </p:txBody>
      </p:sp>
      <p:sp>
        <p:nvSpPr>
          <p:cNvPr id="11" name="Shape 9"/>
          <p:cNvSpPr/>
          <p:nvPr/>
        </p:nvSpPr>
        <p:spPr>
          <a:xfrm>
            <a:off x="1188720" y="3236976"/>
            <a:ext cx="9820656" cy="0"/>
          </a:xfrm>
          <a:prstGeom prst="line">
            <a:avLst/>
          </a:prstGeom>
          <a:noFill/>
          <a:ln w="33020">
            <a:solidFill>
              <a:srgbClr val="D98B58"/>
            </a:solidFill>
            <a:prstDash val="solid"/>
            <a:headEnd type="none"/>
            <a:tailEnd type="none"/>
          </a:ln>
        </p:spPr>
      </p:sp>
      <p:sp>
        <p:nvSpPr>
          <p:cNvPr id="12" name="Shape 10"/>
          <p:cNvSpPr/>
          <p:nvPr/>
        </p:nvSpPr>
        <p:spPr>
          <a:xfrm>
            <a:off x="676656" y="2478024"/>
            <a:ext cx="2615184" cy="2770632"/>
          </a:xfrm>
          <a:prstGeom prst="roundRect">
            <a:avLst>
              <a:gd name="adj" fmla="val 4895"/>
            </a:avLst>
          </a:prstGeom>
          <a:solidFill>
            <a:srgbClr val="11263B"/>
          </a:solidFill>
          <a:ln w="12700">
            <a:solidFill>
              <a:srgbClr val="274054"/>
            </a:solidFill>
            <a:prstDash val="solid"/>
          </a:ln>
        </p:spPr>
      </p:sp>
      <p:sp>
        <p:nvSpPr>
          <p:cNvPr id="13" name="Shape 11"/>
          <p:cNvSpPr/>
          <p:nvPr/>
        </p:nvSpPr>
        <p:spPr>
          <a:xfrm>
            <a:off x="932688" y="2898648"/>
            <a:ext cx="658368" cy="658368"/>
          </a:xfrm>
          <a:prstGeom prst="roundRect">
            <a:avLst>
              <a:gd name="adj" fmla="val 48611"/>
            </a:avLst>
          </a:prstGeom>
          <a:solidFill>
            <a:srgbClr val="D98B58"/>
          </a:solidFill>
          <a:ln w="12700">
            <a:solidFill>
              <a:srgbClr val="D98B58">
                <a:alpha val="0"/>
              </a:srgbClr>
            </a:solidFill>
            <a:prstDash val="solid"/>
          </a:ln>
        </p:spPr>
      </p:sp>
      <p:sp>
        <p:nvSpPr>
          <p:cNvPr id="14" name="Text 12"/>
          <p:cNvSpPr/>
          <p:nvPr/>
        </p:nvSpPr>
        <p:spPr>
          <a:xfrm>
            <a:off x="1060704" y="2999232"/>
            <a:ext cx="384048" cy="420624"/>
          </a:xfrm>
          <a:prstGeom prst="rect">
            <a:avLst/>
          </a:prstGeom>
          <a:noFill/>
          <a:ln/>
        </p:spPr>
        <p:txBody>
          <a:bodyPr wrap="square" lIns="0" tIns="0" rIns="0" bIns="0" rtlCol="0" anchor="ctr">
            <a:normAutofit/>
          </a:bodyPr>
          <a:lstStyle/>
          <a:p>
            <a:pPr algn="ctr" indent="0" marL="0">
              <a:buNone/>
            </a:pPr>
            <a:r>
              <a:rPr lang="en-US" sz="1900" b="1" dirty="0">
                <a:solidFill>
                  <a:srgbClr val="071423"/>
                </a:solidFill>
                <a:latin typeface="Inter Display" pitchFamily="34" charset="0"/>
                <a:ea typeface="Inter Display" pitchFamily="34" charset="-122"/>
                <a:cs typeface="Inter Display" pitchFamily="34" charset="-120"/>
              </a:rPr>
              <a:t>1</a:t>
            </a:r>
            <a:endParaRPr lang="en-US" sz="1900" dirty="0"/>
          </a:p>
        </p:txBody>
      </p:sp>
      <p:sp>
        <p:nvSpPr>
          <p:cNvPr id="15" name="Text 13"/>
          <p:cNvSpPr/>
          <p:nvPr/>
        </p:nvSpPr>
        <p:spPr>
          <a:xfrm>
            <a:off x="932688" y="3803904"/>
            <a:ext cx="2148840" cy="374904"/>
          </a:xfrm>
          <a:prstGeom prst="rect">
            <a:avLst/>
          </a:prstGeom>
          <a:noFill/>
          <a:ln/>
        </p:spPr>
        <p:txBody>
          <a:bodyPr wrap="square" lIns="0" tIns="0" rIns="0" bIns="0" rtlCol="0" anchor="ctr">
            <a:normAutofit/>
          </a:bodyPr>
          <a:lstStyle/>
          <a:p>
            <a:pPr indent="0" marL="0">
              <a:buNone/>
            </a:pPr>
            <a:r>
              <a:rPr lang="en-US" sz="1800" b="1" dirty="0">
                <a:solidFill>
                  <a:srgbClr val="F6F8FB"/>
                </a:solidFill>
                <a:latin typeface="Inter Display" pitchFamily="34" charset="0"/>
                <a:ea typeface="Inter Display" pitchFamily="34" charset="-122"/>
                <a:cs typeface="Inter Display" pitchFamily="34" charset="-120"/>
              </a:rPr>
              <a:t>DISCOVER</a:t>
            </a:r>
            <a:endParaRPr lang="en-US" sz="1800" dirty="0"/>
          </a:p>
        </p:txBody>
      </p:sp>
      <p:sp>
        <p:nvSpPr>
          <p:cNvPr id="16" name="Text 14"/>
          <p:cNvSpPr/>
          <p:nvPr/>
        </p:nvSpPr>
        <p:spPr>
          <a:xfrm>
            <a:off x="941832" y="4306824"/>
            <a:ext cx="2139696" cy="685800"/>
          </a:xfrm>
          <a:prstGeom prst="rect">
            <a:avLst/>
          </a:prstGeom>
          <a:noFill/>
          <a:ln/>
        </p:spPr>
        <p:txBody>
          <a:bodyPr wrap="square" lIns="0" tIns="0" rIns="0" bIns="0" rtlCol="0" anchor="ctr">
            <a:normAutofit/>
          </a:bodyPr>
          <a:lstStyle/>
          <a:p>
            <a:pPr indent="0" marL="0">
              <a:buNone/>
            </a:pPr>
            <a:r>
              <a:rPr lang="en-US" sz="1230" dirty="0">
                <a:solidFill>
                  <a:srgbClr val="DAE5EB"/>
                </a:solidFill>
                <a:latin typeface="Inter" pitchFamily="34" charset="0"/>
                <a:ea typeface="Inter" pitchFamily="34" charset="-122"/>
                <a:cs typeface="Inter" pitchFamily="34" charset="-120"/>
              </a:rPr>
              <a:t>Your goals, customers, and pain points</a:t>
            </a:r>
            <a:endParaRPr lang="en-US" sz="1230" dirty="0"/>
          </a:p>
        </p:txBody>
      </p:sp>
      <p:sp>
        <p:nvSpPr>
          <p:cNvPr id="17" name="Shape 15"/>
          <p:cNvSpPr/>
          <p:nvPr/>
        </p:nvSpPr>
        <p:spPr>
          <a:xfrm>
            <a:off x="3611880" y="2478024"/>
            <a:ext cx="2615184" cy="2770632"/>
          </a:xfrm>
          <a:prstGeom prst="roundRect">
            <a:avLst>
              <a:gd name="adj" fmla="val 4895"/>
            </a:avLst>
          </a:prstGeom>
          <a:solidFill>
            <a:srgbClr val="11263B"/>
          </a:solidFill>
          <a:ln w="12700">
            <a:solidFill>
              <a:srgbClr val="274054"/>
            </a:solidFill>
            <a:prstDash val="solid"/>
          </a:ln>
        </p:spPr>
      </p:sp>
      <p:sp>
        <p:nvSpPr>
          <p:cNvPr id="18" name="Shape 16"/>
          <p:cNvSpPr/>
          <p:nvPr/>
        </p:nvSpPr>
        <p:spPr>
          <a:xfrm>
            <a:off x="3867912" y="2898648"/>
            <a:ext cx="658368" cy="658368"/>
          </a:xfrm>
          <a:prstGeom prst="roundRect">
            <a:avLst>
              <a:gd name="adj" fmla="val 48611"/>
            </a:avLst>
          </a:prstGeom>
          <a:solidFill>
            <a:srgbClr val="D98B58"/>
          </a:solidFill>
          <a:ln w="12700">
            <a:solidFill>
              <a:srgbClr val="D98B58">
                <a:alpha val="0"/>
              </a:srgbClr>
            </a:solidFill>
            <a:prstDash val="solid"/>
          </a:ln>
        </p:spPr>
      </p:sp>
      <p:sp>
        <p:nvSpPr>
          <p:cNvPr id="19" name="Text 17"/>
          <p:cNvSpPr/>
          <p:nvPr/>
        </p:nvSpPr>
        <p:spPr>
          <a:xfrm>
            <a:off x="3995928" y="2999232"/>
            <a:ext cx="384048" cy="420624"/>
          </a:xfrm>
          <a:prstGeom prst="rect">
            <a:avLst/>
          </a:prstGeom>
          <a:noFill/>
          <a:ln/>
        </p:spPr>
        <p:txBody>
          <a:bodyPr wrap="square" lIns="0" tIns="0" rIns="0" bIns="0" rtlCol="0" anchor="ctr">
            <a:normAutofit/>
          </a:bodyPr>
          <a:lstStyle/>
          <a:p>
            <a:pPr algn="ctr" indent="0" marL="0">
              <a:buNone/>
            </a:pPr>
            <a:r>
              <a:rPr lang="en-US" sz="1900" b="1" dirty="0">
                <a:solidFill>
                  <a:srgbClr val="071423"/>
                </a:solidFill>
                <a:latin typeface="Inter Display" pitchFamily="34" charset="0"/>
                <a:ea typeface="Inter Display" pitchFamily="34" charset="-122"/>
                <a:cs typeface="Inter Display" pitchFamily="34" charset="-120"/>
              </a:rPr>
              <a:t>2</a:t>
            </a:r>
            <a:endParaRPr lang="en-US" sz="1900" dirty="0"/>
          </a:p>
        </p:txBody>
      </p:sp>
      <p:sp>
        <p:nvSpPr>
          <p:cNvPr id="20" name="Text 18"/>
          <p:cNvSpPr/>
          <p:nvPr/>
        </p:nvSpPr>
        <p:spPr>
          <a:xfrm>
            <a:off x="3867912" y="3803904"/>
            <a:ext cx="2148840" cy="374904"/>
          </a:xfrm>
          <a:prstGeom prst="rect">
            <a:avLst/>
          </a:prstGeom>
          <a:noFill/>
          <a:ln/>
        </p:spPr>
        <p:txBody>
          <a:bodyPr wrap="square" lIns="0" tIns="0" rIns="0" bIns="0" rtlCol="0" anchor="ctr">
            <a:normAutofit/>
          </a:bodyPr>
          <a:lstStyle/>
          <a:p>
            <a:pPr indent="0" marL="0">
              <a:buNone/>
            </a:pPr>
            <a:r>
              <a:rPr lang="en-US" sz="1800" b="1" dirty="0">
                <a:solidFill>
                  <a:srgbClr val="F6F8FB"/>
                </a:solidFill>
                <a:latin typeface="Inter Display" pitchFamily="34" charset="0"/>
                <a:ea typeface="Inter Display" pitchFamily="34" charset="-122"/>
                <a:cs typeface="Inter Display" pitchFamily="34" charset="-120"/>
              </a:rPr>
              <a:t>PLAN</a:t>
            </a:r>
            <a:endParaRPr lang="en-US" sz="1800" dirty="0"/>
          </a:p>
        </p:txBody>
      </p:sp>
      <p:sp>
        <p:nvSpPr>
          <p:cNvPr id="21" name="Text 19"/>
          <p:cNvSpPr/>
          <p:nvPr/>
        </p:nvSpPr>
        <p:spPr>
          <a:xfrm>
            <a:off x="3877056" y="4306824"/>
            <a:ext cx="2139696" cy="685800"/>
          </a:xfrm>
          <a:prstGeom prst="rect">
            <a:avLst/>
          </a:prstGeom>
          <a:noFill/>
          <a:ln/>
        </p:spPr>
        <p:txBody>
          <a:bodyPr wrap="square" lIns="0" tIns="0" rIns="0" bIns="0" rtlCol="0" anchor="ctr">
            <a:normAutofit/>
          </a:bodyPr>
          <a:lstStyle/>
          <a:p>
            <a:pPr indent="0" marL="0">
              <a:buNone/>
            </a:pPr>
            <a:r>
              <a:rPr lang="en-US" sz="1230" dirty="0">
                <a:solidFill>
                  <a:srgbClr val="DAE5EB"/>
                </a:solidFill>
                <a:latin typeface="Inter" pitchFamily="34" charset="0"/>
                <a:ea typeface="Inter" pitchFamily="34" charset="-122"/>
                <a:cs typeface="Inter" pitchFamily="34" charset="-120"/>
              </a:rPr>
              <a:t>Prioritize what the business needs</a:t>
            </a:r>
            <a:endParaRPr lang="en-US" sz="1230" dirty="0"/>
          </a:p>
        </p:txBody>
      </p:sp>
      <p:sp>
        <p:nvSpPr>
          <p:cNvPr id="22" name="Shape 20"/>
          <p:cNvSpPr/>
          <p:nvPr/>
        </p:nvSpPr>
        <p:spPr>
          <a:xfrm>
            <a:off x="6547104" y="2478024"/>
            <a:ext cx="2615184" cy="2770632"/>
          </a:xfrm>
          <a:prstGeom prst="roundRect">
            <a:avLst>
              <a:gd name="adj" fmla="val 4895"/>
            </a:avLst>
          </a:prstGeom>
          <a:solidFill>
            <a:srgbClr val="11263B"/>
          </a:solidFill>
          <a:ln w="12700">
            <a:solidFill>
              <a:srgbClr val="274054"/>
            </a:solidFill>
            <a:prstDash val="solid"/>
          </a:ln>
        </p:spPr>
      </p:sp>
      <p:sp>
        <p:nvSpPr>
          <p:cNvPr id="23" name="Shape 21"/>
          <p:cNvSpPr/>
          <p:nvPr/>
        </p:nvSpPr>
        <p:spPr>
          <a:xfrm>
            <a:off x="6803136" y="2898648"/>
            <a:ext cx="658368" cy="658368"/>
          </a:xfrm>
          <a:prstGeom prst="roundRect">
            <a:avLst>
              <a:gd name="adj" fmla="val 48611"/>
            </a:avLst>
          </a:prstGeom>
          <a:solidFill>
            <a:srgbClr val="D98B58"/>
          </a:solidFill>
          <a:ln w="12700">
            <a:solidFill>
              <a:srgbClr val="D98B58">
                <a:alpha val="0"/>
              </a:srgbClr>
            </a:solidFill>
            <a:prstDash val="solid"/>
          </a:ln>
        </p:spPr>
      </p:sp>
      <p:sp>
        <p:nvSpPr>
          <p:cNvPr id="24" name="Text 22"/>
          <p:cNvSpPr/>
          <p:nvPr/>
        </p:nvSpPr>
        <p:spPr>
          <a:xfrm>
            <a:off x="6931152" y="2999232"/>
            <a:ext cx="384048" cy="420624"/>
          </a:xfrm>
          <a:prstGeom prst="rect">
            <a:avLst/>
          </a:prstGeom>
          <a:noFill/>
          <a:ln/>
        </p:spPr>
        <p:txBody>
          <a:bodyPr wrap="square" lIns="0" tIns="0" rIns="0" bIns="0" rtlCol="0" anchor="ctr">
            <a:normAutofit/>
          </a:bodyPr>
          <a:lstStyle/>
          <a:p>
            <a:pPr algn="ctr" indent="0" marL="0">
              <a:buNone/>
            </a:pPr>
            <a:r>
              <a:rPr lang="en-US" sz="1900" b="1" dirty="0">
                <a:solidFill>
                  <a:srgbClr val="071423"/>
                </a:solidFill>
                <a:latin typeface="Inter Display" pitchFamily="34" charset="0"/>
                <a:ea typeface="Inter Display" pitchFamily="34" charset="-122"/>
                <a:cs typeface="Inter Display" pitchFamily="34" charset="-120"/>
              </a:rPr>
              <a:t>3</a:t>
            </a:r>
            <a:endParaRPr lang="en-US" sz="1900" dirty="0"/>
          </a:p>
        </p:txBody>
      </p:sp>
      <p:sp>
        <p:nvSpPr>
          <p:cNvPr id="25" name="Text 23"/>
          <p:cNvSpPr/>
          <p:nvPr/>
        </p:nvSpPr>
        <p:spPr>
          <a:xfrm>
            <a:off x="6803136" y="3803904"/>
            <a:ext cx="2148840" cy="374904"/>
          </a:xfrm>
          <a:prstGeom prst="rect">
            <a:avLst/>
          </a:prstGeom>
          <a:noFill/>
          <a:ln/>
        </p:spPr>
        <p:txBody>
          <a:bodyPr wrap="square" lIns="0" tIns="0" rIns="0" bIns="0" rtlCol="0" anchor="ctr">
            <a:normAutofit/>
          </a:bodyPr>
          <a:lstStyle/>
          <a:p>
            <a:pPr indent="0" marL="0">
              <a:buNone/>
            </a:pPr>
            <a:r>
              <a:rPr lang="en-US" sz="1800" b="1" dirty="0">
                <a:solidFill>
                  <a:srgbClr val="F6F8FB"/>
                </a:solidFill>
                <a:latin typeface="Inter Display" pitchFamily="34" charset="0"/>
                <a:ea typeface="Inter Display" pitchFamily="34" charset="-122"/>
                <a:cs typeface="Inter Display" pitchFamily="34" charset="-120"/>
              </a:rPr>
              <a:t>BUILD</a:t>
            </a:r>
            <a:endParaRPr lang="en-US" sz="1800" dirty="0"/>
          </a:p>
        </p:txBody>
      </p:sp>
      <p:sp>
        <p:nvSpPr>
          <p:cNvPr id="26" name="Text 24"/>
          <p:cNvSpPr/>
          <p:nvPr/>
        </p:nvSpPr>
        <p:spPr>
          <a:xfrm>
            <a:off x="6812280" y="4306824"/>
            <a:ext cx="2139696" cy="685800"/>
          </a:xfrm>
          <a:prstGeom prst="rect">
            <a:avLst/>
          </a:prstGeom>
          <a:noFill/>
          <a:ln/>
        </p:spPr>
        <p:txBody>
          <a:bodyPr wrap="square" lIns="0" tIns="0" rIns="0" bIns="0" rtlCol="0" anchor="ctr">
            <a:normAutofit/>
          </a:bodyPr>
          <a:lstStyle/>
          <a:p>
            <a:pPr indent="0" marL="0">
              <a:buNone/>
            </a:pPr>
            <a:r>
              <a:rPr lang="en-US" sz="1230" dirty="0">
                <a:solidFill>
                  <a:srgbClr val="DAE5EB"/>
                </a:solidFill>
                <a:latin typeface="Inter" pitchFamily="34" charset="0"/>
                <a:ea typeface="Inter" pitchFamily="34" charset="-122"/>
                <a:cs typeface="Inter" pitchFamily="34" charset="-120"/>
              </a:rPr>
              <a:t>Design, develop, and refine</a:t>
            </a:r>
            <a:endParaRPr lang="en-US" sz="1230" dirty="0"/>
          </a:p>
        </p:txBody>
      </p:sp>
      <p:sp>
        <p:nvSpPr>
          <p:cNvPr id="27" name="Shape 25"/>
          <p:cNvSpPr/>
          <p:nvPr/>
        </p:nvSpPr>
        <p:spPr>
          <a:xfrm>
            <a:off x="9482328" y="2478024"/>
            <a:ext cx="2615184" cy="2770632"/>
          </a:xfrm>
          <a:prstGeom prst="roundRect">
            <a:avLst>
              <a:gd name="adj" fmla="val 4895"/>
            </a:avLst>
          </a:prstGeom>
          <a:solidFill>
            <a:srgbClr val="11263B"/>
          </a:solidFill>
          <a:ln w="12700">
            <a:solidFill>
              <a:srgbClr val="274054"/>
            </a:solidFill>
            <a:prstDash val="solid"/>
          </a:ln>
        </p:spPr>
      </p:sp>
      <p:sp>
        <p:nvSpPr>
          <p:cNvPr id="28" name="Shape 26"/>
          <p:cNvSpPr/>
          <p:nvPr/>
        </p:nvSpPr>
        <p:spPr>
          <a:xfrm>
            <a:off x="9738360" y="2898648"/>
            <a:ext cx="658368" cy="658368"/>
          </a:xfrm>
          <a:prstGeom prst="roundRect">
            <a:avLst>
              <a:gd name="adj" fmla="val 48611"/>
            </a:avLst>
          </a:prstGeom>
          <a:solidFill>
            <a:srgbClr val="D98B58"/>
          </a:solidFill>
          <a:ln w="12700">
            <a:solidFill>
              <a:srgbClr val="D98B58">
                <a:alpha val="0"/>
              </a:srgbClr>
            </a:solidFill>
            <a:prstDash val="solid"/>
          </a:ln>
        </p:spPr>
      </p:sp>
      <p:sp>
        <p:nvSpPr>
          <p:cNvPr id="29" name="Text 27"/>
          <p:cNvSpPr/>
          <p:nvPr/>
        </p:nvSpPr>
        <p:spPr>
          <a:xfrm>
            <a:off x="9866376" y="2999232"/>
            <a:ext cx="384048" cy="420624"/>
          </a:xfrm>
          <a:prstGeom prst="rect">
            <a:avLst/>
          </a:prstGeom>
          <a:noFill/>
          <a:ln/>
        </p:spPr>
        <p:txBody>
          <a:bodyPr wrap="square" lIns="0" tIns="0" rIns="0" bIns="0" rtlCol="0" anchor="ctr">
            <a:normAutofit/>
          </a:bodyPr>
          <a:lstStyle/>
          <a:p>
            <a:pPr algn="ctr" indent="0" marL="0">
              <a:buNone/>
            </a:pPr>
            <a:r>
              <a:rPr lang="en-US" sz="1900" b="1" dirty="0">
                <a:solidFill>
                  <a:srgbClr val="071423"/>
                </a:solidFill>
                <a:latin typeface="Inter Display" pitchFamily="34" charset="0"/>
                <a:ea typeface="Inter Display" pitchFamily="34" charset="-122"/>
                <a:cs typeface="Inter Display" pitchFamily="34" charset="-120"/>
              </a:rPr>
              <a:t>4</a:t>
            </a:r>
            <a:endParaRPr lang="en-US" sz="1900" dirty="0"/>
          </a:p>
        </p:txBody>
      </p:sp>
      <p:sp>
        <p:nvSpPr>
          <p:cNvPr id="30" name="Text 28"/>
          <p:cNvSpPr/>
          <p:nvPr/>
        </p:nvSpPr>
        <p:spPr>
          <a:xfrm>
            <a:off x="9738360" y="3803904"/>
            <a:ext cx="2148840" cy="374904"/>
          </a:xfrm>
          <a:prstGeom prst="rect">
            <a:avLst/>
          </a:prstGeom>
          <a:noFill/>
          <a:ln/>
        </p:spPr>
        <p:txBody>
          <a:bodyPr wrap="square" lIns="0" tIns="0" rIns="0" bIns="0" rtlCol="0" anchor="ctr">
            <a:normAutofit/>
          </a:bodyPr>
          <a:lstStyle/>
          <a:p>
            <a:pPr indent="0" marL="0">
              <a:buNone/>
            </a:pPr>
            <a:r>
              <a:rPr lang="en-US" sz="1800" b="1" dirty="0">
                <a:solidFill>
                  <a:srgbClr val="F6F8FB"/>
                </a:solidFill>
                <a:latin typeface="Inter Display" pitchFamily="34" charset="0"/>
                <a:ea typeface="Inter Display" pitchFamily="34" charset="-122"/>
                <a:cs typeface="Inter Display" pitchFamily="34" charset="-120"/>
              </a:rPr>
              <a:t>LAUNCH</a:t>
            </a:r>
            <a:endParaRPr lang="en-US" sz="1800" dirty="0"/>
          </a:p>
        </p:txBody>
      </p:sp>
      <p:sp>
        <p:nvSpPr>
          <p:cNvPr id="31" name="Text 29"/>
          <p:cNvSpPr/>
          <p:nvPr/>
        </p:nvSpPr>
        <p:spPr>
          <a:xfrm>
            <a:off x="9747504" y="4306824"/>
            <a:ext cx="2139696" cy="685800"/>
          </a:xfrm>
          <a:prstGeom prst="rect">
            <a:avLst/>
          </a:prstGeom>
          <a:noFill/>
          <a:ln/>
        </p:spPr>
        <p:txBody>
          <a:bodyPr wrap="square" lIns="0" tIns="0" rIns="0" bIns="0" rtlCol="0" anchor="ctr">
            <a:normAutofit/>
          </a:bodyPr>
          <a:lstStyle/>
          <a:p>
            <a:pPr indent="0" marL="0">
              <a:buNone/>
            </a:pPr>
            <a:r>
              <a:rPr lang="en-US" sz="1230" dirty="0">
                <a:solidFill>
                  <a:srgbClr val="DAE5EB"/>
                </a:solidFill>
                <a:latin typeface="Inter" pitchFamily="34" charset="0"/>
                <a:ea typeface="Inter" pitchFamily="34" charset="-122"/>
                <a:cs typeface="Inter" pitchFamily="34" charset="-120"/>
              </a:rPr>
              <a:t>Go live and review what’s next</a:t>
            </a:r>
            <a:endParaRPr lang="en-US" sz="1230" dirty="0"/>
          </a:p>
        </p:txBody>
      </p:sp>
      <p:sp>
        <p:nvSpPr>
          <p:cNvPr id="32" name="Shape 30"/>
          <p:cNvSpPr/>
          <p:nvPr/>
        </p:nvSpPr>
        <p:spPr>
          <a:xfrm>
            <a:off x="1069848" y="5586984"/>
            <a:ext cx="10104120" cy="484632"/>
          </a:xfrm>
          <a:prstGeom prst="roundRect">
            <a:avLst>
              <a:gd name="adj" fmla="val 22642"/>
            </a:avLst>
          </a:prstGeom>
          <a:solidFill>
            <a:srgbClr val="122A3E"/>
          </a:solidFill>
          <a:ln w="12700">
            <a:solidFill>
              <a:srgbClr val="122A3E">
                <a:alpha val="0"/>
              </a:srgbClr>
            </a:solidFill>
            <a:prstDash val="solid"/>
          </a:ln>
        </p:spPr>
      </p:sp>
      <p:sp>
        <p:nvSpPr>
          <p:cNvPr id="33" name="Text 31"/>
          <p:cNvSpPr/>
          <p:nvPr/>
        </p:nvSpPr>
        <p:spPr>
          <a:xfrm>
            <a:off x="1225296" y="5696712"/>
            <a:ext cx="9784080" cy="246888"/>
          </a:xfrm>
          <a:prstGeom prst="rect">
            <a:avLst/>
          </a:prstGeom>
          <a:noFill/>
          <a:ln/>
        </p:spPr>
        <p:txBody>
          <a:bodyPr wrap="square" lIns="0" tIns="0" rIns="0" bIns="0" rtlCol="0" anchor="ctr">
            <a:normAutofit/>
          </a:bodyPr>
          <a:lstStyle/>
          <a:p>
            <a:pPr algn="ctr" indent="0" marL="0">
              <a:buNone/>
            </a:pPr>
            <a:r>
              <a:rPr lang="en-US" sz="1300" b="1" dirty="0">
                <a:solidFill>
                  <a:srgbClr val="F0B080"/>
                </a:solidFill>
                <a:latin typeface="Inter Display" pitchFamily="34" charset="0"/>
                <a:ea typeface="Inter Display" pitchFamily="34" charset="-122"/>
                <a:cs typeface="Inter Display" pitchFamily="34" charset="-120"/>
              </a:rPr>
              <a:t>You work directly with Rekode Digital — no big-agency runaround.</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71423"/>
        </a:solidFill>
      </p:bgPr>
    </p:bg>
    <p:spTree>
      <p:nvGrpSpPr>
        <p:cNvPr id="1" name=""/>
        <p:cNvGrpSpPr/>
        <p:nvPr/>
      </p:nvGrpSpPr>
      <p:grpSpPr>
        <a:xfrm>
          <a:off x="0" y="0"/>
          <a:ext cx="0" cy="0"/>
          <a:chOff x="0" y="0"/>
          <a:chExt cx="0" cy="0"/>
        </a:xfrm>
      </p:grpSpPr>
      <p:sp>
        <p:nvSpPr>
          <p:cNvPr id="2" name="Shape 0"/>
          <p:cNvSpPr/>
          <p:nvPr/>
        </p:nvSpPr>
        <p:spPr>
          <a:xfrm>
            <a:off x="0" y="0"/>
            <a:ext cx="12192000" cy="43891"/>
          </a:xfrm>
          <a:prstGeom prst="rect">
            <a:avLst/>
          </a:prstGeom>
          <a:solidFill>
            <a:srgbClr val="D98B58"/>
          </a:solidFill>
          <a:ln w="12700">
            <a:solidFill>
              <a:srgbClr val="D98B58">
                <a:alpha val="0"/>
              </a:srgbClr>
            </a:solidFill>
            <a:prstDash val="solid"/>
          </a:ln>
        </p:spPr>
      </p:sp>
      <p:sp>
        <p:nvSpPr>
          <p:cNvPr id="3" name="Shape 1"/>
          <p:cNvSpPr/>
          <p:nvPr/>
        </p:nvSpPr>
        <p:spPr>
          <a:xfrm>
            <a:off x="11750040" y="0"/>
            <a:ext cx="438912" cy="43891"/>
          </a:xfrm>
          <a:prstGeom prst="rect">
            <a:avLst/>
          </a:prstGeom>
          <a:solidFill>
            <a:srgbClr val="F0B080"/>
          </a:solidFill>
          <a:ln w="12700">
            <a:solidFill>
              <a:srgbClr val="F0B080">
                <a:alpha val="0"/>
              </a:srgbClr>
            </a:solidFill>
            <a:prstDash val="solid"/>
          </a:ln>
        </p:spPr>
      </p:sp>
      <p:sp>
        <p:nvSpPr>
          <p:cNvPr id="4" name="Shape 2"/>
          <p:cNvSpPr/>
          <p:nvPr/>
        </p:nvSpPr>
        <p:spPr>
          <a:xfrm>
            <a:off x="11841480" y="822960"/>
            <a:ext cx="118872" cy="3749040"/>
          </a:xfrm>
          <a:prstGeom prst="rect">
            <a:avLst/>
          </a:prstGeom>
          <a:solidFill>
            <a:srgbClr val="D98B58">
              <a:alpha val="10000"/>
            </a:srgbClr>
          </a:solidFill>
          <a:ln w="12700">
            <a:solidFill>
              <a:srgbClr val="D98B58">
                <a:alpha val="0"/>
              </a:srgbClr>
            </a:solidFill>
            <a:prstDash val="solid"/>
          </a:ln>
        </p:spPr>
      </p:sp>
      <p:sp>
        <p:nvSpPr>
          <p:cNvPr id="5" name="Shape 3"/>
          <p:cNvSpPr/>
          <p:nvPr/>
        </p:nvSpPr>
        <p:spPr>
          <a:xfrm>
            <a:off x="603504" y="6460236"/>
            <a:ext cx="10981944" cy="0"/>
          </a:xfrm>
          <a:prstGeom prst="line">
            <a:avLst/>
          </a:prstGeom>
          <a:noFill/>
          <a:ln w="8255">
            <a:solidFill>
              <a:srgbClr val="274054"/>
            </a:solidFill>
            <a:prstDash val="solid"/>
            <a:headEnd type="none"/>
            <a:tailEnd type="none"/>
          </a:ln>
        </p:spPr>
      </p:sp>
      <p:sp>
        <p:nvSpPr>
          <p:cNvPr id="6" name="Text 4"/>
          <p:cNvSpPr/>
          <p:nvPr/>
        </p:nvSpPr>
        <p:spPr>
          <a:xfrm>
            <a:off x="612648" y="6537960"/>
            <a:ext cx="7315200" cy="173736"/>
          </a:xfrm>
          <a:prstGeom prst="rect">
            <a:avLst/>
          </a:prstGeom>
          <a:noFill/>
          <a:ln/>
        </p:spPr>
        <p:txBody>
          <a:bodyPr wrap="square" lIns="0" tIns="0" rIns="0" bIns="0" rtlCol="0" anchor="ctr">
            <a:normAutofit/>
          </a:bodyPr>
          <a:lstStyle/>
          <a:p>
            <a:pPr indent="0" marL="0">
              <a:buNone/>
            </a:pPr>
            <a:r>
              <a:rPr lang="en-US" sz="810" b="1" spc="75" kern="0" dirty="0">
                <a:solidFill>
                  <a:srgbClr val="9DAFC1"/>
                </a:solidFill>
                <a:latin typeface="Inter Display" pitchFamily="34" charset="0"/>
                <a:ea typeface="Inter Display" pitchFamily="34" charset="-122"/>
                <a:cs typeface="Inter Display" pitchFamily="34" charset="-120"/>
              </a:rPr>
              <a:t>REKODE DIGITAL  /  WINNEMUCCA · NORTHERN NEVADA</a:t>
            </a:r>
            <a:endParaRPr lang="en-US" sz="810" dirty="0"/>
          </a:p>
        </p:txBody>
      </p:sp>
      <p:sp>
        <p:nvSpPr>
          <p:cNvPr id="7" name="Text 5"/>
          <p:cNvSpPr/>
          <p:nvPr/>
        </p:nvSpPr>
        <p:spPr>
          <a:xfrm>
            <a:off x="11091672" y="6510528"/>
            <a:ext cx="475488" cy="210312"/>
          </a:xfrm>
          <a:prstGeom prst="rect">
            <a:avLst/>
          </a:prstGeom>
          <a:noFill/>
          <a:ln/>
        </p:spPr>
        <p:txBody>
          <a:bodyPr wrap="square" lIns="0" tIns="0" rIns="0" bIns="0" rtlCol="0" anchor="ctr">
            <a:normAutofit/>
          </a:bodyPr>
          <a:lstStyle/>
          <a:p>
            <a:pPr algn="r" indent="0" marL="0">
              <a:buNone/>
            </a:pPr>
            <a:r>
              <a:rPr lang="en-US" sz="900" b="1" dirty="0">
                <a:solidFill>
                  <a:srgbClr val="D98B58"/>
                </a:solidFill>
                <a:latin typeface="Inter Display" pitchFamily="34" charset="0"/>
                <a:ea typeface="Inter Display" pitchFamily="34" charset="-122"/>
                <a:cs typeface="Inter Display" pitchFamily="34" charset="-120"/>
              </a:rPr>
              <a:t>09</a:t>
            </a:r>
            <a:endParaRPr lang="en-US" sz="900" dirty="0"/>
          </a:p>
        </p:txBody>
      </p:sp>
      <p:sp>
        <p:nvSpPr>
          <p:cNvPr id="8" name="Text 6"/>
          <p:cNvSpPr/>
          <p:nvPr/>
        </p:nvSpPr>
        <p:spPr>
          <a:xfrm>
            <a:off x="621792" y="466344"/>
            <a:ext cx="9966960" cy="237744"/>
          </a:xfrm>
          <a:prstGeom prst="rect">
            <a:avLst/>
          </a:prstGeom>
          <a:noFill/>
          <a:ln/>
        </p:spPr>
        <p:txBody>
          <a:bodyPr wrap="square" lIns="0" tIns="0" rIns="0" bIns="0" rtlCol="0" anchor="ctr">
            <a:normAutofit/>
          </a:bodyPr>
          <a:lstStyle/>
          <a:p>
            <a:pPr indent="0" marL="0">
              <a:buNone/>
            </a:pPr>
            <a:r>
              <a:rPr lang="en-US" sz="960" b="1" spc="260" kern="0" dirty="0">
                <a:solidFill>
                  <a:srgbClr val="D98B58"/>
                </a:solidFill>
                <a:latin typeface="Inter Display" pitchFamily="34" charset="0"/>
                <a:ea typeface="Inter Display" pitchFamily="34" charset="-122"/>
                <a:cs typeface="Inter Display" pitchFamily="34" charset="-120"/>
              </a:rPr>
              <a:t>A NO-PRESSURE START</a:t>
            </a:r>
            <a:endParaRPr lang="en-US" sz="960" dirty="0"/>
          </a:p>
        </p:txBody>
      </p:sp>
      <p:sp>
        <p:nvSpPr>
          <p:cNvPr id="9" name="Text 7"/>
          <p:cNvSpPr/>
          <p:nvPr/>
        </p:nvSpPr>
        <p:spPr>
          <a:xfrm>
            <a:off x="621792" y="896112"/>
            <a:ext cx="10789920" cy="731520"/>
          </a:xfrm>
          <a:prstGeom prst="rect">
            <a:avLst/>
          </a:prstGeom>
          <a:noFill/>
          <a:ln/>
        </p:spPr>
        <p:txBody>
          <a:bodyPr wrap="square" lIns="0" tIns="0" rIns="0" bIns="0" rtlCol="0" anchor="ctr">
            <a:normAutofit/>
          </a:bodyPr>
          <a:lstStyle/>
          <a:p>
            <a:pPr indent="0" marL="0">
              <a:buNone/>
            </a:pPr>
            <a:r>
              <a:rPr lang="en-US" sz="3200" b="1" dirty="0">
                <a:solidFill>
                  <a:srgbClr val="F6F8FB"/>
                </a:solidFill>
                <a:latin typeface="Inter Display" pitchFamily="34" charset="0"/>
                <a:ea typeface="Inter Display" pitchFamily="34" charset="-122"/>
                <a:cs typeface="Inter Display" pitchFamily="34" charset="-120"/>
              </a:rPr>
              <a:t>The Free Business Visibility Review</a:t>
            </a:r>
            <a:endParaRPr lang="en-US" sz="3200" dirty="0"/>
          </a:p>
        </p:txBody>
      </p:sp>
      <p:sp>
        <p:nvSpPr>
          <p:cNvPr id="10" name="Text 8"/>
          <p:cNvSpPr/>
          <p:nvPr/>
        </p:nvSpPr>
        <p:spPr>
          <a:xfrm>
            <a:off x="640080" y="1700784"/>
            <a:ext cx="10698480" cy="475488"/>
          </a:xfrm>
          <a:prstGeom prst="rect">
            <a:avLst/>
          </a:prstGeom>
          <a:noFill/>
          <a:ln/>
        </p:spPr>
        <p:txBody>
          <a:bodyPr wrap="square" lIns="0" tIns="0" rIns="0" bIns="0" rtlCol="0" anchor="ctr">
            <a:normAutofit/>
          </a:bodyPr>
          <a:lstStyle/>
          <a:p>
            <a:pPr indent="0" marL="0">
              <a:buNone/>
            </a:pPr>
            <a:r>
              <a:rPr lang="en-US" sz="1420" dirty="0">
                <a:solidFill>
                  <a:srgbClr val="DAE5EB"/>
                </a:solidFill>
                <a:latin typeface="Inter" pitchFamily="34" charset="0"/>
                <a:ea typeface="Inter" pitchFamily="34" charset="-122"/>
                <a:cs typeface="Inter" pitchFamily="34" charset="-120"/>
              </a:rPr>
              <a:t>A personalized look at how customers experience your business online.</a:t>
            </a:r>
            <a:endParaRPr lang="en-US" sz="1420" dirty="0"/>
          </a:p>
        </p:txBody>
      </p:sp>
      <p:sp>
        <p:nvSpPr>
          <p:cNvPr id="11" name="Shape 9"/>
          <p:cNvSpPr/>
          <p:nvPr/>
        </p:nvSpPr>
        <p:spPr>
          <a:xfrm>
            <a:off x="667512" y="2331720"/>
            <a:ext cx="3694176" cy="1152144"/>
          </a:xfrm>
          <a:prstGeom prst="roundRect">
            <a:avLst>
              <a:gd name="adj" fmla="val 10317"/>
            </a:avLst>
          </a:prstGeom>
          <a:solidFill>
            <a:srgbClr val="11263B"/>
          </a:solidFill>
          <a:ln w="12700">
            <a:solidFill>
              <a:srgbClr val="274054"/>
            </a:solidFill>
            <a:prstDash val="solid"/>
          </a:ln>
        </p:spPr>
      </p:sp>
      <p:sp>
        <p:nvSpPr>
          <p:cNvPr id="12" name="Shape 10"/>
          <p:cNvSpPr/>
          <p:nvPr/>
        </p:nvSpPr>
        <p:spPr>
          <a:xfrm>
            <a:off x="841248" y="2542032"/>
            <a:ext cx="429768" cy="429768"/>
          </a:xfrm>
          <a:prstGeom prst="roundRect">
            <a:avLst>
              <a:gd name="adj" fmla="val 42553"/>
            </a:avLst>
          </a:prstGeom>
          <a:solidFill>
            <a:srgbClr val="D98B58"/>
          </a:solidFill>
          <a:ln w="12700">
            <a:solidFill>
              <a:srgbClr val="D98B58">
                <a:alpha val="0"/>
              </a:srgbClr>
            </a:solidFill>
            <a:prstDash val="solid"/>
          </a:ln>
        </p:spPr>
      </p:sp>
      <p:sp>
        <p:nvSpPr>
          <p:cNvPr id="13" name="Text 11"/>
          <p:cNvSpPr/>
          <p:nvPr/>
        </p:nvSpPr>
        <p:spPr>
          <a:xfrm>
            <a:off x="932688" y="2615184"/>
            <a:ext cx="256032" cy="256032"/>
          </a:xfrm>
          <a:prstGeom prst="rect">
            <a:avLst/>
          </a:prstGeom>
          <a:noFill/>
          <a:ln/>
        </p:spPr>
        <p:txBody>
          <a:bodyPr wrap="square" lIns="0" tIns="0" rIns="0" bIns="0" rtlCol="0" anchor="ctr">
            <a:normAutofit/>
          </a:bodyPr>
          <a:lstStyle/>
          <a:p>
            <a:pPr algn="ctr" indent="0" marL="0">
              <a:buNone/>
            </a:pPr>
            <a:r>
              <a:rPr lang="en-US" sz="1400" b="1" dirty="0">
                <a:solidFill>
                  <a:srgbClr val="091321"/>
                </a:solidFill>
                <a:latin typeface="Inter Display" pitchFamily="34" charset="0"/>
                <a:ea typeface="Inter Display" pitchFamily="34" charset="-122"/>
                <a:cs typeface="Inter Display" pitchFamily="34" charset="-120"/>
              </a:rPr>
              <a:t>✓</a:t>
            </a:r>
            <a:endParaRPr lang="en-US" sz="1400" dirty="0"/>
          </a:p>
        </p:txBody>
      </p:sp>
      <p:sp>
        <p:nvSpPr>
          <p:cNvPr id="14" name="Text 12"/>
          <p:cNvSpPr/>
          <p:nvPr/>
        </p:nvSpPr>
        <p:spPr>
          <a:xfrm>
            <a:off x="1399032" y="2514600"/>
            <a:ext cx="2743200" cy="356616"/>
          </a:xfrm>
          <a:prstGeom prst="rect">
            <a:avLst/>
          </a:prstGeom>
          <a:noFill/>
          <a:ln/>
        </p:spPr>
        <p:txBody>
          <a:bodyPr wrap="square" lIns="0" tIns="0" rIns="0" bIns="0" rtlCol="0" anchor="ctr">
            <a:normAutofit/>
          </a:bodyPr>
          <a:lstStyle/>
          <a:p>
            <a:pPr indent="0" marL="0">
              <a:buNone/>
            </a:pPr>
            <a:r>
              <a:rPr lang="en-US" sz="1410" b="1" dirty="0">
                <a:solidFill>
                  <a:srgbClr val="F6F8FB"/>
                </a:solidFill>
                <a:latin typeface="Inter Display" pitchFamily="34" charset="0"/>
                <a:ea typeface="Inter Display" pitchFamily="34" charset="-122"/>
                <a:cs typeface="Inter Display" pitchFamily="34" charset="-120"/>
              </a:rPr>
              <a:t>Local search visibility</a:t>
            </a:r>
            <a:endParaRPr lang="en-US" sz="1410" dirty="0"/>
          </a:p>
        </p:txBody>
      </p:sp>
      <p:sp>
        <p:nvSpPr>
          <p:cNvPr id="15" name="Text 13"/>
          <p:cNvSpPr/>
          <p:nvPr/>
        </p:nvSpPr>
        <p:spPr>
          <a:xfrm>
            <a:off x="1408176" y="2944368"/>
            <a:ext cx="2724912" cy="338328"/>
          </a:xfrm>
          <a:prstGeom prst="rect">
            <a:avLst/>
          </a:prstGeom>
          <a:noFill/>
          <a:ln/>
        </p:spPr>
        <p:txBody>
          <a:bodyPr wrap="square" lIns="0" tIns="0" rIns="0" bIns="0" rtlCol="0" anchor="ctr">
            <a:normAutofit/>
          </a:bodyPr>
          <a:lstStyle/>
          <a:p>
            <a:pPr indent="0" marL="0">
              <a:buNone/>
            </a:pPr>
            <a:r>
              <a:rPr lang="en-US" sz="1150" dirty="0">
                <a:solidFill>
                  <a:srgbClr val="DAE5EB"/>
                </a:solidFill>
                <a:latin typeface="Inter" pitchFamily="34" charset="0"/>
                <a:ea typeface="Inter" pitchFamily="34" charset="-122"/>
                <a:cs typeface="Inter" pitchFamily="34" charset="-120"/>
              </a:rPr>
              <a:t>Can people find you?</a:t>
            </a:r>
            <a:endParaRPr lang="en-US" sz="1150" dirty="0"/>
          </a:p>
        </p:txBody>
      </p:sp>
      <p:sp>
        <p:nvSpPr>
          <p:cNvPr id="16" name="Shape 14"/>
          <p:cNvSpPr/>
          <p:nvPr/>
        </p:nvSpPr>
        <p:spPr>
          <a:xfrm>
            <a:off x="4590288" y="2331720"/>
            <a:ext cx="3694176" cy="1152144"/>
          </a:xfrm>
          <a:prstGeom prst="roundRect">
            <a:avLst>
              <a:gd name="adj" fmla="val 10317"/>
            </a:avLst>
          </a:prstGeom>
          <a:solidFill>
            <a:srgbClr val="11263B"/>
          </a:solidFill>
          <a:ln w="12700">
            <a:solidFill>
              <a:srgbClr val="274054"/>
            </a:solidFill>
            <a:prstDash val="solid"/>
          </a:ln>
        </p:spPr>
      </p:sp>
      <p:sp>
        <p:nvSpPr>
          <p:cNvPr id="17" name="Shape 15"/>
          <p:cNvSpPr/>
          <p:nvPr/>
        </p:nvSpPr>
        <p:spPr>
          <a:xfrm>
            <a:off x="4764024" y="2542032"/>
            <a:ext cx="429768" cy="429768"/>
          </a:xfrm>
          <a:prstGeom prst="roundRect">
            <a:avLst>
              <a:gd name="adj" fmla="val 42553"/>
            </a:avLst>
          </a:prstGeom>
          <a:solidFill>
            <a:srgbClr val="D98B58"/>
          </a:solidFill>
          <a:ln w="12700">
            <a:solidFill>
              <a:srgbClr val="D98B58">
                <a:alpha val="0"/>
              </a:srgbClr>
            </a:solidFill>
            <a:prstDash val="solid"/>
          </a:ln>
        </p:spPr>
      </p:sp>
      <p:sp>
        <p:nvSpPr>
          <p:cNvPr id="18" name="Text 16"/>
          <p:cNvSpPr/>
          <p:nvPr/>
        </p:nvSpPr>
        <p:spPr>
          <a:xfrm>
            <a:off x="4855464" y="2615184"/>
            <a:ext cx="256032" cy="256032"/>
          </a:xfrm>
          <a:prstGeom prst="rect">
            <a:avLst/>
          </a:prstGeom>
          <a:noFill/>
          <a:ln/>
        </p:spPr>
        <p:txBody>
          <a:bodyPr wrap="square" lIns="0" tIns="0" rIns="0" bIns="0" rtlCol="0" anchor="ctr">
            <a:normAutofit/>
          </a:bodyPr>
          <a:lstStyle/>
          <a:p>
            <a:pPr algn="ctr" indent="0" marL="0">
              <a:buNone/>
            </a:pPr>
            <a:r>
              <a:rPr lang="en-US" sz="1400" b="1" dirty="0">
                <a:solidFill>
                  <a:srgbClr val="091321"/>
                </a:solidFill>
                <a:latin typeface="Inter Display" pitchFamily="34" charset="0"/>
                <a:ea typeface="Inter Display" pitchFamily="34" charset="-122"/>
                <a:cs typeface="Inter Display" pitchFamily="34" charset="-120"/>
              </a:rPr>
              <a:t>✓</a:t>
            </a:r>
            <a:endParaRPr lang="en-US" sz="1400" dirty="0"/>
          </a:p>
        </p:txBody>
      </p:sp>
      <p:sp>
        <p:nvSpPr>
          <p:cNvPr id="19" name="Text 17"/>
          <p:cNvSpPr/>
          <p:nvPr/>
        </p:nvSpPr>
        <p:spPr>
          <a:xfrm>
            <a:off x="5321808" y="2514600"/>
            <a:ext cx="2743200" cy="356616"/>
          </a:xfrm>
          <a:prstGeom prst="rect">
            <a:avLst/>
          </a:prstGeom>
          <a:noFill/>
          <a:ln/>
        </p:spPr>
        <p:txBody>
          <a:bodyPr wrap="square" lIns="0" tIns="0" rIns="0" bIns="0" rtlCol="0" anchor="ctr">
            <a:normAutofit/>
          </a:bodyPr>
          <a:lstStyle/>
          <a:p>
            <a:pPr indent="0" marL="0">
              <a:buNone/>
            </a:pPr>
            <a:r>
              <a:rPr lang="en-US" sz="1410" b="1" dirty="0">
                <a:solidFill>
                  <a:srgbClr val="F6F8FB"/>
                </a:solidFill>
                <a:latin typeface="Inter Display" pitchFamily="34" charset="0"/>
                <a:ea typeface="Inter Display" pitchFamily="34" charset="-122"/>
                <a:cs typeface="Inter Display" pitchFamily="34" charset="-120"/>
              </a:rPr>
              <a:t>Website &amp; mobile experience</a:t>
            </a:r>
            <a:endParaRPr lang="en-US" sz="1410" dirty="0"/>
          </a:p>
        </p:txBody>
      </p:sp>
      <p:sp>
        <p:nvSpPr>
          <p:cNvPr id="20" name="Text 18"/>
          <p:cNvSpPr/>
          <p:nvPr/>
        </p:nvSpPr>
        <p:spPr>
          <a:xfrm>
            <a:off x="5330952" y="2944368"/>
            <a:ext cx="2724912" cy="338328"/>
          </a:xfrm>
          <a:prstGeom prst="rect">
            <a:avLst/>
          </a:prstGeom>
          <a:noFill/>
          <a:ln/>
        </p:spPr>
        <p:txBody>
          <a:bodyPr wrap="square" lIns="0" tIns="0" rIns="0" bIns="0" rtlCol="0" anchor="ctr">
            <a:normAutofit/>
          </a:bodyPr>
          <a:lstStyle/>
          <a:p>
            <a:pPr indent="0" marL="0">
              <a:buNone/>
            </a:pPr>
            <a:r>
              <a:rPr lang="en-US" sz="1150" dirty="0">
                <a:solidFill>
                  <a:srgbClr val="DAE5EB"/>
                </a:solidFill>
                <a:latin typeface="Inter" pitchFamily="34" charset="0"/>
                <a:ea typeface="Inter" pitchFamily="34" charset="-122"/>
                <a:cs typeface="Inter" pitchFamily="34" charset="-120"/>
              </a:rPr>
              <a:t>Does the site work on phones?</a:t>
            </a:r>
            <a:endParaRPr lang="en-US" sz="1150" dirty="0"/>
          </a:p>
        </p:txBody>
      </p:sp>
      <p:sp>
        <p:nvSpPr>
          <p:cNvPr id="21" name="Shape 19"/>
          <p:cNvSpPr/>
          <p:nvPr/>
        </p:nvSpPr>
        <p:spPr>
          <a:xfrm>
            <a:off x="667512" y="3703320"/>
            <a:ext cx="3694176" cy="1152144"/>
          </a:xfrm>
          <a:prstGeom prst="roundRect">
            <a:avLst>
              <a:gd name="adj" fmla="val 10317"/>
            </a:avLst>
          </a:prstGeom>
          <a:solidFill>
            <a:srgbClr val="11263B"/>
          </a:solidFill>
          <a:ln w="12700">
            <a:solidFill>
              <a:srgbClr val="274054"/>
            </a:solidFill>
            <a:prstDash val="solid"/>
          </a:ln>
        </p:spPr>
      </p:sp>
      <p:sp>
        <p:nvSpPr>
          <p:cNvPr id="22" name="Shape 20"/>
          <p:cNvSpPr/>
          <p:nvPr/>
        </p:nvSpPr>
        <p:spPr>
          <a:xfrm>
            <a:off x="841248" y="3913632"/>
            <a:ext cx="429768" cy="429768"/>
          </a:xfrm>
          <a:prstGeom prst="roundRect">
            <a:avLst>
              <a:gd name="adj" fmla="val 42553"/>
            </a:avLst>
          </a:prstGeom>
          <a:solidFill>
            <a:srgbClr val="D98B58"/>
          </a:solidFill>
          <a:ln w="12700">
            <a:solidFill>
              <a:srgbClr val="D98B58">
                <a:alpha val="0"/>
              </a:srgbClr>
            </a:solidFill>
            <a:prstDash val="solid"/>
          </a:ln>
        </p:spPr>
      </p:sp>
      <p:sp>
        <p:nvSpPr>
          <p:cNvPr id="23" name="Text 21"/>
          <p:cNvSpPr/>
          <p:nvPr/>
        </p:nvSpPr>
        <p:spPr>
          <a:xfrm>
            <a:off x="932688" y="3986784"/>
            <a:ext cx="256032" cy="256032"/>
          </a:xfrm>
          <a:prstGeom prst="rect">
            <a:avLst/>
          </a:prstGeom>
          <a:noFill/>
          <a:ln/>
        </p:spPr>
        <p:txBody>
          <a:bodyPr wrap="square" lIns="0" tIns="0" rIns="0" bIns="0" rtlCol="0" anchor="ctr">
            <a:normAutofit/>
          </a:bodyPr>
          <a:lstStyle/>
          <a:p>
            <a:pPr algn="ctr" indent="0" marL="0">
              <a:buNone/>
            </a:pPr>
            <a:r>
              <a:rPr lang="en-US" sz="1400" b="1" dirty="0">
                <a:solidFill>
                  <a:srgbClr val="091321"/>
                </a:solidFill>
                <a:latin typeface="Inter Display" pitchFamily="34" charset="0"/>
                <a:ea typeface="Inter Display" pitchFamily="34" charset="-122"/>
                <a:cs typeface="Inter Display" pitchFamily="34" charset="-120"/>
              </a:rPr>
              <a:t>✓</a:t>
            </a:r>
            <a:endParaRPr lang="en-US" sz="1400" dirty="0"/>
          </a:p>
        </p:txBody>
      </p:sp>
      <p:sp>
        <p:nvSpPr>
          <p:cNvPr id="24" name="Text 22"/>
          <p:cNvSpPr/>
          <p:nvPr/>
        </p:nvSpPr>
        <p:spPr>
          <a:xfrm>
            <a:off x="1399032" y="3886200"/>
            <a:ext cx="2743200" cy="356616"/>
          </a:xfrm>
          <a:prstGeom prst="rect">
            <a:avLst/>
          </a:prstGeom>
          <a:noFill/>
          <a:ln/>
        </p:spPr>
        <p:txBody>
          <a:bodyPr wrap="square" lIns="0" tIns="0" rIns="0" bIns="0" rtlCol="0" anchor="ctr">
            <a:normAutofit/>
          </a:bodyPr>
          <a:lstStyle/>
          <a:p>
            <a:pPr indent="0" marL="0">
              <a:buNone/>
            </a:pPr>
            <a:r>
              <a:rPr lang="en-US" sz="1410" b="1" dirty="0">
                <a:solidFill>
                  <a:srgbClr val="F6F8FB"/>
                </a:solidFill>
                <a:latin typeface="Inter Display" pitchFamily="34" charset="0"/>
                <a:ea typeface="Inter Display" pitchFamily="34" charset="-122"/>
                <a:cs typeface="Inter Display" pitchFamily="34" charset="-120"/>
              </a:rPr>
              <a:t>Trust &amp; first impressions</a:t>
            </a:r>
            <a:endParaRPr lang="en-US" sz="1410" dirty="0"/>
          </a:p>
        </p:txBody>
      </p:sp>
      <p:sp>
        <p:nvSpPr>
          <p:cNvPr id="25" name="Text 23"/>
          <p:cNvSpPr/>
          <p:nvPr/>
        </p:nvSpPr>
        <p:spPr>
          <a:xfrm>
            <a:off x="1408176" y="4315968"/>
            <a:ext cx="2724912" cy="338328"/>
          </a:xfrm>
          <a:prstGeom prst="rect">
            <a:avLst/>
          </a:prstGeom>
          <a:noFill/>
          <a:ln/>
        </p:spPr>
        <p:txBody>
          <a:bodyPr wrap="square" lIns="0" tIns="0" rIns="0" bIns="0" rtlCol="0" anchor="ctr">
            <a:normAutofit/>
          </a:bodyPr>
          <a:lstStyle/>
          <a:p>
            <a:pPr indent="0" marL="0">
              <a:buNone/>
            </a:pPr>
            <a:r>
              <a:rPr lang="en-US" sz="1150" dirty="0">
                <a:solidFill>
                  <a:srgbClr val="DAE5EB"/>
                </a:solidFill>
                <a:latin typeface="Inter" pitchFamily="34" charset="0"/>
                <a:ea typeface="Inter" pitchFamily="34" charset="-122"/>
                <a:cs typeface="Inter" pitchFamily="34" charset="-120"/>
              </a:rPr>
              <a:t>Would customers feel confident?</a:t>
            </a:r>
            <a:endParaRPr lang="en-US" sz="1150" dirty="0"/>
          </a:p>
        </p:txBody>
      </p:sp>
      <p:sp>
        <p:nvSpPr>
          <p:cNvPr id="26" name="Shape 24"/>
          <p:cNvSpPr/>
          <p:nvPr/>
        </p:nvSpPr>
        <p:spPr>
          <a:xfrm>
            <a:off x="4590288" y="3703320"/>
            <a:ext cx="3694176" cy="1152144"/>
          </a:xfrm>
          <a:prstGeom prst="roundRect">
            <a:avLst>
              <a:gd name="adj" fmla="val 10317"/>
            </a:avLst>
          </a:prstGeom>
          <a:solidFill>
            <a:srgbClr val="11263B"/>
          </a:solidFill>
          <a:ln w="12700">
            <a:solidFill>
              <a:srgbClr val="274054"/>
            </a:solidFill>
            <a:prstDash val="solid"/>
          </a:ln>
        </p:spPr>
      </p:sp>
      <p:sp>
        <p:nvSpPr>
          <p:cNvPr id="27" name="Shape 25"/>
          <p:cNvSpPr/>
          <p:nvPr/>
        </p:nvSpPr>
        <p:spPr>
          <a:xfrm>
            <a:off x="4764024" y="3913632"/>
            <a:ext cx="429768" cy="429768"/>
          </a:xfrm>
          <a:prstGeom prst="roundRect">
            <a:avLst>
              <a:gd name="adj" fmla="val 42553"/>
            </a:avLst>
          </a:prstGeom>
          <a:solidFill>
            <a:srgbClr val="D98B58"/>
          </a:solidFill>
          <a:ln w="12700">
            <a:solidFill>
              <a:srgbClr val="D98B58">
                <a:alpha val="0"/>
              </a:srgbClr>
            </a:solidFill>
            <a:prstDash val="solid"/>
          </a:ln>
        </p:spPr>
      </p:sp>
      <p:sp>
        <p:nvSpPr>
          <p:cNvPr id="28" name="Text 26"/>
          <p:cNvSpPr/>
          <p:nvPr/>
        </p:nvSpPr>
        <p:spPr>
          <a:xfrm>
            <a:off x="4855464" y="3986784"/>
            <a:ext cx="256032" cy="256032"/>
          </a:xfrm>
          <a:prstGeom prst="rect">
            <a:avLst/>
          </a:prstGeom>
          <a:noFill/>
          <a:ln/>
        </p:spPr>
        <p:txBody>
          <a:bodyPr wrap="square" lIns="0" tIns="0" rIns="0" bIns="0" rtlCol="0" anchor="ctr">
            <a:normAutofit/>
          </a:bodyPr>
          <a:lstStyle/>
          <a:p>
            <a:pPr algn="ctr" indent="0" marL="0">
              <a:buNone/>
            </a:pPr>
            <a:r>
              <a:rPr lang="en-US" sz="1400" b="1" dirty="0">
                <a:solidFill>
                  <a:srgbClr val="091321"/>
                </a:solidFill>
                <a:latin typeface="Inter Display" pitchFamily="34" charset="0"/>
                <a:ea typeface="Inter Display" pitchFamily="34" charset="-122"/>
                <a:cs typeface="Inter Display" pitchFamily="34" charset="-120"/>
              </a:rPr>
              <a:t>✓</a:t>
            </a:r>
            <a:endParaRPr lang="en-US" sz="1400" dirty="0"/>
          </a:p>
        </p:txBody>
      </p:sp>
      <p:sp>
        <p:nvSpPr>
          <p:cNvPr id="29" name="Text 27"/>
          <p:cNvSpPr/>
          <p:nvPr/>
        </p:nvSpPr>
        <p:spPr>
          <a:xfrm>
            <a:off x="5321808" y="3886200"/>
            <a:ext cx="2743200" cy="356616"/>
          </a:xfrm>
          <a:prstGeom prst="rect">
            <a:avLst/>
          </a:prstGeom>
          <a:noFill/>
          <a:ln/>
        </p:spPr>
        <p:txBody>
          <a:bodyPr wrap="square" lIns="0" tIns="0" rIns="0" bIns="0" rtlCol="0" anchor="ctr">
            <a:normAutofit/>
          </a:bodyPr>
          <a:lstStyle/>
          <a:p>
            <a:pPr indent="0" marL="0">
              <a:buNone/>
            </a:pPr>
            <a:r>
              <a:rPr lang="en-US" sz="1410" b="1" dirty="0">
                <a:solidFill>
                  <a:srgbClr val="F6F8FB"/>
                </a:solidFill>
                <a:latin typeface="Inter Display" pitchFamily="34" charset="0"/>
                <a:ea typeface="Inter Display" pitchFamily="34" charset="-122"/>
                <a:cs typeface="Inter Display" pitchFamily="34" charset="-120"/>
              </a:rPr>
              <a:t>Next-step opportunities</a:t>
            </a:r>
            <a:endParaRPr lang="en-US" sz="1410" dirty="0"/>
          </a:p>
        </p:txBody>
      </p:sp>
      <p:sp>
        <p:nvSpPr>
          <p:cNvPr id="30" name="Text 28"/>
          <p:cNvSpPr/>
          <p:nvPr/>
        </p:nvSpPr>
        <p:spPr>
          <a:xfrm>
            <a:off x="5330952" y="4315968"/>
            <a:ext cx="2724912" cy="338328"/>
          </a:xfrm>
          <a:prstGeom prst="rect">
            <a:avLst/>
          </a:prstGeom>
          <a:noFill/>
          <a:ln/>
        </p:spPr>
        <p:txBody>
          <a:bodyPr wrap="square" lIns="0" tIns="0" rIns="0" bIns="0" rtlCol="0" anchor="ctr">
            <a:normAutofit/>
          </a:bodyPr>
          <a:lstStyle/>
          <a:p>
            <a:pPr indent="0" marL="0">
              <a:buNone/>
            </a:pPr>
            <a:r>
              <a:rPr lang="en-US" sz="1150" dirty="0">
                <a:solidFill>
                  <a:srgbClr val="DAE5EB"/>
                </a:solidFill>
                <a:latin typeface="Inter" pitchFamily="34" charset="0"/>
                <a:ea typeface="Inter" pitchFamily="34" charset="-122"/>
                <a:cs typeface="Inter" pitchFamily="34" charset="-120"/>
              </a:rPr>
              <a:t>What should improve first?</a:t>
            </a:r>
            <a:endParaRPr lang="en-US" sz="1150" dirty="0"/>
          </a:p>
        </p:txBody>
      </p:sp>
      <p:sp>
        <p:nvSpPr>
          <p:cNvPr id="31" name="Shape 29"/>
          <p:cNvSpPr/>
          <p:nvPr/>
        </p:nvSpPr>
        <p:spPr>
          <a:xfrm>
            <a:off x="8686800" y="2340864"/>
            <a:ext cx="2852928" cy="3794760"/>
          </a:xfrm>
          <a:prstGeom prst="roundRect">
            <a:avLst>
              <a:gd name="adj" fmla="val 6410"/>
            </a:avLst>
          </a:prstGeom>
          <a:solidFill>
            <a:srgbClr val="F2F6F8"/>
          </a:solidFill>
          <a:ln w="12700">
            <a:solidFill>
              <a:srgbClr val="F2F6F8">
                <a:alpha val="0"/>
              </a:srgbClr>
            </a:solidFill>
            <a:prstDash val="solid"/>
          </a:ln>
        </p:spPr>
      </p:sp>
      <p:sp>
        <p:nvSpPr>
          <p:cNvPr id="32" name="Text 30"/>
          <p:cNvSpPr/>
          <p:nvPr/>
        </p:nvSpPr>
        <p:spPr>
          <a:xfrm>
            <a:off x="8915400" y="2642616"/>
            <a:ext cx="2414016" cy="292608"/>
          </a:xfrm>
          <a:prstGeom prst="rect">
            <a:avLst/>
          </a:prstGeom>
          <a:noFill/>
          <a:ln/>
        </p:spPr>
        <p:txBody>
          <a:bodyPr wrap="square" lIns="0" tIns="0" rIns="0" bIns="0" rtlCol="0" anchor="ctr">
            <a:normAutofit/>
          </a:bodyPr>
          <a:lstStyle/>
          <a:p>
            <a:pPr indent="0" marL="0">
              <a:buNone/>
            </a:pPr>
            <a:r>
              <a:rPr lang="en-US" sz="1400" b="1" dirty="0">
                <a:solidFill>
                  <a:srgbClr val="223E52"/>
                </a:solidFill>
                <a:latin typeface="Inter Display" pitchFamily="34" charset="0"/>
                <a:ea typeface="Inter Display" pitchFamily="34" charset="-122"/>
                <a:cs typeface="Inter Display" pitchFamily="34" charset="-120"/>
              </a:rPr>
              <a:t>REVIEW SNAPSHOT</a:t>
            </a:r>
            <a:endParaRPr lang="en-US" sz="1400" dirty="0"/>
          </a:p>
        </p:txBody>
      </p:sp>
      <p:sp>
        <p:nvSpPr>
          <p:cNvPr id="33" name="Shape 31"/>
          <p:cNvSpPr/>
          <p:nvPr/>
        </p:nvSpPr>
        <p:spPr>
          <a:xfrm>
            <a:off x="8933688" y="3127248"/>
            <a:ext cx="2377440" cy="0"/>
          </a:xfrm>
          <a:prstGeom prst="line">
            <a:avLst/>
          </a:prstGeom>
          <a:noFill/>
          <a:ln w="12700">
            <a:solidFill>
              <a:srgbClr val="D2DAE0"/>
            </a:solidFill>
            <a:prstDash val="solid"/>
            <a:headEnd type="none"/>
            <a:tailEnd type="none"/>
          </a:ln>
        </p:spPr>
      </p:sp>
      <p:sp>
        <p:nvSpPr>
          <p:cNvPr id="34" name="Text 32"/>
          <p:cNvSpPr/>
          <p:nvPr/>
        </p:nvSpPr>
        <p:spPr>
          <a:xfrm>
            <a:off x="8915400" y="3374136"/>
            <a:ext cx="2267712" cy="265176"/>
          </a:xfrm>
          <a:prstGeom prst="rect">
            <a:avLst/>
          </a:prstGeom>
          <a:noFill/>
          <a:ln/>
        </p:spPr>
        <p:txBody>
          <a:bodyPr wrap="square" lIns="0" tIns="0" rIns="0" bIns="0" rtlCol="0" anchor="ctr">
            <a:normAutofit/>
          </a:bodyPr>
          <a:lstStyle/>
          <a:p>
            <a:pPr indent="0" marL="0">
              <a:buNone/>
            </a:pPr>
            <a:r>
              <a:rPr lang="en-US" sz="1050" dirty="0">
                <a:solidFill>
                  <a:srgbClr val="40586B"/>
                </a:solidFill>
                <a:latin typeface="Inter" pitchFamily="34" charset="0"/>
                <a:ea typeface="Inter" pitchFamily="34" charset="-122"/>
                <a:cs typeface="Inter" pitchFamily="34" charset="-120"/>
              </a:rPr>
              <a:t>Search presence</a:t>
            </a:r>
            <a:endParaRPr lang="en-US" sz="1050" dirty="0"/>
          </a:p>
        </p:txBody>
      </p:sp>
      <p:sp>
        <p:nvSpPr>
          <p:cNvPr id="35" name="Shape 33"/>
          <p:cNvSpPr/>
          <p:nvPr/>
        </p:nvSpPr>
        <p:spPr>
          <a:xfrm>
            <a:off x="8933688" y="3730752"/>
            <a:ext cx="2240280" cy="91440"/>
          </a:xfrm>
          <a:prstGeom prst="roundRect">
            <a:avLst>
              <a:gd name="adj" fmla="val 50000"/>
            </a:avLst>
          </a:prstGeom>
          <a:solidFill>
            <a:srgbClr val="D7E0E5"/>
          </a:solidFill>
          <a:ln w="12700">
            <a:solidFill>
              <a:srgbClr val="D7E0E5">
                <a:alpha val="0"/>
              </a:srgbClr>
            </a:solidFill>
            <a:prstDash val="solid"/>
          </a:ln>
        </p:spPr>
      </p:sp>
      <p:sp>
        <p:nvSpPr>
          <p:cNvPr id="36" name="Shape 34"/>
          <p:cNvSpPr/>
          <p:nvPr/>
        </p:nvSpPr>
        <p:spPr>
          <a:xfrm>
            <a:off x="8933688" y="3730752"/>
            <a:ext cx="1234440" cy="91440"/>
          </a:xfrm>
          <a:prstGeom prst="roundRect">
            <a:avLst>
              <a:gd name="adj" fmla="val 50000"/>
            </a:avLst>
          </a:prstGeom>
          <a:solidFill>
            <a:srgbClr val="E3A36E"/>
          </a:solidFill>
          <a:ln w="12700">
            <a:solidFill>
              <a:srgbClr val="E3A36E">
                <a:alpha val="0"/>
              </a:srgbClr>
            </a:solidFill>
            <a:prstDash val="solid"/>
          </a:ln>
        </p:spPr>
      </p:sp>
      <p:sp>
        <p:nvSpPr>
          <p:cNvPr id="37" name="Text 35"/>
          <p:cNvSpPr/>
          <p:nvPr/>
        </p:nvSpPr>
        <p:spPr>
          <a:xfrm>
            <a:off x="8915400" y="4123944"/>
            <a:ext cx="2267712" cy="265176"/>
          </a:xfrm>
          <a:prstGeom prst="rect">
            <a:avLst/>
          </a:prstGeom>
          <a:noFill/>
          <a:ln/>
        </p:spPr>
        <p:txBody>
          <a:bodyPr wrap="square" lIns="0" tIns="0" rIns="0" bIns="0" rtlCol="0" anchor="ctr">
            <a:normAutofit/>
          </a:bodyPr>
          <a:lstStyle/>
          <a:p>
            <a:pPr indent="0" marL="0">
              <a:buNone/>
            </a:pPr>
            <a:r>
              <a:rPr lang="en-US" sz="1050" dirty="0">
                <a:solidFill>
                  <a:srgbClr val="40586B"/>
                </a:solidFill>
                <a:latin typeface="Inter" pitchFamily="34" charset="0"/>
                <a:ea typeface="Inter" pitchFamily="34" charset="-122"/>
                <a:cs typeface="Inter" pitchFamily="34" charset="-120"/>
              </a:rPr>
              <a:t>Mobile experience</a:t>
            </a:r>
            <a:endParaRPr lang="en-US" sz="1050" dirty="0"/>
          </a:p>
        </p:txBody>
      </p:sp>
      <p:sp>
        <p:nvSpPr>
          <p:cNvPr id="38" name="Shape 36"/>
          <p:cNvSpPr/>
          <p:nvPr/>
        </p:nvSpPr>
        <p:spPr>
          <a:xfrm>
            <a:off x="8933688" y="4480560"/>
            <a:ext cx="2240280" cy="91440"/>
          </a:xfrm>
          <a:prstGeom prst="roundRect">
            <a:avLst>
              <a:gd name="adj" fmla="val 50000"/>
            </a:avLst>
          </a:prstGeom>
          <a:solidFill>
            <a:srgbClr val="D7E0E5"/>
          </a:solidFill>
          <a:ln w="12700">
            <a:solidFill>
              <a:srgbClr val="D7E0E5">
                <a:alpha val="0"/>
              </a:srgbClr>
            </a:solidFill>
            <a:prstDash val="solid"/>
          </a:ln>
        </p:spPr>
      </p:sp>
      <p:sp>
        <p:nvSpPr>
          <p:cNvPr id="39" name="Shape 37"/>
          <p:cNvSpPr/>
          <p:nvPr/>
        </p:nvSpPr>
        <p:spPr>
          <a:xfrm>
            <a:off x="8933688" y="4480560"/>
            <a:ext cx="1691640" cy="91440"/>
          </a:xfrm>
          <a:prstGeom prst="roundRect">
            <a:avLst>
              <a:gd name="adj" fmla="val 50000"/>
            </a:avLst>
          </a:prstGeom>
          <a:solidFill>
            <a:srgbClr val="6BA89C"/>
          </a:solidFill>
          <a:ln w="12700">
            <a:solidFill>
              <a:srgbClr val="6BA89C">
                <a:alpha val="0"/>
              </a:srgbClr>
            </a:solidFill>
            <a:prstDash val="solid"/>
          </a:ln>
        </p:spPr>
      </p:sp>
      <p:sp>
        <p:nvSpPr>
          <p:cNvPr id="40" name="Text 38"/>
          <p:cNvSpPr/>
          <p:nvPr/>
        </p:nvSpPr>
        <p:spPr>
          <a:xfrm>
            <a:off x="8915400" y="4873752"/>
            <a:ext cx="2267712" cy="265176"/>
          </a:xfrm>
          <a:prstGeom prst="rect">
            <a:avLst/>
          </a:prstGeom>
          <a:noFill/>
          <a:ln/>
        </p:spPr>
        <p:txBody>
          <a:bodyPr wrap="square" lIns="0" tIns="0" rIns="0" bIns="0" rtlCol="0" anchor="ctr">
            <a:normAutofit/>
          </a:bodyPr>
          <a:lstStyle/>
          <a:p>
            <a:pPr indent="0" marL="0">
              <a:buNone/>
            </a:pPr>
            <a:r>
              <a:rPr lang="en-US" sz="1050" dirty="0">
                <a:solidFill>
                  <a:srgbClr val="40586B"/>
                </a:solidFill>
                <a:latin typeface="Inter" pitchFamily="34" charset="0"/>
                <a:ea typeface="Inter" pitchFamily="34" charset="-122"/>
                <a:cs typeface="Inter" pitchFamily="34" charset="-120"/>
              </a:rPr>
              <a:t>First impression</a:t>
            </a:r>
            <a:endParaRPr lang="en-US" sz="1050" dirty="0"/>
          </a:p>
        </p:txBody>
      </p:sp>
      <p:sp>
        <p:nvSpPr>
          <p:cNvPr id="41" name="Shape 39"/>
          <p:cNvSpPr/>
          <p:nvPr/>
        </p:nvSpPr>
        <p:spPr>
          <a:xfrm>
            <a:off x="8933688" y="5230368"/>
            <a:ext cx="2240280" cy="91440"/>
          </a:xfrm>
          <a:prstGeom prst="roundRect">
            <a:avLst>
              <a:gd name="adj" fmla="val 50000"/>
            </a:avLst>
          </a:prstGeom>
          <a:solidFill>
            <a:srgbClr val="D7E0E5"/>
          </a:solidFill>
          <a:ln w="12700">
            <a:solidFill>
              <a:srgbClr val="D7E0E5">
                <a:alpha val="0"/>
              </a:srgbClr>
            </a:solidFill>
            <a:prstDash val="solid"/>
          </a:ln>
        </p:spPr>
      </p:sp>
      <p:sp>
        <p:nvSpPr>
          <p:cNvPr id="42" name="Shape 40"/>
          <p:cNvSpPr/>
          <p:nvPr/>
        </p:nvSpPr>
        <p:spPr>
          <a:xfrm>
            <a:off x="8933688" y="5230368"/>
            <a:ext cx="1024128" cy="91440"/>
          </a:xfrm>
          <a:prstGeom prst="roundRect">
            <a:avLst>
              <a:gd name="adj" fmla="val 50000"/>
            </a:avLst>
          </a:prstGeom>
          <a:solidFill>
            <a:srgbClr val="E3A36E"/>
          </a:solidFill>
          <a:ln w="12700">
            <a:solidFill>
              <a:srgbClr val="E3A36E">
                <a:alpha val="0"/>
              </a:srgbClr>
            </a:solidFill>
            <a:prstDash val="solid"/>
          </a:ln>
        </p:spPr>
      </p:sp>
      <p:sp>
        <p:nvSpPr>
          <p:cNvPr id="43" name="Text 41"/>
          <p:cNvSpPr/>
          <p:nvPr/>
        </p:nvSpPr>
        <p:spPr>
          <a:xfrm>
            <a:off x="8933688" y="5577840"/>
            <a:ext cx="2157984" cy="146304"/>
          </a:xfrm>
          <a:prstGeom prst="rect">
            <a:avLst/>
          </a:prstGeom>
          <a:noFill/>
          <a:ln/>
        </p:spPr>
        <p:txBody>
          <a:bodyPr wrap="square" lIns="0" tIns="0" rIns="0" bIns="0" rtlCol="0" anchor="ctr">
            <a:normAutofit/>
          </a:bodyPr>
          <a:lstStyle/>
          <a:p>
            <a:pPr indent="0" marL="0">
              <a:buNone/>
            </a:pPr>
            <a:r>
              <a:rPr lang="en-US" sz="800" b="1" spc="120" kern="0" dirty="0">
                <a:solidFill>
                  <a:srgbClr val="657888"/>
                </a:solidFill>
                <a:latin typeface="Inter Display" pitchFamily="34" charset="0"/>
                <a:ea typeface="Inter Display" pitchFamily="34" charset="-122"/>
                <a:cs typeface="Inter Display" pitchFamily="34" charset="-120"/>
              </a:rPr>
              <a:t>ILLUSTRATIVE REPORT</a:t>
            </a:r>
            <a:endParaRPr lang="en-US" sz="800" dirty="0"/>
          </a:p>
        </p:txBody>
      </p:sp>
      <p:sp>
        <p:nvSpPr>
          <p:cNvPr id="44" name="Shape 42"/>
          <p:cNvSpPr/>
          <p:nvPr/>
        </p:nvSpPr>
        <p:spPr>
          <a:xfrm>
            <a:off x="694944" y="5605272"/>
            <a:ext cx="7580376" cy="493776"/>
          </a:xfrm>
          <a:prstGeom prst="roundRect">
            <a:avLst>
              <a:gd name="adj" fmla="val 22222"/>
            </a:avLst>
          </a:prstGeom>
          <a:solidFill>
            <a:srgbClr val="193A4C"/>
          </a:solidFill>
          <a:ln w="12700">
            <a:solidFill>
              <a:srgbClr val="193A4C">
                <a:alpha val="0"/>
              </a:srgbClr>
            </a:solidFill>
            <a:prstDash val="solid"/>
          </a:ln>
        </p:spPr>
      </p:sp>
      <p:sp>
        <p:nvSpPr>
          <p:cNvPr id="45" name="Text 43"/>
          <p:cNvSpPr/>
          <p:nvPr/>
        </p:nvSpPr>
        <p:spPr>
          <a:xfrm>
            <a:off x="905256" y="5724144"/>
            <a:ext cx="7159752" cy="237744"/>
          </a:xfrm>
          <a:prstGeom prst="rect">
            <a:avLst/>
          </a:prstGeom>
          <a:noFill/>
          <a:ln/>
        </p:spPr>
        <p:txBody>
          <a:bodyPr wrap="square" lIns="0" tIns="0" rIns="0" bIns="0" rtlCol="0" anchor="ctr">
            <a:normAutofit/>
          </a:bodyPr>
          <a:lstStyle/>
          <a:p>
            <a:pPr algn="ctr" indent="0" marL="0">
              <a:buNone/>
            </a:pPr>
            <a:r>
              <a:rPr lang="en-US" sz="1300" b="1" dirty="0">
                <a:solidFill>
                  <a:srgbClr val="F0B080"/>
                </a:solidFill>
                <a:latin typeface="Inter Display" pitchFamily="34" charset="0"/>
                <a:ea typeface="Inter Display" pitchFamily="34" charset="-122"/>
                <a:cs typeface="Inter Display" pitchFamily="34" charset="-120"/>
              </a:rPr>
              <a:t>Free to request · Personalized follow-up · No obligation</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71423"/>
        </a:solidFill>
      </p:bgPr>
    </p:bg>
    <p:spTree>
      <p:nvGrpSpPr>
        <p:cNvPr id="1" name=""/>
        <p:cNvGrpSpPr/>
        <p:nvPr/>
      </p:nvGrpSpPr>
      <p:grpSpPr>
        <a:xfrm>
          <a:off x="0" y="0"/>
          <a:ext cx="0" cy="0"/>
          <a:chOff x="0" y="0"/>
          <a:chExt cx="0" cy="0"/>
        </a:xfrm>
      </p:grpSpPr>
      <p:sp>
        <p:nvSpPr>
          <p:cNvPr id="2" name="Shape 0"/>
          <p:cNvSpPr/>
          <p:nvPr/>
        </p:nvSpPr>
        <p:spPr>
          <a:xfrm>
            <a:off x="0" y="0"/>
            <a:ext cx="12192000" cy="43891"/>
          </a:xfrm>
          <a:prstGeom prst="rect">
            <a:avLst/>
          </a:prstGeom>
          <a:solidFill>
            <a:srgbClr val="D98B58"/>
          </a:solidFill>
          <a:ln w="12700">
            <a:solidFill>
              <a:srgbClr val="D98B58">
                <a:alpha val="0"/>
              </a:srgbClr>
            </a:solidFill>
            <a:prstDash val="solid"/>
          </a:ln>
        </p:spPr>
      </p:sp>
      <p:sp>
        <p:nvSpPr>
          <p:cNvPr id="3" name="Shape 1"/>
          <p:cNvSpPr/>
          <p:nvPr/>
        </p:nvSpPr>
        <p:spPr>
          <a:xfrm>
            <a:off x="11750040" y="0"/>
            <a:ext cx="438912" cy="43891"/>
          </a:xfrm>
          <a:prstGeom prst="rect">
            <a:avLst/>
          </a:prstGeom>
          <a:solidFill>
            <a:srgbClr val="F0B080"/>
          </a:solidFill>
          <a:ln w="12700">
            <a:solidFill>
              <a:srgbClr val="F0B080">
                <a:alpha val="0"/>
              </a:srgbClr>
            </a:solidFill>
            <a:prstDash val="solid"/>
          </a:ln>
        </p:spPr>
      </p:sp>
      <p:sp>
        <p:nvSpPr>
          <p:cNvPr id="4" name="Shape 2"/>
          <p:cNvSpPr/>
          <p:nvPr/>
        </p:nvSpPr>
        <p:spPr>
          <a:xfrm>
            <a:off x="11841480" y="822960"/>
            <a:ext cx="118872" cy="3749040"/>
          </a:xfrm>
          <a:prstGeom prst="rect">
            <a:avLst/>
          </a:prstGeom>
          <a:solidFill>
            <a:srgbClr val="D98B58">
              <a:alpha val="10000"/>
            </a:srgbClr>
          </a:solidFill>
          <a:ln w="12700">
            <a:solidFill>
              <a:srgbClr val="D98B58">
                <a:alpha val="0"/>
              </a:srgbClr>
            </a:solidFill>
            <a:prstDash val="solid"/>
          </a:ln>
        </p:spPr>
      </p:sp>
      <p:sp>
        <p:nvSpPr>
          <p:cNvPr id="5" name="Shape 3"/>
          <p:cNvSpPr/>
          <p:nvPr/>
        </p:nvSpPr>
        <p:spPr>
          <a:xfrm>
            <a:off x="603504" y="6460236"/>
            <a:ext cx="10981944" cy="0"/>
          </a:xfrm>
          <a:prstGeom prst="line">
            <a:avLst/>
          </a:prstGeom>
          <a:noFill/>
          <a:ln w="8255">
            <a:solidFill>
              <a:srgbClr val="274054"/>
            </a:solidFill>
            <a:prstDash val="solid"/>
            <a:headEnd type="none"/>
            <a:tailEnd type="none"/>
          </a:ln>
        </p:spPr>
      </p:sp>
      <p:sp>
        <p:nvSpPr>
          <p:cNvPr id="6" name="Text 4"/>
          <p:cNvSpPr/>
          <p:nvPr/>
        </p:nvSpPr>
        <p:spPr>
          <a:xfrm>
            <a:off x="612648" y="6537960"/>
            <a:ext cx="7315200" cy="173736"/>
          </a:xfrm>
          <a:prstGeom prst="rect">
            <a:avLst/>
          </a:prstGeom>
          <a:noFill/>
          <a:ln/>
        </p:spPr>
        <p:txBody>
          <a:bodyPr wrap="square" lIns="0" tIns="0" rIns="0" bIns="0" rtlCol="0" anchor="ctr">
            <a:normAutofit/>
          </a:bodyPr>
          <a:lstStyle/>
          <a:p>
            <a:pPr indent="0" marL="0">
              <a:buNone/>
            </a:pPr>
            <a:r>
              <a:rPr lang="en-US" sz="810" b="1" spc="75" kern="0" dirty="0">
                <a:solidFill>
                  <a:srgbClr val="9DAFC1"/>
                </a:solidFill>
                <a:latin typeface="Inter Display" pitchFamily="34" charset="0"/>
                <a:ea typeface="Inter Display" pitchFamily="34" charset="-122"/>
                <a:cs typeface="Inter Display" pitchFamily="34" charset="-120"/>
              </a:rPr>
              <a:t>REKODE DIGITAL  /  WINNEMUCCA · NORTHERN NEVADA</a:t>
            </a:r>
            <a:endParaRPr lang="en-US" sz="810" dirty="0"/>
          </a:p>
        </p:txBody>
      </p:sp>
      <p:sp>
        <p:nvSpPr>
          <p:cNvPr id="7" name="Text 5"/>
          <p:cNvSpPr/>
          <p:nvPr/>
        </p:nvSpPr>
        <p:spPr>
          <a:xfrm>
            <a:off x="11091672" y="6510528"/>
            <a:ext cx="475488" cy="210312"/>
          </a:xfrm>
          <a:prstGeom prst="rect">
            <a:avLst/>
          </a:prstGeom>
          <a:noFill/>
          <a:ln/>
        </p:spPr>
        <p:txBody>
          <a:bodyPr wrap="square" lIns="0" tIns="0" rIns="0" bIns="0" rtlCol="0" anchor="ctr">
            <a:normAutofit/>
          </a:bodyPr>
          <a:lstStyle/>
          <a:p>
            <a:pPr algn="r" indent="0" marL="0">
              <a:buNone/>
            </a:pPr>
            <a:r>
              <a:rPr lang="en-US" sz="900" b="1" dirty="0">
                <a:solidFill>
                  <a:srgbClr val="D98B58"/>
                </a:solidFill>
                <a:latin typeface="Inter Display" pitchFamily="34" charset="0"/>
                <a:ea typeface="Inter Display" pitchFamily="34" charset="-122"/>
                <a:cs typeface="Inter Display" pitchFamily="34" charset="-120"/>
              </a:rPr>
              <a:t>10</a:t>
            </a:r>
            <a:endParaRPr lang="en-US" sz="900" dirty="0"/>
          </a:p>
        </p:txBody>
      </p:sp>
      <p:sp>
        <p:nvSpPr>
          <p:cNvPr id="8" name="Text 6"/>
          <p:cNvSpPr/>
          <p:nvPr/>
        </p:nvSpPr>
        <p:spPr>
          <a:xfrm>
            <a:off x="621792" y="466344"/>
            <a:ext cx="9966960" cy="237744"/>
          </a:xfrm>
          <a:prstGeom prst="rect">
            <a:avLst/>
          </a:prstGeom>
          <a:noFill/>
          <a:ln/>
        </p:spPr>
        <p:txBody>
          <a:bodyPr wrap="square" lIns="0" tIns="0" rIns="0" bIns="0" rtlCol="0" anchor="ctr">
            <a:normAutofit/>
          </a:bodyPr>
          <a:lstStyle/>
          <a:p>
            <a:pPr indent="0" marL="0">
              <a:buNone/>
            </a:pPr>
            <a:r>
              <a:rPr lang="en-US" sz="960" b="1" spc="260" kern="0" dirty="0">
                <a:solidFill>
                  <a:srgbClr val="D98B58"/>
                </a:solidFill>
                <a:latin typeface="Inter Display" pitchFamily="34" charset="0"/>
                <a:ea typeface="Inter Display" pitchFamily="34" charset="-122"/>
                <a:cs typeface="Inter Display" pitchFamily="34" charset="-120"/>
              </a:rPr>
              <a:t>LET’S TALK ABOUT YOUR BUSINESS</a:t>
            </a:r>
            <a:endParaRPr lang="en-US" sz="960" dirty="0"/>
          </a:p>
        </p:txBody>
      </p:sp>
      <p:sp>
        <p:nvSpPr>
          <p:cNvPr id="9" name="Text 7"/>
          <p:cNvSpPr/>
          <p:nvPr/>
        </p:nvSpPr>
        <p:spPr>
          <a:xfrm>
            <a:off x="621792" y="896112"/>
            <a:ext cx="10789920" cy="731520"/>
          </a:xfrm>
          <a:prstGeom prst="rect">
            <a:avLst/>
          </a:prstGeom>
          <a:noFill/>
          <a:ln/>
        </p:spPr>
        <p:txBody>
          <a:bodyPr wrap="square" lIns="0" tIns="0" rIns="0" bIns="0" rtlCol="0" anchor="ctr">
            <a:normAutofit/>
          </a:bodyPr>
          <a:lstStyle/>
          <a:p>
            <a:pPr indent="0" marL="0">
              <a:buNone/>
            </a:pPr>
            <a:r>
              <a:rPr lang="en-US" sz="3200" b="1" dirty="0">
                <a:solidFill>
                  <a:srgbClr val="F6F8FB"/>
                </a:solidFill>
                <a:latin typeface="Inter Display" pitchFamily="34" charset="0"/>
                <a:ea typeface="Inter Display" pitchFamily="34" charset="-122"/>
                <a:cs typeface="Inter Display" pitchFamily="34" charset="-120"/>
              </a:rPr>
              <a:t>Three useful questions to start with</a:t>
            </a:r>
            <a:endParaRPr lang="en-US" sz="3200" dirty="0"/>
          </a:p>
        </p:txBody>
      </p:sp>
      <p:sp>
        <p:nvSpPr>
          <p:cNvPr id="10" name="Text 8"/>
          <p:cNvSpPr/>
          <p:nvPr/>
        </p:nvSpPr>
        <p:spPr>
          <a:xfrm>
            <a:off x="640080" y="1700784"/>
            <a:ext cx="10698480" cy="475488"/>
          </a:xfrm>
          <a:prstGeom prst="rect">
            <a:avLst/>
          </a:prstGeom>
          <a:noFill/>
          <a:ln/>
        </p:spPr>
        <p:txBody>
          <a:bodyPr wrap="square" lIns="0" tIns="0" rIns="0" bIns="0" rtlCol="0" anchor="ctr">
            <a:normAutofit/>
          </a:bodyPr>
          <a:lstStyle/>
          <a:p>
            <a:pPr indent="0" marL="0">
              <a:buNone/>
            </a:pPr>
            <a:r>
              <a:rPr lang="en-US" sz="1420" dirty="0">
                <a:solidFill>
                  <a:srgbClr val="DAE5EB"/>
                </a:solidFill>
                <a:latin typeface="Inter" pitchFamily="34" charset="0"/>
                <a:ea typeface="Inter" pitchFamily="34" charset="-122"/>
                <a:cs typeface="Inter" pitchFamily="34" charset="-120"/>
              </a:rPr>
              <a:t>We can identify the best first improvement without a complicated sales pitch.</a:t>
            </a:r>
            <a:endParaRPr lang="en-US" sz="1420" dirty="0"/>
          </a:p>
        </p:txBody>
      </p:sp>
      <p:sp>
        <p:nvSpPr>
          <p:cNvPr id="11" name="Shape 9"/>
          <p:cNvSpPr/>
          <p:nvPr/>
        </p:nvSpPr>
        <p:spPr>
          <a:xfrm>
            <a:off x="667512" y="2267712"/>
            <a:ext cx="10817352" cy="1005840"/>
          </a:xfrm>
          <a:prstGeom prst="roundRect">
            <a:avLst>
              <a:gd name="adj" fmla="val 15455"/>
            </a:avLst>
          </a:prstGeom>
          <a:solidFill>
            <a:srgbClr val="11263B"/>
          </a:solidFill>
          <a:ln w="12700">
            <a:solidFill>
              <a:srgbClr val="274054"/>
            </a:solidFill>
            <a:prstDash val="solid"/>
          </a:ln>
        </p:spPr>
      </p:sp>
      <p:sp>
        <p:nvSpPr>
          <p:cNvPr id="12" name="Shape 10"/>
          <p:cNvSpPr/>
          <p:nvPr/>
        </p:nvSpPr>
        <p:spPr>
          <a:xfrm>
            <a:off x="905256" y="2514600"/>
            <a:ext cx="493776" cy="493776"/>
          </a:xfrm>
          <a:prstGeom prst="roundRect">
            <a:avLst>
              <a:gd name="adj" fmla="val 50000"/>
            </a:avLst>
          </a:prstGeom>
          <a:solidFill>
            <a:srgbClr val="D98B58"/>
          </a:solidFill>
          <a:ln w="12700">
            <a:solidFill>
              <a:srgbClr val="D98B58">
                <a:alpha val="0"/>
              </a:srgbClr>
            </a:solidFill>
            <a:prstDash val="solid"/>
          </a:ln>
        </p:spPr>
      </p:sp>
      <p:sp>
        <p:nvSpPr>
          <p:cNvPr id="13" name="Text 11"/>
          <p:cNvSpPr/>
          <p:nvPr/>
        </p:nvSpPr>
        <p:spPr>
          <a:xfrm>
            <a:off x="923544" y="2523744"/>
            <a:ext cx="457200" cy="475488"/>
          </a:xfrm>
          <a:prstGeom prst="rect">
            <a:avLst/>
          </a:prstGeom>
          <a:noFill/>
          <a:ln/>
        </p:spPr>
        <p:txBody>
          <a:bodyPr wrap="square" lIns="0" tIns="0" rIns="0" bIns="0" rtlCol="0" anchor="ctr">
            <a:normAutofit/>
          </a:bodyPr>
          <a:lstStyle/>
          <a:p>
            <a:pPr algn="ctr" indent="0" marL="0">
              <a:buNone/>
            </a:pPr>
            <a:r>
              <a:rPr lang="en-US" sz="1500" b="1" dirty="0">
                <a:solidFill>
                  <a:srgbClr val="071423"/>
                </a:solidFill>
                <a:latin typeface="Inter Display" pitchFamily="34" charset="0"/>
                <a:ea typeface="Inter Display" pitchFamily="34" charset="-122"/>
                <a:cs typeface="Inter Display" pitchFamily="34" charset="-120"/>
              </a:rPr>
              <a:t>01</a:t>
            </a:r>
            <a:endParaRPr lang="en-US" sz="1500" dirty="0"/>
          </a:p>
        </p:txBody>
      </p:sp>
      <p:sp>
        <p:nvSpPr>
          <p:cNvPr id="14" name="Text 12"/>
          <p:cNvSpPr/>
          <p:nvPr/>
        </p:nvSpPr>
        <p:spPr>
          <a:xfrm>
            <a:off x="1655064" y="2423160"/>
            <a:ext cx="9052560" cy="310896"/>
          </a:xfrm>
          <a:prstGeom prst="rect">
            <a:avLst/>
          </a:prstGeom>
          <a:noFill/>
          <a:ln/>
        </p:spPr>
        <p:txBody>
          <a:bodyPr wrap="square" lIns="0" tIns="0" rIns="0" bIns="0" rtlCol="0" anchor="ctr">
            <a:normAutofit/>
          </a:bodyPr>
          <a:lstStyle/>
          <a:p>
            <a:pPr indent="0" marL="0">
              <a:buNone/>
            </a:pPr>
            <a:r>
              <a:rPr lang="en-US" sz="1900" b="1" dirty="0">
                <a:solidFill>
                  <a:srgbClr val="F6F8FB"/>
                </a:solidFill>
                <a:latin typeface="Inter Display" pitchFamily="34" charset="0"/>
                <a:ea typeface="Inter Display" pitchFamily="34" charset="-122"/>
                <a:cs typeface="Inter Display" pitchFamily="34" charset="-120"/>
              </a:rPr>
              <a:t>How are new customers finding you today?</a:t>
            </a:r>
            <a:endParaRPr lang="en-US" sz="1900" dirty="0"/>
          </a:p>
        </p:txBody>
      </p:sp>
      <p:sp>
        <p:nvSpPr>
          <p:cNvPr id="15" name="Text 13"/>
          <p:cNvSpPr/>
          <p:nvPr/>
        </p:nvSpPr>
        <p:spPr>
          <a:xfrm>
            <a:off x="1673352" y="2862072"/>
            <a:ext cx="9052560" cy="219456"/>
          </a:xfrm>
          <a:prstGeom prst="rect">
            <a:avLst/>
          </a:prstGeom>
          <a:noFill/>
          <a:ln/>
        </p:spPr>
        <p:txBody>
          <a:bodyPr wrap="square" lIns="0" tIns="0" rIns="0" bIns="0" rtlCol="0" anchor="ctr">
            <a:normAutofit/>
          </a:bodyPr>
          <a:lstStyle/>
          <a:p>
            <a:pPr indent="0" marL="0">
              <a:buNone/>
            </a:pPr>
            <a:r>
              <a:rPr lang="en-US" sz="1170" dirty="0">
                <a:solidFill>
                  <a:srgbClr val="DAE5EB"/>
                </a:solidFill>
                <a:latin typeface="Inter" pitchFamily="34" charset="0"/>
                <a:ea typeface="Inter" pitchFamily="34" charset="-122"/>
                <a:cs typeface="Inter" pitchFamily="34" charset="-120"/>
              </a:rPr>
              <a:t>Google? Facebook? Word of mouth?</a:t>
            </a:r>
            <a:endParaRPr lang="en-US" sz="1170" dirty="0"/>
          </a:p>
        </p:txBody>
      </p:sp>
      <p:sp>
        <p:nvSpPr>
          <p:cNvPr id="16" name="Shape 14"/>
          <p:cNvSpPr/>
          <p:nvPr/>
        </p:nvSpPr>
        <p:spPr>
          <a:xfrm>
            <a:off x="667512" y="3493008"/>
            <a:ext cx="10817352" cy="1005840"/>
          </a:xfrm>
          <a:prstGeom prst="roundRect">
            <a:avLst>
              <a:gd name="adj" fmla="val 15455"/>
            </a:avLst>
          </a:prstGeom>
          <a:solidFill>
            <a:srgbClr val="11263B"/>
          </a:solidFill>
          <a:ln w="12700">
            <a:solidFill>
              <a:srgbClr val="274054"/>
            </a:solidFill>
            <a:prstDash val="solid"/>
          </a:ln>
        </p:spPr>
      </p:sp>
      <p:sp>
        <p:nvSpPr>
          <p:cNvPr id="17" name="Shape 15"/>
          <p:cNvSpPr/>
          <p:nvPr/>
        </p:nvSpPr>
        <p:spPr>
          <a:xfrm>
            <a:off x="905256" y="3739896"/>
            <a:ext cx="493776" cy="493776"/>
          </a:xfrm>
          <a:prstGeom prst="roundRect">
            <a:avLst>
              <a:gd name="adj" fmla="val 50000"/>
            </a:avLst>
          </a:prstGeom>
          <a:solidFill>
            <a:srgbClr val="D98B58"/>
          </a:solidFill>
          <a:ln w="12700">
            <a:solidFill>
              <a:srgbClr val="D98B58">
                <a:alpha val="0"/>
              </a:srgbClr>
            </a:solidFill>
            <a:prstDash val="solid"/>
          </a:ln>
        </p:spPr>
      </p:sp>
      <p:sp>
        <p:nvSpPr>
          <p:cNvPr id="18" name="Text 16"/>
          <p:cNvSpPr/>
          <p:nvPr/>
        </p:nvSpPr>
        <p:spPr>
          <a:xfrm>
            <a:off x="923544" y="3749040"/>
            <a:ext cx="457200" cy="475488"/>
          </a:xfrm>
          <a:prstGeom prst="rect">
            <a:avLst/>
          </a:prstGeom>
          <a:noFill/>
          <a:ln/>
        </p:spPr>
        <p:txBody>
          <a:bodyPr wrap="square" lIns="0" tIns="0" rIns="0" bIns="0" rtlCol="0" anchor="ctr">
            <a:normAutofit/>
          </a:bodyPr>
          <a:lstStyle/>
          <a:p>
            <a:pPr algn="ctr" indent="0" marL="0">
              <a:buNone/>
            </a:pPr>
            <a:r>
              <a:rPr lang="en-US" sz="1500" b="1" dirty="0">
                <a:solidFill>
                  <a:srgbClr val="071423"/>
                </a:solidFill>
                <a:latin typeface="Inter Display" pitchFamily="34" charset="0"/>
                <a:ea typeface="Inter Display" pitchFamily="34" charset="-122"/>
                <a:cs typeface="Inter Display" pitchFamily="34" charset="-120"/>
              </a:rPr>
              <a:t>02</a:t>
            </a:r>
            <a:endParaRPr lang="en-US" sz="1500" dirty="0"/>
          </a:p>
        </p:txBody>
      </p:sp>
      <p:sp>
        <p:nvSpPr>
          <p:cNvPr id="19" name="Text 17"/>
          <p:cNvSpPr/>
          <p:nvPr/>
        </p:nvSpPr>
        <p:spPr>
          <a:xfrm>
            <a:off x="1655064" y="3648456"/>
            <a:ext cx="9052560" cy="310896"/>
          </a:xfrm>
          <a:prstGeom prst="rect">
            <a:avLst/>
          </a:prstGeom>
          <a:noFill/>
          <a:ln/>
        </p:spPr>
        <p:txBody>
          <a:bodyPr wrap="square" lIns="0" tIns="0" rIns="0" bIns="0" rtlCol="0" anchor="ctr">
            <a:normAutofit/>
          </a:bodyPr>
          <a:lstStyle/>
          <a:p>
            <a:pPr indent="0" marL="0">
              <a:buNone/>
            </a:pPr>
            <a:r>
              <a:rPr lang="en-US" sz="1900" b="1" dirty="0">
                <a:solidFill>
                  <a:srgbClr val="F6F8FB"/>
                </a:solidFill>
                <a:latin typeface="Inter Display" pitchFamily="34" charset="0"/>
                <a:ea typeface="Inter Display" pitchFamily="34" charset="-122"/>
                <a:cs typeface="Inter Display" pitchFamily="34" charset="-120"/>
              </a:rPr>
              <a:t>What do you wish worked better online?</a:t>
            </a:r>
            <a:endParaRPr lang="en-US" sz="1900" dirty="0"/>
          </a:p>
        </p:txBody>
      </p:sp>
      <p:sp>
        <p:nvSpPr>
          <p:cNvPr id="20" name="Text 18"/>
          <p:cNvSpPr/>
          <p:nvPr/>
        </p:nvSpPr>
        <p:spPr>
          <a:xfrm>
            <a:off x="1673352" y="4087368"/>
            <a:ext cx="9052560" cy="219456"/>
          </a:xfrm>
          <a:prstGeom prst="rect">
            <a:avLst/>
          </a:prstGeom>
          <a:noFill/>
          <a:ln/>
        </p:spPr>
        <p:txBody>
          <a:bodyPr wrap="square" lIns="0" tIns="0" rIns="0" bIns="0" rtlCol="0" anchor="ctr">
            <a:normAutofit/>
          </a:bodyPr>
          <a:lstStyle/>
          <a:p>
            <a:pPr indent="0" marL="0">
              <a:buNone/>
            </a:pPr>
            <a:r>
              <a:rPr lang="en-US" sz="1170" dirty="0">
                <a:solidFill>
                  <a:srgbClr val="DAE5EB"/>
                </a:solidFill>
                <a:latin typeface="Inter" pitchFamily="34" charset="0"/>
                <a:ea typeface="Inter" pitchFamily="34" charset="-122"/>
                <a:cs typeface="Inter" pitchFamily="34" charset="-120"/>
              </a:rPr>
              <a:t>Visibility? Trust? Inquiries?</a:t>
            </a:r>
            <a:endParaRPr lang="en-US" sz="1170" dirty="0"/>
          </a:p>
        </p:txBody>
      </p:sp>
      <p:sp>
        <p:nvSpPr>
          <p:cNvPr id="21" name="Shape 19"/>
          <p:cNvSpPr/>
          <p:nvPr/>
        </p:nvSpPr>
        <p:spPr>
          <a:xfrm>
            <a:off x="667512" y="4718304"/>
            <a:ext cx="10817352" cy="1005840"/>
          </a:xfrm>
          <a:prstGeom prst="roundRect">
            <a:avLst>
              <a:gd name="adj" fmla="val 15455"/>
            </a:avLst>
          </a:prstGeom>
          <a:solidFill>
            <a:srgbClr val="11263B"/>
          </a:solidFill>
          <a:ln w="12700">
            <a:solidFill>
              <a:srgbClr val="274054"/>
            </a:solidFill>
            <a:prstDash val="solid"/>
          </a:ln>
        </p:spPr>
      </p:sp>
      <p:sp>
        <p:nvSpPr>
          <p:cNvPr id="22" name="Shape 20"/>
          <p:cNvSpPr/>
          <p:nvPr/>
        </p:nvSpPr>
        <p:spPr>
          <a:xfrm>
            <a:off x="905256" y="4965192"/>
            <a:ext cx="493776" cy="493776"/>
          </a:xfrm>
          <a:prstGeom prst="roundRect">
            <a:avLst>
              <a:gd name="adj" fmla="val 50000"/>
            </a:avLst>
          </a:prstGeom>
          <a:solidFill>
            <a:srgbClr val="D98B58"/>
          </a:solidFill>
          <a:ln w="12700">
            <a:solidFill>
              <a:srgbClr val="D98B58">
                <a:alpha val="0"/>
              </a:srgbClr>
            </a:solidFill>
            <a:prstDash val="solid"/>
          </a:ln>
        </p:spPr>
      </p:sp>
      <p:sp>
        <p:nvSpPr>
          <p:cNvPr id="23" name="Text 21"/>
          <p:cNvSpPr/>
          <p:nvPr/>
        </p:nvSpPr>
        <p:spPr>
          <a:xfrm>
            <a:off x="923544" y="4974336"/>
            <a:ext cx="457200" cy="475488"/>
          </a:xfrm>
          <a:prstGeom prst="rect">
            <a:avLst/>
          </a:prstGeom>
          <a:noFill/>
          <a:ln/>
        </p:spPr>
        <p:txBody>
          <a:bodyPr wrap="square" lIns="0" tIns="0" rIns="0" bIns="0" rtlCol="0" anchor="ctr">
            <a:normAutofit/>
          </a:bodyPr>
          <a:lstStyle/>
          <a:p>
            <a:pPr algn="ctr" indent="0" marL="0">
              <a:buNone/>
            </a:pPr>
            <a:r>
              <a:rPr lang="en-US" sz="1500" b="1" dirty="0">
                <a:solidFill>
                  <a:srgbClr val="071423"/>
                </a:solidFill>
                <a:latin typeface="Inter Display" pitchFamily="34" charset="0"/>
                <a:ea typeface="Inter Display" pitchFamily="34" charset="-122"/>
                <a:cs typeface="Inter Display" pitchFamily="34" charset="-120"/>
              </a:rPr>
              <a:t>03</a:t>
            </a:r>
            <a:endParaRPr lang="en-US" sz="1500" dirty="0"/>
          </a:p>
        </p:txBody>
      </p:sp>
      <p:sp>
        <p:nvSpPr>
          <p:cNvPr id="24" name="Text 22"/>
          <p:cNvSpPr/>
          <p:nvPr/>
        </p:nvSpPr>
        <p:spPr>
          <a:xfrm>
            <a:off x="1655064" y="4873752"/>
            <a:ext cx="9052560" cy="310896"/>
          </a:xfrm>
          <a:prstGeom prst="rect">
            <a:avLst/>
          </a:prstGeom>
          <a:noFill/>
          <a:ln/>
        </p:spPr>
        <p:txBody>
          <a:bodyPr wrap="square" lIns="0" tIns="0" rIns="0" bIns="0" rtlCol="0" anchor="ctr">
            <a:normAutofit/>
          </a:bodyPr>
          <a:lstStyle/>
          <a:p>
            <a:pPr indent="0" marL="0">
              <a:buNone/>
            </a:pPr>
            <a:r>
              <a:rPr lang="en-US" sz="1900" b="1" dirty="0">
                <a:solidFill>
                  <a:srgbClr val="F6F8FB"/>
                </a:solidFill>
                <a:latin typeface="Inter Display" pitchFamily="34" charset="0"/>
                <a:ea typeface="Inter Display" pitchFamily="34" charset="-122"/>
                <a:cs typeface="Inter Display" pitchFamily="34" charset="-120"/>
              </a:rPr>
              <a:t>What would make the biggest difference?</a:t>
            </a:r>
            <a:endParaRPr lang="en-US" sz="1900" dirty="0"/>
          </a:p>
        </p:txBody>
      </p:sp>
      <p:sp>
        <p:nvSpPr>
          <p:cNvPr id="25" name="Text 23"/>
          <p:cNvSpPr/>
          <p:nvPr/>
        </p:nvSpPr>
        <p:spPr>
          <a:xfrm>
            <a:off x="1673352" y="5312664"/>
            <a:ext cx="9052560" cy="219456"/>
          </a:xfrm>
          <a:prstGeom prst="rect">
            <a:avLst/>
          </a:prstGeom>
          <a:noFill/>
          <a:ln/>
        </p:spPr>
        <p:txBody>
          <a:bodyPr wrap="square" lIns="0" tIns="0" rIns="0" bIns="0" rtlCol="0" anchor="ctr">
            <a:normAutofit/>
          </a:bodyPr>
          <a:lstStyle/>
          <a:p>
            <a:pPr indent="0" marL="0">
              <a:buNone/>
            </a:pPr>
            <a:r>
              <a:rPr lang="en-US" sz="1170" dirty="0">
                <a:solidFill>
                  <a:srgbClr val="DAE5EB"/>
                </a:solidFill>
                <a:latin typeface="Inter" pitchFamily="34" charset="0"/>
                <a:ea typeface="Inter" pitchFamily="34" charset="-122"/>
                <a:cs typeface="Inter" pitchFamily="34" charset="-120"/>
              </a:rPr>
              <a:t>More calls? Better presentation? Less manual work?</a:t>
            </a:r>
            <a:endParaRPr lang="en-US" sz="117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71423"/>
        </a:solidFill>
      </p:bgPr>
    </p:bg>
    <p:spTree>
      <p:nvGrpSpPr>
        <p:cNvPr id="1" name=""/>
        <p:cNvGrpSpPr/>
        <p:nvPr/>
      </p:nvGrpSpPr>
      <p:grpSpPr>
        <a:xfrm>
          <a:off x="0" y="0"/>
          <a:ext cx="0" cy="0"/>
          <a:chOff x="0" y="0"/>
          <a:chExt cx="0" cy="0"/>
        </a:xfrm>
      </p:grpSpPr>
      <p:sp>
        <p:nvSpPr>
          <p:cNvPr id="2" name="Shape 0"/>
          <p:cNvSpPr/>
          <p:nvPr/>
        </p:nvSpPr>
        <p:spPr>
          <a:xfrm>
            <a:off x="0" y="0"/>
            <a:ext cx="12192000" cy="52121"/>
          </a:xfrm>
          <a:prstGeom prst="rect">
            <a:avLst/>
          </a:prstGeom>
          <a:solidFill>
            <a:srgbClr val="D98B58"/>
          </a:solidFill>
          <a:ln w="12700">
            <a:solidFill>
              <a:srgbClr val="D98B58">
                <a:alpha val="0"/>
              </a:srgbClr>
            </a:solidFill>
            <a:prstDash val="solid"/>
          </a:ln>
        </p:spPr>
      </p:sp>
      <p:sp>
        <p:nvSpPr>
          <p:cNvPr id="3" name="Shape 1"/>
          <p:cNvSpPr/>
          <p:nvPr/>
        </p:nvSpPr>
        <p:spPr>
          <a:xfrm>
            <a:off x="630936" y="630936"/>
            <a:ext cx="1481328" cy="347472"/>
          </a:xfrm>
          <a:prstGeom prst="roundRect">
            <a:avLst>
              <a:gd name="adj" fmla="val 31579"/>
            </a:avLst>
          </a:prstGeom>
          <a:solidFill>
            <a:srgbClr val="11263B"/>
          </a:solidFill>
          <a:ln w="12700">
            <a:solidFill>
              <a:srgbClr val="11263B">
                <a:alpha val="0"/>
              </a:srgbClr>
            </a:solidFill>
            <a:prstDash val="solid"/>
          </a:ln>
        </p:spPr>
      </p:sp>
      <p:sp>
        <p:nvSpPr>
          <p:cNvPr id="4" name="Text 2"/>
          <p:cNvSpPr/>
          <p:nvPr/>
        </p:nvSpPr>
        <p:spPr>
          <a:xfrm>
            <a:off x="813816" y="722376"/>
            <a:ext cx="1719072" cy="237744"/>
          </a:xfrm>
          <a:prstGeom prst="rect">
            <a:avLst/>
          </a:prstGeom>
          <a:noFill/>
          <a:ln/>
        </p:spPr>
        <p:txBody>
          <a:bodyPr wrap="square" lIns="0" tIns="0" rIns="0" bIns="0" rtlCol="0" anchor="ctr">
            <a:normAutofit/>
          </a:bodyPr>
          <a:lstStyle/>
          <a:p>
            <a:pPr indent="0" marL="0">
              <a:buNone/>
            </a:pPr>
            <a:r>
              <a:rPr lang="en-US" sz="960" b="1" spc="260" kern="0" dirty="0">
                <a:solidFill>
                  <a:srgbClr val="D98B58"/>
                </a:solidFill>
                <a:latin typeface="Inter Display" pitchFamily="34" charset="0"/>
                <a:ea typeface="Inter Display" pitchFamily="34" charset="-122"/>
                <a:cs typeface="Inter Display" pitchFamily="34" charset="-120"/>
              </a:rPr>
              <a:t>YOUR NEXT STEP</a:t>
            </a:r>
            <a:endParaRPr lang="en-US" sz="960" dirty="0"/>
          </a:p>
        </p:txBody>
      </p:sp>
      <p:sp>
        <p:nvSpPr>
          <p:cNvPr id="5" name="Text 3"/>
          <p:cNvSpPr/>
          <p:nvPr/>
        </p:nvSpPr>
        <p:spPr>
          <a:xfrm>
            <a:off x="676656" y="1234440"/>
            <a:ext cx="7589520" cy="630936"/>
          </a:xfrm>
          <a:prstGeom prst="rect">
            <a:avLst/>
          </a:prstGeom>
          <a:noFill/>
          <a:ln/>
        </p:spPr>
        <p:txBody>
          <a:bodyPr wrap="square" lIns="0" tIns="0" rIns="0" bIns="0" rtlCol="0" anchor="ctr">
            <a:normAutofit/>
          </a:bodyPr>
          <a:lstStyle/>
          <a:p>
            <a:pPr indent="0" marL="0">
              <a:buNone/>
            </a:pPr>
            <a:r>
              <a:rPr lang="en-US" sz="3200" b="1" dirty="0">
                <a:solidFill>
                  <a:srgbClr val="F6F8FB"/>
                </a:solidFill>
                <a:latin typeface="Inter Display" pitchFamily="34" charset="0"/>
                <a:ea typeface="Inter Display" pitchFamily="34" charset="-122"/>
                <a:cs typeface="Inter Display" pitchFamily="34" charset="-120"/>
              </a:rPr>
              <a:t>Let’s show your business</a:t>
            </a:r>
            <a:endParaRPr lang="en-US" sz="3200" dirty="0"/>
          </a:p>
        </p:txBody>
      </p:sp>
      <p:sp>
        <p:nvSpPr>
          <p:cNvPr id="6" name="Text 4"/>
          <p:cNvSpPr/>
          <p:nvPr/>
        </p:nvSpPr>
        <p:spPr>
          <a:xfrm>
            <a:off x="676656" y="1883664"/>
            <a:ext cx="6949440" cy="694944"/>
          </a:xfrm>
          <a:prstGeom prst="rect">
            <a:avLst/>
          </a:prstGeom>
          <a:noFill/>
          <a:ln/>
        </p:spPr>
        <p:txBody>
          <a:bodyPr wrap="square" lIns="0" tIns="0" rIns="0" bIns="0" rtlCol="0" anchor="ctr">
            <a:normAutofit/>
          </a:bodyPr>
          <a:lstStyle/>
          <a:p>
            <a:pPr indent="0" marL="0">
              <a:buNone/>
            </a:pPr>
            <a:r>
              <a:rPr lang="en-US" sz="3800" b="1" dirty="0">
                <a:solidFill>
                  <a:srgbClr val="D98B58"/>
                </a:solidFill>
                <a:latin typeface="Inter Display" pitchFamily="34" charset="0"/>
                <a:ea typeface="Inter Display" pitchFamily="34" charset="-122"/>
                <a:cs typeface="Inter Display" pitchFamily="34" charset="-120"/>
              </a:rPr>
              <a:t>at its best.</a:t>
            </a:r>
            <a:endParaRPr lang="en-US" sz="3800" dirty="0"/>
          </a:p>
        </p:txBody>
      </p:sp>
      <p:sp>
        <p:nvSpPr>
          <p:cNvPr id="7" name="Text 5"/>
          <p:cNvSpPr/>
          <p:nvPr/>
        </p:nvSpPr>
        <p:spPr>
          <a:xfrm>
            <a:off x="685800" y="2871216"/>
            <a:ext cx="6812280" cy="457200"/>
          </a:xfrm>
          <a:prstGeom prst="rect">
            <a:avLst/>
          </a:prstGeom>
          <a:noFill/>
          <a:ln/>
        </p:spPr>
        <p:txBody>
          <a:bodyPr wrap="square" lIns="0" tIns="0" rIns="0" bIns="0" rtlCol="0" anchor="ctr">
            <a:normAutofit/>
          </a:bodyPr>
          <a:lstStyle/>
          <a:p>
            <a:pPr indent="0" marL="0">
              <a:buNone/>
            </a:pPr>
            <a:r>
              <a:rPr lang="en-US" sz="2000" b="1" dirty="0">
                <a:solidFill>
                  <a:srgbClr val="DAE5EB"/>
                </a:solidFill>
                <a:latin typeface="Inter Display" pitchFamily="34" charset="0"/>
                <a:ea typeface="Inter Display" pitchFamily="34" charset="-122"/>
                <a:cs typeface="Inter Display" pitchFamily="34" charset="-120"/>
              </a:rPr>
              <a:t>Start with a FREE Visibility Review.</a:t>
            </a:r>
            <a:endParaRPr lang="en-US" sz="2000" dirty="0"/>
          </a:p>
        </p:txBody>
      </p:sp>
      <p:sp>
        <p:nvSpPr>
          <p:cNvPr id="8" name="Text 6"/>
          <p:cNvSpPr/>
          <p:nvPr/>
        </p:nvSpPr>
        <p:spPr>
          <a:xfrm>
            <a:off x="694944" y="3465576"/>
            <a:ext cx="6364224" cy="722376"/>
          </a:xfrm>
          <a:prstGeom prst="rect">
            <a:avLst/>
          </a:prstGeom>
          <a:noFill/>
          <a:ln/>
        </p:spPr>
        <p:txBody>
          <a:bodyPr wrap="square" lIns="0" tIns="0" rIns="0" bIns="0" rtlCol="0" anchor="ctr">
            <a:normAutofit/>
          </a:bodyPr>
          <a:lstStyle/>
          <a:p>
            <a:pPr indent="0" marL="0">
              <a:buNone/>
            </a:pPr>
            <a:r>
              <a:rPr lang="en-US" sz="1400" dirty="0">
                <a:solidFill>
                  <a:srgbClr val="9DAFC1"/>
                </a:solidFill>
                <a:latin typeface="Inter" pitchFamily="34" charset="0"/>
                <a:ea typeface="Inter" pitchFamily="34" charset="-122"/>
                <a:cs typeface="Inter" pitchFamily="34" charset="-120"/>
              </a:rPr>
              <a:t>No obligation. Just practical observations and ideas built around your business.</a:t>
            </a:r>
            <a:endParaRPr lang="en-US" sz="1400" dirty="0"/>
          </a:p>
        </p:txBody>
      </p:sp>
      <p:sp>
        <p:nvSpPr>
          <p:cNvPr id="9" name="Shape 7"/>
          <p:cNvSpPr/>
          <p:nvPr/>
        </p:nvSpPr>
        <p:spPr>
          <a:xfrm>
            <a:off x="658368" y="4882896"/>
            <a:ext cx="6163056" cy="60350"/>
          </a:xfrm>
          <a:prstGeom prst="rect">
            <a:avLst/>
          </a:prstGeom>
          <a:solidFill>
            <a:srgbClr val="D98B58"/>
          </a:solidFill>
          <a:ln w="12700">
            <a:solidFill>
              <a:srgbClr val="D98B58">
                <a:alpha val="0"/>
              </a:srgbClr>
            </a:solidFill>
            <a:prstDash val="solid"/>
          </a:ln>
        </p:spPr>
      </p:sp>
      <p:sp>
        <p:nvSpPr>
          <p:cNvPr id="10" name="Text 8">
            <a:hlinkClick r:id="rId1" tooltip=""/>
          </p:cNvPr>
          <p:cNvSpPr/>
          <p:nvPr/>
        </p:nvSpPr>
        <p:spPr>
          <a:xfrm>
            <a:off x="685800" y="5138928"/>
            <a:ext cx="6309360" cy="329184"/>
          </a:xfrm>
          <a:prstGeom prst="rect">
            <a:avLst/>
          </a:prstGeom>
          <a:noFill/>
          <a:ln/>
        </p:spPr>
        <p:txBody>
          <a:bodyPr wrap="square" lIns="0" tIns="0" rIns="0" bIns="0" rtlCol="0" anchor="ctr">
            <a:normAutofit/>
          </a:bodyPr>
          <a:lstStyle/>
          <a:p>
            <a:pPr indent="0" marL="0">
              <a:buNone/>
            </a:pPr>
            <a:r>
              <a:rPr lang="en-US" sz="1700" b="1" u="sng" dirty="0">
                <a:solidFill>
                  <a:srgbClr val="F6F8FB"/>
                </a:solidFill>
                <a:latin typeface="Inter Display" pitchFamily="34" charset="0"/>
                <a:ea typeface="Inter Display" pitchFamily="34" charset="-122"/>
                <a:cs typeface="Inter Display" pitchFamily="34" charset="-120"/>
                <a:hlinkClick r:id="rId1" invalidUrl="" action="" tgtFrame="" tooltip="" history="1" highlightClick="0" endSnd="0">
                  <a:extLst>
                    <a:ext uri="{A12FA001-AC4F-418D-AE19-62706E023703}">
                      <ahyp:hlinkClr xmlns:ahyp="http://schemas.microsoft.com/office/drawing/2018/hyperlinkcolor" val="tx"/>
                    </a:ext>
                  </a:extLst>
                </a:hlinkClick>
              </a:rPr>
              <a:t>www.rekodedigital.com</a:t>
            </a:r>
            <a:endParaRPr lang="en-US" sz="1700" dirty="0"/>
          </a:p>
        </p:txBody>
      </p:sp>
      <p:sp>
        <p:nvSpPr>
          <p:cNvPr id="11" name="Text 9">
            <a:hlinkClick r:id="rId2" tooltip=""/>
          </p:cNvPr>
          <p:cNvSpPr/>
          <p:nvPr/>
        </p:nvSpPr>
        <p:spPr>
          <a:xfrm>
            <a:off x="685800" y="5568696"/>
            <a:ext cx="5961888" cy="274320"/>
          </a:xfrm>
          <a:prstGeom prst="rect">
            <a:avLst/>
          </a:prstGeom>
          <a:noFill/>
          <a:ln/>
        </p:spPr>
        <p:txBody>
          <a:bodyPr wrap="square" lIns="0" tIns="0" rIns="0" bIns="0" rtlCol="0" anchor="ctr">
            <a:normAutofit/>
          </a:bodyPr>
          <a:lstStyle/>
          <a:p>
            <a:pPr indent="0" marL="0">
              <a:buNone/>
            </a:pPr>
            <a:r>
              <a:rPr lang="en-US" sz="1300" u="sng" dirty="0">
                <a:solidFill>
                  <a:srgbClr val="DAE5EB"/>
                </a:solidFill>
                <a:latin typeface="Inter" pitchFamily="34" charset="0"/>
                <a:ea typeface="Inter" pitchFamily="34" charset="-122"/>
                <a:cs typeface="Inter" pitchFamily="34" charset="-120"/>
                <a:hlinkClick r:id="rId2" invalidUrl="" action="" tgtFrame="" tooltip="" history="1" highlightClick="0" endSnd="0">
                  <a:extLst>
                    <a:ext uri="{A12FA001-AC4F-418D-AE19-62706E023703}">
                      <ahyp:hlinkClr xmlns:ahyp="http://schemas.microsoft.com/office/drawing/2018/hyperlinkcolor" val="tx"/>
                    </a:ext>
                  </a:extLst>
                </a:hlinkClick>
              </a:rPr>
              <a:t>getrekode@gmail.com</a:t>
            </a:r>
            <a:endParaRPr lang="en-US" sz="1300" dirty="0"/>
          </a:p>
        </p:txBody>
      </p:sp>
      <p:sp>
        <p:nvSpPr>
          <p:cNvPr id="12" name="Text 10"/>
          <p:cNvSpPr/>
          <p:nvPr/>
        </p:nvSpPr>
        <p:spPr>
          <a:xfrm>
            <a:off x="685800" y="5952744"/>
            <a:ext cx="5760720" cy="292608"/>
          </a:xfrm>
          <a:prstGeom prst="rect">
            <a:avLst/>
          </a:prstGeom>
          <a:noFill/>
          <a:ln/>
        </p:spPr>
        <p:txBody>
          <a:bodyPr wrap="square" lIns="0" tIns="0" rIns="0" bIns="0" rtlCol="0" anchor="ctr">
            <a:normAutofit/>
          </a:bodyPr>
          <a:lstStyle/>
          <a:p>
            <a:pPr indent="0" marL="0">
              <a:buNone/>
            </a:pPr>
            <a:r>
              <a:rPr lang="en-US" sz="1300" dirty="0">
                <a:solidFill>
                  <a:srgbClr val="DAE5EB"/>
                </a:solidFill>
                <a:latin typeface="Inter" pitchFamily="34" charset="0"/>
                <a:ea typeface="Inter" pitchFamily="34" charset="-122"/>
                <a:cs typeface="Inter" pitchFamily="34" charset="-120"/>
              </a:rPr>
              <a:t>775-375-5765</a:t>
            </a:r>
            <a:endParaRPr lang="en-US" sz="1300" dirty="0"/>
          </a:p>
        </p:txBody>
      </p:sp>
      <p:sp>
        <p:nvSpPr>
          <p:cNvPr id="13" name="Shape 11"/>
          <p:cNvSpPr/>
          <p:nvPr/>
        </p:nvSpPr>
        <p:spPr>
          <a:xfrm>
            <a:off x="7754112" y="1197864"/>
            <a:ext cx="3858768" cy="4526280"/>
          </a:xfrm>
          <a:prstGeom prst="roundRect">
            <a:avLst>
              <a:gd name="adj" fmla="val 5687"/>
            </a:avLst>
          </a:prstGeom>
          <a:solidFill>
            <a:srgbClr val="F3F6F8"/>
          </a:solidFill>
          <a:ln w="12700">
            <a:solidFill>
              <a:srgbClr val="F3F6F8">
                <a:alpha val="0"/>
              </a:srgbClr>
            </a:solidFill>
            <a:prstDash val="solid"/>
          </a:ln>
        </p:spPr>
      </p:sp>
      <p:pic>
        <p:nvPicPr>
          <p:cNvPr id="14" name="Image 0" descr="/mnt/data/rekode_assets/visibility_review_qr.png">    </p:cNvPr>
          <p:cNvPicPr>
            <a:picLocks noChangeAspect="1"/>
          </p:cNvPicPr>
          <p:nvPr/>
        </p:nvPicPr>
        <p:blipFill>
          <a:blip r:embed="rId3"/>
          <a:stretch>
            <a:fillRect/>
          </a:stretch>
        </p:blipFill>
        <p:spPr>
          <a:xfrm>
            <a:off x="8065008" y="1508760"/>
            <a:ext cx="3246120" cy="3246120"/>
          </a:xfrm>
          <a:prstGeom prst="rect">
            <a:avLst/>
          </a:prstGeom>
        </p:spPr>
      </p:pic>
      <p:sp>
        <p:nvSpPr>
          <p:cNvPr id="15" name="Text 12"/>
          <p:cNvSpPr/>
          <p:nvPr/>
        </p:nvSpPr>
        <p:spPr>
          <a:xfrm>
            <a:off x="8037576" y="4773168"/>
            <a:ext cx="3346704" cy="237744"/>
          </a:xfrm>
          <a:prstGeom prst="rect">
            <a:avLst/>
          </a:prstGeom>
          <a:noFill/>
          <a:ln/>
        </p:spPr>
        <p:txBody>
          <a:bodyPr wrap="square" lIns="0" tIns="0" rIns="0" bIns="0" rtlCol="0" anchor="ctr">
            <a:normAutofit/>
          </a:bodyPr>
          <a:lstStyle/>
          <a:p>
            <a:pPr algn="ctr" indent="0" marL="0">
              <a:buNone/>
            </a:pPr>
            <a:r>
              <a:rPr lang="en-US" sz="1200" b="1" spc="120" kern="0" dirty="0">
                <a:solidFill>
                  <a:srgbClr val="1A3547"/>
                </a:solidFill>
                <a:latin typeface="Inter Display" pitchFamily="34" charset="0"/>
                <a:ea typeface="Inter Display" pitchFamily="34" charset="-122"/>
                <a:cs typeface="Inter Display" pitchFamily="34" charset="-120"/>
              </a:rPr>
              <a:t>SCAN FOR YOUR</a:t>
            </a:r>
            <a:endParaRPr lang="en-US" sz="1200" dirty="0"/>
          </a:p>
        </p:txBody>
      </p:sp>
      <p:sp>
        <p:nvSpPr>
          <p:cNvPr id="16" name="Text 13"/>
          <p:cNvSpPr/>
          <p:nvPr/>
        </p:nvSpPr>
        <p:spPr>
          <a:xfrm>
            <a:off x="7936992" y="5093208"/>
            <a:ext cx="3502152" cy="256032"/>
          </a:xfrm>
          <a:prstGeom prst="rect">
            <a:avLst/>
          </a:prstGeom>
          <a:noFill/>
          <a:ln/>
        </p:spPr>
        <p:txBody>
          <a:bodyPr wrap="square" lIns="0" tIns="0" rIns="0" bIns="0" rtlCol="0" anchor="ctr">
            <a:normAutofit/>
          </a:bodyPr>
          <a:lstStyle/>
          <a:p>
            <a:pPr algn="ctr" indent="0" marL="0">
              <a:buNone/>
            </a:pPr>
            <a:r>
              <a:rPr lang="en-US" sz="1290" b="1" dirty="0">
                <a:solidFill>
                  <a:srgbClr val="1A3547"/>
                </a:solidFill>
                <a:latin typeface="Inter Display" pitchFamily="34" charset="0"/>
                <a:ea typeface="Inter Display" pitchFamily="34" charset="-122"/>
                <a:cs typeface="Inter Display" pitchFamily="34" charset="-120"/>
              </a:rPr>
              <a:t>FREE VISIBILITY REVIEW</a:t>
            </a:r>
            <a:endParaRPr lang="en-US" sz="1290" dirty="0"/>
          </a:p>
        </p:txBody>
      </p:sp>
      <p:sp>
        <p:nvSpPr>
          <p:cNvPr id="17" name="Text 14"/>
          <p:cNvSpPr/>
          <p:nvPr/>
        </p:nvSpPr>
        <p:spPr>
          <a:xfrm>
            <a:off x="694944" y="6437376"/>
            <a:ext cx="6675120" cy="182880"/>
          </a:xfrm>
          <a:prstGeom prst="rect">
            <a:avLst/>
          </a:prstGeom>
          <a:noFill/>
          <a:ln/>
        </p:spPr>
        <p:txBody>
          <a:bodyPr wrap="square" lIns="0" tIns="0" rIns="0" bIns="0" rtlCol="0" anchor="ctr">
            <a:normAutofit/>
          </a:bodyPr>
          <a:lstStyle/>
          <a:p>
            <a:pPr indent="0" marL="0">
              <a:buNone/>
            </a:pPr>
            <a:r>
              <a:rPr lang="en-US" sz="900" b="1" spc="135" kern="0" dirty="0">
                <a:solidFill>
                  <a:srgbClr val="9DAFC1"/>
                </a:solidFill>
                <a:latin typeface="Inter Display" pitchFamily="34" charset="0"/>
                <a:ea typeface="Inter Display" pitchFamily="34" charset="-122"/>
                <a:cs typeface="Inter Display" pitchFamily="34" charset="-120"/>
              </a:rPr>
              <a:t>HOMETOWN VALUES. MODERN SOLUTIONS.</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Rekode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Rekode Digital | Local Business Digital Solutions</dc:title>
  <dc:subject>Prospective Client Presentation</dc:subject>
  <dc:creator>Rekode Digital</dc:creator>
  <cp:lastModifiedBy>Rekode Digital</cp:lastModifiedBy>
  <cp:revision>1</cp:revision>
  <dcterms:created xsi:type="dcterms:W3CDTF">2026-10-22T20:03:14Z</dcterms:created>
  <dcterms:modified xsi:type="dcterms:W3CDTF">2026-10-22T20:03:14Z</dcterms:modified>
</cp:coreProperties>
</file>